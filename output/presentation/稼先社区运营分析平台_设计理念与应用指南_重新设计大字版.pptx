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6ebd572e894093" /><Relationship Type="http://schemas.openxmlformats.org/officeDocument/2006/relationships/extended-properties" Target="/docProps/app.xml" Id="R4ea6248675504ea8" /><Relationship Type="http://schemas.openxmlformats.org/officeDocument/2006/relationships/officeDocument" Target="/ppt/presentation.xml" Id="Ra5bce45d50fa4c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80a80884974d6c"/>
  </p:sldMasterIdLst>
  <p:notesMasterIdLst>
    <p:notesMasterId xmlns:r="http://schemas.openxmlformats.org/officeDocument/2006/relationships" r:id="Rfbe57c260aa14301"/>
  </p:notesMasterIdLst>
  <p:sldIdLst>
    <p:sldId xmlns:r="http://schemas.openxmlformats.org/officeDocument/2006/relationships" id="256" r:id="R6427e630cc1b480b"/>
    <p:sldId xmlns:r="http://schemas.openxmlformats.org/officeDocument/2006/relationships" id="257" r:id="Rc505ab2b7f424d34"/>
    <p:sldId xmlns:r="http://schemas.openxmlformats.org/officeDocument/2006/relationships" id="258" r:id="R1970d82e61bc4e04"/>
    <p:sldId xmlns:r="http://schemas.openxmlformats.org/officeDocument/2006/relationships" id="259" r:id="R91c07a1f5cc64175"/>
    <p:sldId xmlns:r="http://schemas.openxmlformats.org/officeDocument/2006/relationships" id="260" r:id="R15bd68ebf8b24dff"/>
    <p:sldId xmlns:r="http://schemas.openxmlformats.org/officeDocument/2006/relationships" id="261" r:id="R23323bfb6a2148b9"/>
    <p:sldId xmlns:r="http://schemas.openxmlformats.org/officeDocument/2006/relationships" id="262" r:id="R4f95abf2643c43f7"/>
    <p:sldId xmlns:r="http://schemas.openxmlformats.org/officeDocument/2006/relationships" id="263" r:id="R64e494bafa354df1"/>
    <p:sldId xmlns:r="http://schemas.openxmlformats.org/officeDocument/2006/relationships" id="264" r:id="R89232889acaa4ca2"/>
    <p:sldId xmlns:r="http://schemas.openxmlformats.org/officeDocument/2006/relationships" id="265" r:id="R0796189aa06d4a85"/>
    <p:sldId xmlns:r="http://schemas.openxmlformats.org/officeDocument/2006/relationships" id="266" r:id="R896c7c0d9c69418e"/>
    <p:sldId xmlns:r="http://schemas.openxmlformats.org/officeDocument/2006/relationships" id="267" r:id="R646ed12c4c5f469b"/>
    <p:sldId xmlns:r="http://schemas.openxmlformats.org/officeDocument/2006/relationships" id="268" r:id="R786ae94eb14e40d3"/>
    <p:sldId xmlns:r="http://schemas.openxmlformats.org/officeDocument/2006/relationships" id="269" r:id="Rb407b64b7d074f3e"/>
    <p:sldId xmlns:r="http://schemas.openxmlformats.org/officeDocument/2006/relationships" id="270" r:id="Rd7b97f567f3141c1"/>
    <p:sldId xmlns:r="http://schemas.openxmlformats.org/officeDocument/2006/relationships" id="271" r:id="R735d2c7f43034d71"/>
    <p:sldId xmlns:r="http://schemas.openxmlformats.org/officeDocument/2006/relationships" id="272" r:id="Rf0bf445ecc944a29"/>
    <p:sldId xmlns:r="http://schemas.openxmlformats.org/officeDocument/2006/relationships" id="273" r:id="Ra2a07940170947c0"/>
    <p:sldId xmlns:r="http://schemas.openxmlformats.org/officeDocument/2006/relationships" id="274" r:id="Rbaf9f29657634101"/>
    <p:sldId xmlns:r="http://schemas.openxmlformats.org/officeDocument/2006/relationships" id="275" r:id="R1da83bd79c1948bb"/>
    <p:sldId xmlns:r="http://schemas.openxmlformats.org/officeDocument/2006/relationships" id="276" r:id="R24fe62f833214e44"/>
    <p:sldId xmlns:r="http://schemas.openxmlformats.org/officeDocument/2006/relationships" id="277" r:id="R06a23c8c30154f74"/>
    <p:sldId xmlns:r="http://schemas.openxmlformats.org/officeDocument/2006/relationships" id="278" r:id="R0835ad39fc164fdb"/>
    <p:sldId xmlns:r="http://schemas.openxmlformats.org/officeDocument/2006/relationships" id="279" r:id="Reb91a5601a964e65"/>
    <p:sldId xmlns:r="http://schemas.openxmlformats.org/officeDocument/2006/relationships" id="280" r:id="R78f0cd3eabe6481d"/>
    <p:sldId xmlns:r="http://schemas.openxmlformats.org/officeDocument/2006/relationships" id="281" r:id="R8de7973606d941bf"/>
    <p:sldId xmlns:r="http://schemas.openxmlformats.org/officeDocument/2006/relationships" id="282" r:id="R8e2f840f97064529"/>
    <p:sldId xmlns:r="http://schemas.openxmlformats.org/officeDocument/2006/relationships" id="283" r:id="R041a525a62a04984"/>
    <p:sldId xmlns:r="http://schemas.openxmlformats.org/officeDocument/2006/relationships" id="284" r:id="R8312763834064094"/>
    <p:sldId xmlns:r="http://schemas.openxmlformats.org/officeDocument/2006/relationships" id="285" r:id="R9a0b4fbb51b3480b"/>
    <p:sldId xmlns:r="http://schemas.openxmlformats.org/officeDocument/2006/relationships" id="286" r:id="Rbfdfe4f8001c406f"/>
    <p:sldId xmlns:r="http://schemas.openxmlformats.org/officeDocument/2006/relationships" id="287" r:id="R53ffbb7647694a86"/>
    <p:sldId xmlns:r="http://schemas.openxmlformats.org/officeDocument/2006/relationships" id="288" r:id="Rb0616e5606dc4135"/>
    <p:sldId xmlns:r="http://schemas.openxmlformats.org/officeDocument/2006/relationships" id="289" r:id="R74772a30570a41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342a1592644db1" /><Relationship Type="http://schemas.openxmlformats.org/officeDocument/2006/relationships/slideMaster" Target="/ppt/slideMasters/slideMaster1.xml" Id="R2780a80884974d6c" /><Relationship Type="http://schemas.openxmlformats.org/officeDocument/2006/relationships/notesMaster" Target="/ppt/notesMasters/notesMaster1.xml" Id="Rfbe57c260aa14301" /><Relationship Type="http://schemas.openxmlformats.org/officeDocument/2006/relationships/presProps" Target="/ppt/presProps.xml" Id="Rfe7b4a0588d0400c" /><Relationship Type="http://schemas.openxmlformats.org/officeDocument/2006/relationships/tableStyles" Target="/ppt/tableStyles.xml" Id="Re0a87416e60d49e3" /><Relationship Type="http://schemas.openxmlformats.org/officeDocument/2006/relationships/slide" Target="/ppt/slides/slide1.xml" Id="R6427e630cc1b480b" /><Relationship Type="http://schemas.openxmlformats.org/officeDocument/2006/relationships/slide" Target="/ppt/slides/slide2.xml" Id="Rc505ab2b7f424d34" /><Relationship Type="http://schemas.openxmlformats.org/officeDocument/2006/relationships/slide" Target="/ppt/slides/slide3.xml" Id="R1970d82e61bc4e04" /><Relationship Type="http://schemas.openxmlformats.org/officeDocument/2006/relationships/slide" Target="/ppt/slides/slide4.xml" Id="R91c07a1f5cc64175" /><Relationship Type="http://schemas.openxmlformats.org/officeDocument/2006/relationships/slide" Target="/ppt/slides/slide5.xml" Id="R15bd68ebf8b24dff" /><Relationship Type="http://schemas.openxmlformats.org/officeDocument/2006/relationships/slide" Target="/ppt/slides/slide6.xml" Id="R23323bfb6a2148b9" /><Relationship Type="http://schemas.openxmlformats.org/officeDocument/2006/relationships/slide" Target="/ppt/slides/slide7.xml" Id="R4f95abf2643c43f7" /><Relationship Type="http://schemas.openxmlformats.org/officeDocument/2006/relationships/slide" Target="/ppt/slides/slide8.xml" Id="R64e494bafa354df1" /><Relationship Type="http://schemas.openxmlformats.org/officeDocument/2006/relationships/slide" Target="/ppt/slides/slide9.xml" Id="R89232889acaa4ca2" /><Relationship Type="http://schemas.openxmlformats.org/officeDocument/2006/relationships/slide" Target="/ppt/slides/slide10.xml" Id="R0796189aa06d4a85" /><Relationship Type="http://schemas.openxmlformats.org/officeDocument/2006/relationships/slide" Target="/ppt/slides/slide11.xml" Id="R896c7c0d9c69418e" /><Relationship Type="http://schemas.openxmlformats.org/officeDocument/2006/relationships/slide" Target="/ppt/slides/slide12.xml" Id="R646ed12c4c5f469b" /><Relationship Type="http://schemas.openxmlformats.org/officeDocument/2006/relationships/slide" Target="/ppt/slides/slide13.xml" Id="R786ae94eb14e40d3" /><Relationship Type="http://schemas.openxmlformats.org/officeDocument/2006/relationships/slide" Target="/ppt/slides/slide14.xml" Id="Rb407b64b7d074f3e" /><Relationship Type="http://schemas.openxmlformats.org/officeDocument/2006/relationships/slide" Target="/ppt/slides/slide15.xml" Id="Rd7b97f567f3141c1" /><Relationship Type="http://schemas.openxmlformats.org/officeDocument/2006/relationships/slide" Target="/ppt/slides/slide16.xml" Id="R735d2c7f43034d71" /><Relationship Type="http://schemas.openxmlformats.org/officeDocument/2006/relationships/slide" Target="/ppt/slides/slide17.xml" Id="Rf0bf445ecc944a29" /><Relationship Type="http://schemas.openxmlformats.org/officeDocument/2006/relationships/slide" Target="/ppt/slides/slide18.xml" Id="Ra2a07940170947c0" /><Relationship Type="http://schemas.openxmlformats.org/officeDocument/2006/relationships/slide" Target="/ppt/slides/slide19.xml" Id="Rbaf9f29657634101" /><Relationship Type="http://schemas.openxmlformats.org/officeDocument/2006/relationships/slide" Target="/ppt/slides/slide20.xml" Id="R1da83bd79c1948bb" /><Relationship Type="http://schemas.openxmlformats.org/officeDocument/2006/relationships/slide" Target="/ppt/slides/slide21.xml" Id="R24fe62f833214e44" /><Relationship Type="http://schemas.openxmlformats.org/officeDocument/2006/relationships/slide" Target="/ppt/slides/slide22.xml" Id="R06a23c8c30154f74" /><Relationship Type="http://schemas.openxmlformats.org/officeDocument/2006/relationships/slide" Target="/ppt/slides/slide23.xml" Id="R0835ad39fc164fdb" /><Relationship Type="http://schemas.openxmlformats.org/officeDocument/2006/relationships/slide" Target="/ppt/slides/slide24.xml" Id="Reb91a5601a964e65" /><Relationship Type="http://schemas.openxmlformats.org/officeDocument/2006/relationships/slide" Target="/ppt/slides/slide25.xml" Id="R78f0cd3eabe6481d" /><Relationship Type="http://schemas.openxmlformats.org/officeDocument/2006/relationships/slide" Target="/ppt/slides/slide26.xml" Id="R8de7973606d941bf" /><Relationship Type="http://schemas.openxmlformats.org/officeDocument/2006/relationships/slide" Target="/ppt/slides/slide27.xml" Id="R8e2f840f97064529" /><Relationship Type="http://schemas.openxmlformats.org/officeDocument/2006/relationships/slide" Target="/ppt/slides/slide28.xml" Id="R041a525a62a04984" /><Relationship Type="http://schemas.openxmlformats.org/officeDocument/2006/relationships/slide" Target="/ppt/slides/slide29.xml" Id="R8312763834064094" /><Relationship Type="http://schemas.openxmlformats.org/officeDocument/2006/relationships/slide" Target="/ppt/slides/slide30.xml" Id="R9a0b4fbb51b3480b" /><Relationship Type="http://schemas.openxmlformats.org/officeDocument/2006/relationships/slide" Target="/ppt/slides/slide31.xml" Id="Rbfdfe4f8001c406f" /><Relationship Type="http://schemas.openxmlformats.org/officeDocument/2006/relationships/slide" Target="/ppt/slides/slide32.xml" Id="R53ffbb7647694a86" /><Relationship Type="http://schemas.openxmlformats.org/officeDocument/2006/relationships/slide" Target="/ppt/slides/slide33.xml" Id="Rb0616e5606dc4135" /><Relationship Type="http://schemas.openxmlformats.org/officeDocument/2006/relationships/slide" Target="/ppt/slides/slide34.xml" Id="R74772a30570a41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cf3b639a8943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f7e6fdce8648bd" /><Relationship Type="http://schemas.openxmlformats.org/officeDocument/2006/relationships/notesMaster" Target="/ppt/notesMasters/notesMaster1.xml" Id="R0d6b725475584d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1be77a134b47a0" /><Relationship Type="http://schemas.openxmlformats.org/officeDocument/2006/relationships/notesMaster" Target="/ppt/notesMasters/notesMaster1.xml" Id="R172475ade9e5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9d60c15c994270" /><Relationship Type="http://schemas.openxmlformats.org/officeDocument/2006/relationships/notesMaster" Target="/ppt/notesMasters/notesMaster1.xml" Id="R04a49badd8354e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7ce775371346df" /><Relationship Type="http://schemas.openxmlformats.org/officeDocument/2006/relationships/notesMaster" Target="/ppt/notesMasters/notesMaster1.xml" Id="R38ac6cd6837c40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03437c862a4852" /><Relationship Type="http://schemas.openxmlformats.org/officeDocument/2006/relationships/notesMaster" Target="/ppt/notesMasters/notesMaster1.xml" Id="Rdf918c3dfaeb47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c802cbfc7c46de" /><Relationship Type="http://schemas.openxmlformats.org/officeDocument/2006/relationships/notesMaster" Target="/ppt/notesMasters/notesMaster1.xml" Id="Rc5139d17deca4c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0304d134354df1" /><Relationship Type="http://schemas.openxmlformats.org/officeDocument/2006/relationships/notesMaster" Target="/ppt/notesMasters/notesMaster1.xml" Id="Rb3b4120979b14e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f76b6bbee044cf" /><Relationship Type="http://schemas.openxmlformats.org/officeDocument/2006/relationships/notesMaster" Target="/ppt/notesMasters/notesMaster1.xml" Id="R4cb0698b0d6c49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1ba22ae558490b" /><Relationship Type="http://schemas.openxmlformats.org/officeDocument/2006/relationships/notesMaster" Target="/ppt/notesMasters/notesMaster1.xml" Id="Rfce545d5e98248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b0aeaca7094978" /><Relationship Type="http://schemas.openxmlformats.org/officeDocument/2006/relationships/notesMaster" Target="/ppt/notesMasters/notesMaster1.xml" Id="R52bf21937ee04c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7f44b316844b1d" /><Relationship Type="http://schemas.openxmlformats.org/officeDocument/2006/relationships/notesMaster" Target="/ppt/notesMasters/notesMaster1.xml" Id="R180e0a18fc214d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7952ad3c4a44e8" /><Relationship Type="http://schemas.openxmlformats.org/officeDocument/2006/relationships/notesMaster" Target="/ppt/notesMasters/notesMaster1.xml" Id="R018452a3b35343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3dfdb691cf4b59" /><Relationship Type="http://schemas.openxmlformats.org/officeDocument/2006/relationships/notesMaster" Target="/ppt/notesMasters/notesMaster1.xml" Id="R530af36f38cd41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a9d46a7bc14fc5" /><Relationship Type="http://schemas.openxmlformats.org/officeDocument/2006/relationships/notesMaster" Target="/ppt/notesMasters/notesMaster1.xml" Id="R3a4dc79d555847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07079e2cec4caf" /><Relationship Type="http://schemas.openxmlformats.org/officeDocument/2006/relationships/notesMaster" Target="/ppt/notesMasters/notesMaster1.xml" Id="R1755d127c07b43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ae3d8cfccf42da" /><Relationship Type="http://schemas.openxmlformats.org/officeDocument/2006/relationships/notesMaster" Target="/ppt/notesMasters/notesMaster1.xml" Id="Rd3e01927102645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30112209ed427f" /><Relationship Type="http://schemas.openxmlformats.org/officeDocument/2006/relationships/notesMaster" Target="/ppt/notesMasters/notesMaster1.xml" Id="Ra59f200a847b4c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386b7454f84609" /><Relationship Type="http://schemas.openxmlformats.org/officeDocument/2006/relationships/notesMaster" Target="/ppt/notesMasters/notesMaster1.xml" Id="R81983a3bc71b41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4a1de554134ce1" /><Relationship Type="http://schemas.openxmlformats.org/officeDocument/2006/relationships/notesMaster" Target="/ppt/notesMasters/notesMaster1.xml" Id="Rb91053ad53db4f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19ee773583745cc" /><Relationship Type="http://schemas.openxmlformats.org/officeDocument/2006/relationships/notesMaster" Target="/ppt/notesMasters/notesMaster1.xml" Id="Rd72710174d154f8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4c6d195bc34ef1" /><Relationship Type="http://schemas.openxmlformats.org/officeDocument/2006/relationships/notesMaster" Target="/ppt/notesMasters/notesMaster1.xml" Id="R911d7485fe5840e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e9e6c9353c4fe6" /><Relationship Type="http://schemas.openxmlformats.org/officeDocument/2006/relationships/notesMaster" Target="/ppt/notesMasters/notesMaster1.xml" Id="Rc17be19a8fee4b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470f22207e4343" /><Relationship Type="http://schemas.openxmlformats.org/officeDocument/2006/relationships/notesMaster" Target="/ppt/notesMasters/notesMaster1.xml" Id="R155ccb563e48422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ba87fc757c4636" /><Relationship Type="http://schemas.openxmlformats.org/officeDocument/2006/relationships/notesMaster" Target="/ppt/notesMasters/notesMaster1.xml" Id="R8ddfe73e99474ef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419cbb49f034f2e" /><Relationship Type="http://schemas.openxmlformats.org/officeDocument/2006/relationships/notesMaster" Target="/ppt/notesMasters/notesMaster1.xml" Id="R52d3aec8e76a436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bc80101fe7b488b" /><Relationship Type="http://schemas.openxmlformats.org/officeDocument/2006/relationships/notesMaster" Target="/ppt/notesMasters/notesMaster1.xml" Id="Rb4565b2b8e40449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208ce23c1624357" /><Relationship Type="http://schemas.openxmlformats.org/officeDocument/2006/relationships/notesMaster" Target="/ppt/notesMasters/notesMaster1.xml" Id="Rd4596cbdbbfc44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21ea7d7c273432b" /><Relationship Type="http://schemas.openxmlformats.org/officeDocument/2006/relationships/notesMaster" Target="/ppt/notesMasters/notesMaster1.xml" Id="R6198c12fc218483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7f66d4ec2aa4d5d" /><Relationship Type="http://schemas.openxmlformats.org/officeDocument/2006/relationships/notesMaster" Target="/ppt/notesMasters/notesMaster1.xml" Id="Rd0d66edadded439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8fe580f559a44c9" /><Relationship Type="http://schemas.openxmlformats.org/officeDocument/2006/relationships/notesMaster" Target="/ppt/notesMasters/notesMaster1.xml" Id="R034a0de5103a40a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d3d40baf46b4637" /><Relationship Type="http://schemas.openxmlformats.org/officeDocument/2006/relationships/notesMaster" Target="/ppt/notesMasters/notesMaster1.xml" Id="Rc07d70ae29eb459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78e8f2a810941c4" /><Relationship Type="http://schemas.openxmlformats.org/officeDocument/2006/relationships/notesMaster" Target="/ppt/notesMasters/notesMaster1.xml" Id="Rdf1c9521bbc142b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497629a923f47f6" /><Relationship Type="http://schemas.openxmlformats.org/officeDocument/2006/relationships/notesMaster" Target="/ppt/notesMasters/notesMaster1.xml" Id="Reb79057ae6f14a7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8b74425472642f6" /><Relationship Type="http://schemas.openxmlformats.org/officeDocument/2006/relationships/notesMaster" Target="/ppt/notesMasters/notesMaster1.xml" Id="R179949948ab64b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3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3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4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5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6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7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8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9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10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11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12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13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14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15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16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17 页。原项目为模拟与验证参考环境；页面截图和案例数据为模拟或虚构数据。</a:t>
            </a:r>
          </a:p>
          <a:p xmlns:a="http://schemas.openxmlformats.org/drawingml/2006/main">
            <a:r>
              <a:t>来源：Klaviyo 客户案例；公开披露数据及其归因限制按原文保留。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18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19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20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21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22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23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24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25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26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27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28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29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30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31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31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來源：稼先社区运营分析平台《设计理念与应用指南》PDF，第 32 页。原项目为模拟与验证参考环境；页面截图和案例数据为模拟或虚构数据。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ec55b4c9649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823c4bdee42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9a952d5a648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cde064cfb4d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2da136abd49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e4b29c40d43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BAABF7-1C5C-4DA2-A216-E75EE97E79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78613B-AC57-44A9-B593-228B825E40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800C1D-EAFC-4530-999E-E4A6605AA3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F35D89-8FC4-4AA7-9FC3-8DA655D908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CC1F64-6B73-415F-A8E0-F058FBDA4F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5F81E5-434D-4ED2-9D2B-5DC980C18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C02C54-7FD7-412B-ADE1-62DFA63562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C79F5C-D3C7-42A7-ADC2-1BC60A84D7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C607C7-C41B-4B43-8A8C-DF1C1DAAE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335D85-68A7-4651-BE8E-19D8821B2A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4cc4c516984250" /><Relationship Type="http://schemas.openxmlformats.org/officeDocument/2006/relationships/slideLayout" Target="/ppt/slideLayouts/slideLayout1.xml" Id="R32c4b839fbb94ee8" /><Relationship Type="http://schemas.openxmlformats.org/officeDocument/2006/relationships/slideLayout" Target="/ppt/slideLayouts/slideLayout2.xml" Id="Rbf06381b693c4a8e" /><Relationship Type="http://schemas.openxmlformats.org/officeDocument/2006/relationships/slideLayout" Target="/ppt/slideLayouts/slideLayout3.xml" Id="R64e7c783815347c4" /><Relationship Type="http://schemas.openxmlformats.org/officeDocument/2006/relationships/slideLayout" Target="/ppt/slideLayouts/slideLayout4.xml" Id="R5302b89ac2f04b14" /><Relationship Type="http://schemas.openxmlformats.org/officeDocument/2006/relationships/slideLayout" Target="/ppt/slideLayouts/slideLayout5.xml" Id="Re232d2592bbb4701" /><Relationship Type="http://schemas.openxmlformats.org/officeDocument/2006/relationships/slideLayout" Target="/ppt/slideLayouts/slideLayout6.xml" Id="Ra682e0f34dfc42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c4b839fbb94ee8"/>
    <p:sldLayoutId xmlns:r="http://schemas.openxmlformats.org/officeDocument/2006/relationships" id="2147483650" r:id="Rbf06381b693c4a8e"/>
    <p:sldLayoutId xmlns:r="http://schemas.openxmlformats.org/officeDocument/2006/relationships" id="2147483651" r:id="R64e7c783815347c4"/>
    <p:sldLayoutId xmlns:r="http://schemas.openxmlformats.org/officeDocument/2006/relationships" id="2147483652" r:id="R5302b89ac2f04b14"/>
    <p:sldLayoutId xmlns:r="http://schemas.openxmlformats.org/officeDocument/2006/relationships" id="2147483653" r:id="Re232d2592bbb4701"/>
    <p:sldLayoutId xmlns:r="http://schemas.openxmlformats.org/officeDocument/2006/relationships" id="2147483654" r:id="Ra682e0f34dfc42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96afceedc45b1" /><Relationship Type="http://schemas.openxmlformats.org/officeDocument/2006/relationships/notesSlide" Target="/ppt/notesSlides/notesSlide1.xml" Id="Ree76f292405e44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9101535f549fa" /><Relationship Type="http://schemas.openxmlformats.org/officeDocument/2006/relationships/notesSlide" Target="/ppt/notesSlides/notesSlide2.xml" Id="Red8307103b3341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90f48e66e4026" /><Relationship Type="http://schemas.openxmlformats.org/officeDocument/2006/relationships/notesSlide" Target="/ppt/notesSlides/notesSlide3.xml" Id="Rdd79cc5e87994c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7daf4bf104cd8" /><Relationship Type="http://schemas.openxmlformats.org/officeDocument/2006/relationships/notesSlide" Target="/ppt/notesSlides/notesSlide4.xml" Id="R84f029e96a4b4d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99e285eb064879" /><Relationship Type="http://schemas.openxmlformats.org/officeDocument/2006/relationships/notesSlide" Target="/ppt/notesSlides/notesSlide5.xml" Id="Ree8b44661cd645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d30fe737644072" /><Relationship Type="http://schemas.openxmlformats.org/officeDocument/2006/relationships/image" Target="/ppt/media/image.png" Id="R60d236384cae4409" /><Relationship Type="http://schemas.openxmlformats.org/officeDocument/2006/relationships/notesSlide" Target="/ppt/notesSlides/notesSlide6.xml" Id="R8cd9340c1d784e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b5481a1ef404e" /><Relationship Type="http://schemas.openxmlformats.org/officeDocument/2006/relationships/image" Target="/ppt/media/image2.png" Id="Rf7454f0b053445e4" /><Relationship Type="http://schemas.openxmlformats.org/officeDocument/2006/relationships/notesSlide" Target="/ppt/notesSlides/notesSlide7.xml" Id="R800d25018c5d4e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bb030103a4f7e" /><Relationship Type="http://schemas.openxmlformats.org/officeDocument/2006/relationships/notesSlide" Target="/ppt/notesSlides/notesSlide8.xml" Id="Rcd97de5b550541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e234ea278c4feb" /><Relationship Type="http://schemas.openxmlformats.org/officeDocument/2006/relationships/image" Target="/ppt/media/image3.png" Id="R91020e4137e64a69" /><Relationship Type="http://schemas.openxmlformats.org/officeDocument/2006/relationships/notesSlide" Target="/ppt/notesSlides/notesSlide9.xml" Id="Re7fee9218ca24c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7c3a9a45854dc2" /><Relationship Type="http://schemas.openxmlformats.org/officeDocument/2006/relationships/image" Target="/ppt/media/image4.png" Id="R66adc5bae6e04fb6" /><Relationship Type="http://schemas.openxmlformats.org/officeDocument/2006/relationships/notesSlide" Target="/ppt/notesSlides/notesSlide10.xml" Id="R80c0edf967f140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3c2d548a443e5" /><Relationship Type="http://schemas.openxmlformats.org/officeDocument/2006/relationships/image" Target="/ppt/media/image5.png" Id="Rc4a52c68210a4004" /><Relationship Type="http://schemas.openxmlformats.org/officeDocument/2006/relationships/notesSlide" Target="/ppt/notesSlides/notesSlide11.xml" Id="Rb346cffa5f224e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bd3f3e58814dc6" /><Relationship Type="http://schemas.openxmlformats.org/officeDocument/2006/relationships/notesSlide" Target="/ppt/notesSlides/notesSlide12.xml" Id="R0a2d6657dd0c40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56ee4a30704cb8" /><Relationship Type="http://schemas.openxmlformats.org/officeDocument/2006/relationships/image" Target="/ppt/media/image6.png" Id="R420bc092ff2246e3" /><Relationship Type="http://schemas.openxmlformats.org/officeDocument/2006/relationships/notesSlide" Target="/ppt/notesSlides/notesSlide13.xml" Id="R2fbcc9f6ca8648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20993f51c54479" /><Relationship Type="http://schemas.openxmlformats.org/officeDocument/2006/relationships/image" Target="/ppt/media/image7.png" Id="R830973a3f0ce40c4" /><Relationship Type="http://schemas.openxmlformats.org/officeDocument/2006/relationships/notesSlide" Target="/ppt/notesSlides/notesSlide14.xml" Id="Rcbcc5b00e9eb4a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dc64ca9ad4827" /><Relationship Type="http://schemas.openxmlformats.org/officeDocument/2006/relationships/image" Target="/ppt/media/image8.png" Id="R531359ea7fae42ba" /><Relationship Type="http://schemas.openxmlformats.org/officeDocument/2006/relationships/notesSlide" Target="/ppt/notesSlides/notesSlide15.xml" Id="R8a1ec82d84894c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54723568c4a59" /><Relationship Type="http://schemas.openxmlformats.org/officeDocument/2006/relationships/notesSlide" Target="/ppt/notesSlides/notesSlide16.xml" Id="R75f3d78383ee49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a7d529b89439a" /><Relationship Type="http://schemas.openxmlformats.org/officeDocument/2006/relationships/notesSlide" Target="/ppt/notesSlides/notesSlide17.xml" Id="R7816d94e411842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5fb0a513fe4be0" /><Relationship Type="http://schemas.openxmlformats.org/officeDocument/2006/relationships/notesSlide" Target="/ppt/notesSlides/notesSlide18.xml" Id="R7eaaaf04265849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0755494674055" /><Relationship Type="http://schemas.openxmlformats.org/officeDocument/2006/relationships/notesSlide" Target="/ppt/notesSlides/notesSlide19.xml" Id="R68fc075e219b4b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1261cccb6494d" /><Relationship Type="http://schemas.openxmlformats.org/officeDocument/2006/relationships/notesSlide" Target="/ppt/notesSlides/notesSlide20.xml" Id="R4f600f6c3f2743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07c88864d4378" /><Relationship Type="http://schemas.openxmlformats.org/officeDocument/2006/relationships/notesSlide" Target="/ppt/notesSlides/notesSlide21.xml" Id="Rde26097704d348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05b1baa92e4621" /><Relationship Type="http://schemas.openxmlformats.org/officeDocument/2006/relationships/notesSlide" Target="/ppt/notesSlides/notesSlide22.xml" Id="Rbc4ac092759f4d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2e01094ea84a71" /><Relationship Type="http://schemas.openxmlformats.org/officeDocument/2006/relationships/image" Target="/ppt/media/image9.png" Id="R77f529ae5dd84806" /><Relationship Type="http://schemas.openxmlformats.org/officeDocument/2006/relationships/image" Target="/ppt/media/image10.png" Id="R9710306aca3a4832" /><Relationship Type="http://schemas.openxmlformats.org/officeDocument/2006/relationships/image" Target="/ppt/media/image11.png" Id="R601b78881d974e18" /><Relationship Type="http://schemas.openxmlformats.org/officeDocument/2006/relationships/image" Target="/ppt/media/image12.png" Id="R1d6e64bf0d694d21" /><Relationship Type="http://schemas.openxmlformats.org/officeDocument/2006/relationships/image" Target="/ppt/media/image13.png" Id="R74dee558ab774009" /><Relationship Type="http://schemas.openxmlformats.org/officeDocument/2006/relationships/image" Target="/ppt/media/image14.png" Id="R14b23b90f2d54e3f" /><Relationship Type="http://schemas.openxmlformats.org/officeDocument/2006/relationships/image" Target="/ppt/media/image15.png" Id="R4c4bb87050934d68" /><Relationship Type="http://schemas.openxmlformats.org/officeDocument/2006/relationships/image" Target="/ppt/media/image16.png" Id="Ra8acafdb4812435c" /><Relationship Type="http://schemas.openxmlformats.org/officeDocument/2006/relationships/image" Target="/ppt/media/image17.png" Id="Rc61c3106c6304757" /><Relationship Type="http://schemas.openxmlformats.org/officeDocument/2006/relationships/image" Target="/ppt/media/image18.png" Id="R6ff14c9cff794fa1" /><Relationship Type="http://schemas.openxmlformats.org/officeDocument/2006/relationships/image" Target="/ppt/media/image19.png" Id="R6404341a76d344b6" /><Relationship Type="http://schemas.openxmlformats.org/officeDocument/2006/relationships/image" Target="/ppt/media/image20.png" Id="R74c3826211324d9d" /><Relationship Type="http://schemas.openxmlformats.org/officeDocument/2006/relationships/notesSlide" Target="/ppt/notesSlides/notesSlide23.xml" Id="R4ec1140d44b84e5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3c4c345ad4ccf" /><Relationship Type="http://schemas.openxmlformats.org/officeDocument/2006/relationships/image" Target="/ppt/media/image21.png" Id="Rbc4617430e0e4768" /><Relationship Type="http://schemas.openxmlformats.org/officeDocument/2006/relationships/notesSlide" Target="/ppt/notesSlides/notesSlide24.xml" Id="R9c0b1bf8acfb4e4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d2026931d4db9" /><Relationship Type="http://schemas.openxmlformats.org/officeDocument/2006/relationships/image" Target="/ppt/media/image22.png" Id="Rf820d6a55bbc4c2c" /><Relationship Type="http://schemas.openxmlformats.org/officeDocument/2006/relationships/notesSlide" Target="/ppt/notesSlides/notesSlide25.xml" Id="R46659752bd8f428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f83cb9a134915" /><Relationship Type="http://schemas.openxmlformats.org/officeDocument/2006/relationships/image" Target="/ppt/media/image23.png" Id="R85266464c5254259" /><Relationship Type="http://schemas.openxmlformats.org/officeDocument/2006/relationships/notesSlide" Target="/ppt/notesSlides/notesSlide26.xml" Id="Rea7743db251844a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479117e04494b" /><Relationship Type="http://schemas.openxmlformats.org/officeDocument/2006/relationships/image" Target="/ppt/media/image24.png" Id="R61e4520e081c4c72" /><Relationship Type="http://schemas.openxmlformats.org/officeDocument/2006/relationships/notesSlide" Target="/ppt/notesSlides/notesSlide27.xml" Id="R3d056cdf7f6f458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befa280a1473e" /><Relationship Type="http://schemas.openxmlformats.org/officeDocument/2006/relationships/image" Target="/ppt/media/image25.png" Id="R97e5435ca19a45f5" /><Relationship Type="http://schemas.openxmlformats.org/officeDocument/2006/relationships/notesSlide" Target="/ppt/notesSlides/notesSlide28.xml" Id="R5b23490df7a1446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ac7e3bcf942e4" /><Relationship Type="http://schemas.openxmlformats.org/officeDocument/2006/relationships/image" Target="/ppt/media/image26.png" Id="Ra38bb86faf114ff0" /><Relationship Type="http://schemas.openxmlformats.org/officeDocument/2006/relationships/image" Target="/ppt/media/image27.png" Id="R6a65fe7b4cf646a9" /><Relationship Type="http://schemas.openxmlformats.org/officeDocument/2006/relationships/notesSlide" Target="/ppt/notesSlides/notesSlide29.xml" Id="R07dd85035770457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f509c9471436d" /><Relationship Type="http://schemas.openxmlformats.org/officeDocument/2006/relationships/image" Target="/ppt/media/image28.png" Id="Rd0d5a00e22754c57" /><Relationship Type="http://schemas.openxmlformats.org/officeDocument/2006/relationships/notesSlide" Target="/ppt/notesSlides/notesSlide30.xml" Id="R962cd99bd26447a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a9bd8967374b88" /><Relationship Type="http://schemas.openxmlformats.org/officeDocument/2006/relationships/image" Target="/ppt/media/image29.png" Id="Rec0f65e062f14c1e" /><Relationship Type="http://schemas.openxmlformats.org/officeDocument/2006/relationships/image" Target="/ppt/media/image30.png" Id="Rc32eb8c1f7d94894" /><Relationship Type="http://schemas.openxmlformats.org/officeDocument/2006/relationships/notesSlide" Target="/ppt/notesSlides/notesSlide31.xml" Id="Rffdb9d126d61417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be89a5e304281" /><Relationship Type="http://schemas.openxmlformats.org/officeDocument/2006/relationships/notesSlide" Target="/ppt/notesSlides/notesSlide32.xml" Id="Rf93171ea5d7542b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41085efbe47ce" /><Relationship Type="http://schemas.openxmlformats.org/officeDocument/2006/relationships/notesSlide" Target="/ppt/notesSlides/notesSlide33.xml" Id="R49ce1537eef14e7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80c9972674649" /><Relationship Type="http://schemas.openxmlformats.org/officeDocument/2006/relationships/notesSlide" Target="/ppt/notesSlides/notesSlide34.xml" Id="R01a17d6306f44b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7BAE764-1AB9-40CF-B5AF-3EC3DFD1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82642EF-E2DE-42EC-BAA4-36124CFF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3" name="rule-78-122">
            <a:extLst xmlns:a="http://schemas.openxmlformats.org/drawingml/2006/main">
              <a:ext uri="{FF2B5EF4-FFF2-40B4-BE49-F238E27FC236}">
                <a16:creationId xmlns:a16="http://schemas.microsoft.com/office/drawing/2014/main" id="{CD3E88FA-0E8D-4685-8A42-1660C819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D0985D3-CB53-4570-9A69-3FCFAE65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7953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让优质内容</a:t>
            </a:r>
          </a:p>
          <a:p xmlns:a="http://schemas.openxmlformats.org/drawingml/2006/main">
            <a:pPr algn="l">
              <a:def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被更多人看见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2731A0E-86B3-4925-8248-C9AE2437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设计理念与运营应用指南</a:t>
            </a:r>
          </a:p>
        </p:txBody>
      </p:sp>
      <p:sp>
        <p:nvSpPr>
          <p:cNvPr id="6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92F31D68-BA88-48F2-B1BE-428E29C4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以全站 PV 为目标，连接频道、账号、人员与内容分析，</a:t>
            </a:r>
          </a:p>
          <a:p xmlns:a="http://schemas.openxmlformats.org/drawingml/2006/main">
            <a:pPr algn="l">
              <a:def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让团队看见差距、找到线索，激发专家讨论与交流。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9014D5E0-3083-48E8-807E-C4DA9CB8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管理者与社区运营人员参考  ·  2026 年 10 月</a:t>
            </a:r>
          </a:p>
        </p:txBody>
      </p:sp>
      <p:sp>
        <p:nvSpPr>
          <p:cNvPr id="8" name="cover-mark">
            <a:extLst xmlns:a="http://schemas.openxmlformats.org/drawingml/2006/main">
              <a:ext uri="{FF2B5EF4-FFF2-40B4-BE49-F238E27FC236}">
                <a16:creationId xmlns:a16="http://schemas.microsoft.com/office/drawing/2014/main" id="{DAC85290-E601-488F-89C3-998DBE29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771650"/>
            <a:ext cx="1714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mark-word">
            <a:extLst xmlns:a="http://schemas.openxmlformats.org/drawingml/2006/main">
              <a:ext uri="{FF2B5EF4-FFF2-40B4-BE49-F238E27FC236}">
                <a16:creationId xmlns:a16="http://schemas.microsoft.com/office/drawing/2014/main" id="{15CBB2C0-8A93-4216-A144-AE008B93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717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PV</a:t>
            </a:r>
          </a:p>
        </p:txBody>
      </p:sp>
      <p:sp>
        <p:nvSpPr>
          <p:cNvPr id="10" name="rule-1057-376">
            <a:extLst xmlns:a="http://schemas.openxmlformats.org/drawingml/2006/main">
              <a:ext uri="{FF2B5EF4-FFF2-40B4-BE49-F238E27FC236}">
                <a16:creationId xmlns:a16="http://schemas.microsoft.com/office/drawing/2014/main" id="{94A320C5-2147-4FCC-AC3E-576A12F5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581400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mark-caption">
            <a:extLst xmlns:a="http://schemas.openxmlformats.org/drawingml/2006/main">
              <a:ext uri="{FF2B5EF4-FFF2-40B4-BE49-F238E27FC236}">
                <a16:creationId xmlns:a16="http://schemas.microsoft.com/office/drawing/2014/main" id="{6B4E0A37-7EEC-4E96-9FE5-962E250C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76675"/>
            <a:ext cx="142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看见差距</a:t>
            </a:r>
          </a:p>
          <a:p xmlns:a="http://schemas.openxmlformats.org/drawingml/2006/main">
            <a: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找到机会</a:t>
            </a:r>
          </a:p>
          <a:p xmlns:a="http://schemas.openxmlformats.org/drawingml/2006/main">
            <a:pPr algn="ctr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验证行动</a:t>
            </a:r>
          </a:p>
        </p:txBody>
      </p:sp>
    </p:spTree>
    <p:extLst>
      <p:ext uri="{BB962C8B-B14F-4D97-AF65-F5344CB8AC3E}">
        <p14:creationId xmlns:p14="http://schemas.microsoft.com/office/powerpoint/2010/main" val="1713931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11C187D-035E-4A11-B93B-4EDEF3D3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30BF9B-852D-41D6-9751-04678B6E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8FEF86-E817-482C-A4EF-CADF8192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阅读指南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CA912A-7020-41DC-AEDF-5369E3F6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按职责进入相关页面，先统一目标与指标口径。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9F25D85A-261D-4C87-AAA3-1F223CF8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B5DD9E7-FDA3-4730-A623-B02C4ADD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620470F-826F-4C36-ABE0-D0EF0C9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col-title-0">
            <a:extLst xmlns:a="http://schemas.openxmlformats.org/drawingml/2006/main">
              <a:ext uri="{FF2B5EF4-FFF2-40B4-BE49-F238E27FC236}">
                <a16:creationId xmlns:a16="http://schemas.microsoft.com/office/drawing/2014/main" id="{B9415C5A-D73B-4716-9A03-8D3D3DB3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44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管理者</a:t>
            </a:r>
          </a:p>
        </p:txBody>
      </p:sp>
      <p:sp>
        <p:nvSpPr>
          <p:cNvPr id="9" name="col-body-0">
            <a:extLst xmlns:a="http://schemas.openxmlformats.org/drawingml/2006/main">
              <a:ext uri="{FF2B5EF4-FFF2-40B4-BE49-F238E27FC236}">
                <a16:creationId xmlns:a16="http://schemas.microsoft.com/office/drawing/2014/main" id="{66D14E0A-CECD-4DF6-B363-C7CE3971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34417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了解全站目标、部门协作方式与可观察的结果。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优先阅读：平台目标、增长机制、案例与落地边界。</a:t>
            </a:r>
          </a:p>
        </p:txBody>
      </p:sp>
      <p:sp>
        <p:nvSpPr>
          <p:cNvPr id="10" name="col-title-1">
            <a:extLst xmlns:a="http://schemas.openxmlformats.org/drawingml/2006/main">
              <a:ext uri="{FF2B5EF4-FFF2-40B4-BE49-F238E27FC236}">
                <a16:creationId xmlns:a16="http://schemas.microsoft.com/office/drawing/2014/main" id="{5F1BF466-38E4-4453-89BE-FEAAA3C6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095500"/>
            <a:ext cx="344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频道负责人</a:t>
            </a:r>
          </a:p>
        </p:txBody>
      </p:sp>
      <p:sp>
        <p:nvSpPr>
          <p:cNvPr id="11" name="col-body-1">
            <a:extLst xmlns:a="http://schemas.openxmlformats.org/drawingml/2006/main">
              <a:ext uri="{FF2B5EF4-FFF2-40B4-BE49-F238E27FC236}">
                <a16:creationId xmlns:a16="http://schemas.microsoft.com/office/drawing/2014/main" id="{3AE4DFCB-9B3F-44F6-8ADC-0E8B27AC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609850"/>
            <a:ext cx="34417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比较同类对象，找出入口分发、内容供给和互动表现的差距。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优先阅读：频道驾驶舱、竞赛榜、对比与下钻。</a:t>
            </a:r>
          </a:p>
        </p:txBody>
      </p:sp>
      <p:sp>
        <p:nvSpPr>
          <p:cNvPr id="12" name="col-divider-1">
            <a:extLst xmlns:a="http://schemas.openxmlformats.org/drawingml/2006/main">
              <a:ext uri="{FF2B5EF4-FFF2-40B4-BE49-F238E27FC236}">
                <a16:creationId xmlns:a16="http://schemas.microsoft.com/office/drawing/2014/main" id="{EC2BE229-3ADC-40F1-9BFB-1C2F77BB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11455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l-title-2">
            <a:extLst xmlns:a="http://schemas.openxmlformats.org/drawingml/2006/main">
              <a:ext uri="{FF2B5EF4-FFF2-40B4-BE49-F238E27FC236}">
                <a16:creationId xmlns:a16="http://schemas.microsoft.com/office/drawing/2014/main" id="{514C7967-AD6A-4F0C-B188-1B464F7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095500"/>
            <a:ext cx="344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网站运营</a:t>
            </a:r>
          </a:p>
        </p:txBody>
      </p:sp>
      <p:sp>
        <p:nvSpPr>
          <p:cNvPr id="14" name="col-body-2">
            <a:extLst xmlns:a="http://schemas.openxmlformats.org/drawingml/2006/main">
              <a:ext uri="{FF2B5EF4-FFF2-40B4-BE49-F238E27FC236}">
                <a16:creationId xmlns:a16="http://schemas.microsoft.com/office/drawing/2014/main" id="{CC8823EB-0A9D-4EBE-857B-2074C354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2609850"/>
            <a:ext cx="34417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跨频道观察用户、创作者、内容和运营任务，提出可以验证的改进动作。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优先阅读：读者、创作者、用户与增长闭环。</a:t>
            </a:r>
          </a:p>
        </p:txBody>
      </p:sp>
      <p:sp>
        <p:nvSpPr>
          <p:cNvPr id="15" name="col-divider-2">
            <a:extLst xmlns:a="http://schemas.openxmlformats.org/drawingml/2006/main">
              <a:ext uri="{FF2B5EF4-FFF2-40B4-BE49-F238E27FC236}">
                <a16:creationId xmlns:a16="http://schemas.microsoft.com/office/drawing/2014/main" id="{78E6725B-FA04-4A4E-B51C-DC884A75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11455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-70-625">
            <a:extLst xmlns:a="http://schemas.openxmlformats.org/drawingml/2006/main">
              <a:ext uri="{FF2B5EF4-FFF2-40B4-BE49-F238E27FC236}">
                <a16:creationId xmlns:a16="http://schemas.microsoft.com/office/drawing/2014/main" id="{640B4EA2-3FB4-4338-B6A6-79D1CFB0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inciples">
            <a:extLst xmlns:a="http://schemas.openxmlformats.org/drawingml/2006/main">
              <a:ext uri="{FF2B5EF4-FFF2-40B4-BE49-F238E27FC236}">
                <a16:creationId xmlns:a16="http://schemas.microsoft.com/office/drawing/2014/main" id="{C2BDCB12-B9E3-4B8A-933D-FE363567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使用原则：结果与过程一起看；同类晾晒用于发现和讨论；先设置基线再复盘；所有截图与案例均为模拟数据。</a:t>
            </a:r>
          </a:p>
        </p:txBody>
      </p:sp>
    </p:spTree>
    <p:extLst>
      <p:ext uri="{BB962C8B-B14F-4D97-AF65-F5344CB8AC3E}">
        <p14:creationId xmlns:p14="http://schemas.microsoft.com/office/powerpoint/2010/main" val="1513178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CD9E179-E646-4A2E-8590-CC66D35D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8333A5-F450-4129-A13E-CAF6606D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938085-FED0-4E17-81C4-04B3294F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平台要共同回答的两个问题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E02F241-DAD6-4646-8E3C-9D78BFD8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目标不只是增加一次点击，而是让浏览与专业交流持续发生。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E8E3D1F2-6EC1-4819-B812-6903C1F7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26F5C83-1932-4D7C-B861-143F43D7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9B904A4-6BD1-4576-8CFA-6F149E4F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8" name="metric-label-直接目标">
            <a:extLst xmlns:a="http://schemas.openxmlformats.org/drawingml/2006/main">
              <a:ext uri="{FF2B5EF4-FFF2-40B4-BE49-F238E27FC236}">
                <a16:creationId xmlns:a16="http://schemas.microsoft.com/office/drawing/2014/main" id="{FD290D99-407C-4D3B-9EF8-784D109E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直接目标</a:t>
            </a:r>
          </a:p>
        </p:txBody>
      </p:sp>
      <p:sp>
        <p:nvSpPr>
          <p:cNvPr id="9" name="metric-value-直接目标">
            <a:extLst xmlns:a="http://schemas.openxmlformats.org/drawingml/2006/main">
              <a:ext uri="{FF2B5EF4-FFF2-40B4-BE49-F238E27FC236}">
                <a16:creationId xmlns:a16="http://schemas.microsoft.com/office/drawing/2014/main" id="{CEBD4EBE-4C71-4501-87F6-9810BEA4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提升全站 PV</a:t>
            </a:r>
          </a:p>
        </p:txBody>
      </p:sp>
      <p:sp>
        <p:nvSpPr>
          <p:cNvPr id="10" name="pv-explain">
            <a:extLst xmlns:a="http://schemas.openxmlformats.org/drawingml/2006/main">
              <a:ext uri="{FF2B5EF4-FFF2-40B4-BE49-F238E27FC236}">
                <a16:creationId xmlns:a16="http://schemas.microsoft.com/office/drawing/2014/main" id="{7320F0E4-ED08-4B28-B378-954CE45E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667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PV 是浏览次数，不是人数。通过优质内容供给、清晰的分发入口和站内继续探索，增加有价值内容的浏览。</a:t>
            </a:r>
          </a:p>
        </p:txBody>
      </p:sp>
      <p:sp>
        <p:nvSpPr>
          <p:cNvPr id="11" name="center-rule">
            <a:extLst xmlns:a="http://schemas.openxmlformats.org/drawingml/2006/main">
              <a:ext uri="{FF2B5EF4-FFF2-40B4-BE49-F238E27FC236}">
                <a16:creationId xmlns:a16="http://schemas.microsoft.com/office/drawing/2014/main" id="{ED1DC1A7-0503-40A8-AC9F-04BB10DD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ric-label-长期目标">
            <a:extLst xmlns:a="http://schemas.openxmlformats.org/drawingml/2006/main">
              <a:ext uri="{FF2B5EF4-FFF2-40B4-BE49-F238E27FC236}">
                <a16:creationId xmlns:a16="http://schemas.microsoft.com/office/drawing/2014/main" id="{8FFFBF33-12DF-449E-9658-EDA7ABE4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71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长期目标</a:t>
            </a:r>
          </a:p>
        </p:txBody>
      </p:sp>
      <p:sp>
        <p:nvSpPr>
          <p:cNvPr id="13" name="metric-value-长期目标">
            <a:extLst xmlns:a="http://schemas.openxmlformats.org/drawingml/2006/main">
              <a:ext uri="{FF2B5EF4-FFF2-40B4-BE49-F238E27FC236}">
                <a16:creationId xmlns:a16="http://schemas.microsoft.com/office/drawing/2014/main" id="{6E325B08-B224-4B46-BD7D-994C10B0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050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rPr>
              <a:t>激发专家讨论</a:t>
            </a:r>
          </a:p>
        </p:txBody>
      </p:sp>
      <p:sp>
        <p:nvSpPr>
          <p:cNvPr id="14" name="discussion-explain">
            <a:extLst xmlns:a="http://schemas.openxmlformats.org/drawingml/2006/main">
              <a:ext uri="{FF2B5EF4-FFF2-40B4-BE49-F238E27FC236}">
                <a16:creationId xmlns:a16="http://schemas.microsoft.com/office/drawing/2014/main" id="{E6DBE872-37AB-42AF-A201-70DAF8F1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33750"/>
            <a:ext cx="4714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把点赞、评论、分享、回访和持续创作放在一起观察，让专业观点更容易碰撞，也让专家愿意持续贡献。</a:t>
            </a:r>
          </a:p>
        </p:txBody>
      </p:sp>
      <p:sp>
        <p:nvSpPr>
          <p:cNvPr id="15" name="rule-82-568">
            <a:extLst xmlns:a="http://schemas.openxmlformats.org/drawingml/2006/main">
              <a:ext uri="{FF2B5EF4-FFF2-40B4-BE49-F238E27FC236}">
                <a16:creationId xmlns:a16="http://schemas.microsoft.com/office/drawing/2014/main" id="{53A878DE-006F-44FE-84D3-49D0ABB2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oal-caveat">
            <a:extLst xmlns:a="http://schemas.openxmlformats.org/drawingml/2006/main">
              <a:ext uri="{FF2B5EF4-FFF2-40B4-BE49-F238E27FC236}">
                <a16:creationId xmlns:a16="http://schemas.microsoft.com/office/drawing/2014/main" id="{D6935F1C-CD21-40AC-A052-B6BDED34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2927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从差距到改进：在合理范围内比较，再沿频道、账号、人员与内容下钻，最后用运营行动验证假设。</a:t>
            </a:r>
          </a:p>
        </p:txBody>
      </p:sp>
    </p:spTree>
    <p:extLst>
      <p:ext uri="{BB962C8B-B14F-4D97-AF65-F5344CB8AC3E}">
        <p14:creationId xmlns:p14="http://schemas.microsoft.com/office/powerpoint/2010/main" val="2103827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7D4140F-4566-4E48-825B-3FEB3EF8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76BEFC-D14D-46C3-9DB2-780016EC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5D6689-EFC6-4337-80CE-879D187D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从内容到持续贡献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EF0AD1-8647-449F-9ACC-A59F140F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PV 增长依赖内容被发现、被阅读，并引发下一次参与。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2289B736-EE29-4C7B-8829-31A7713A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5ED5C47-F8A8-40CF-A06D-BFD7E890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1E1E30-4F5B-4D6D-A542-19ACE95C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8" name="loop-num-0">
            <a:extLst xmlns:a="http://schemas.openxmlformats.org/drawingml/2006/main">
              <a:ext uri="{FF2B5EF4-FFF2-40B4-BE49-F238E27FC236}">
                <a16:creationId xmlns:a16="http://schemas.microsoft.com/office/drawing/2014/main" id="{ECEFDDE5-C3FA-4AC8-97D9-B4189BA5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rule-70-294">
            <a:extLst xmlns:a="http://schemas.openxmlformats.org/drawingml/2006/main">
              <a:ext uri="{FF2B5EF4-FFF2-40B4-BE49-F238E27FC236}">
                <a16:creationId xmlns:a16="http://schemas.microsoft.com/office/drawing/2014/main" id="{C847895C-62A8-406E-9D27-E8E867E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971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A2E47869-E134-4F2C-8D11-DBB86DEF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971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内容供给</a:t>
            </a:r>
          </a:p>
        </p:txBody>
      </p:sp>
      <p:sp>
        <p:nvSpPr>
          <p:cNvPr id="11" name="loop-body-0">
            <a:extLst xmlns:a="http://schemas.openxmlformats.org/drawingml/2006/main">
              <a:ext uri="{FF2B5EF4-FFF2-40B4-BE49-F238E27FC236}">
                <a16:creationId xmlns:a16="http://schemas.microsoft.com/office/drawing/2014/main" id="{E218E2B7-5CE9-4552-A8C4-DFE32922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9716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专家分享文章与视频</a:t>
            </a:r>
          </a:p>
        </p:txBody>
      </p:sp>
      <p:sp>
        <p:nvSpPr>
          <p:cNvPr id="12" name="loop-arrow-0">
            <a:extLst xmlns:a="http://schemas.openxmlformats.org/drawingml/2006/main">
              <a:ext uri="{FF2B5EF4-FFF2-40B4-BE49-F238E27FC236}">
                <a16:creationId xmlns:a16="http://schemas.microsoft.com/office/drawing/2014/main" id="{66AE989F-1029-4FF4-9D40-0CD83A68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432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3" name="loop-num-1">
            <a:extLst xmlns:a="http://schemas.openxmlformats.org/drawingml/2006/main">
              <a:ext uri="{FF2B5EF4-FFF2-40B4-BE49-F238E27FC236}">
                <a16:creationId xmlns:a16="http://schemas.microsoft.com/office/drawing/2014/main" id="{5FC445D2-0F59-4B96-AB9C-E5EACF55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rule-301-294">
            <a:extLst xmlns:a="http://schemas.openxmlformats.org/drawingml/2006/main">
              <a:ext uri="{FF2B5EF4-FFF2-40B4-BE49-F238E27FC236}">
                <a16:creationId xmlns:a16="http://schemas.microsoft.com/office/drawing/2014/main" id="{9F63908D-BC27-4E5A-8321-8D068EC7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00350"/>
            <a:ext cx="1971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9BF69F09-2335-4BCA-BF2C-419B406D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48000"/>
            <a:ext cx="1971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入口分发</a:t>
            </a:r>
          </a:p>
        </p:txBody>
      </p:sp>
      <p:sp>
        <p:nvSpPr>
          <p:cNvPr id="16" name="loop-body-1">
            <a:extLst xmlns:a="http://schemas.openxmlformats.org/drawingml/2006/main">
              <a:ext uri="{FF2B5EF4-FFF2-40B4-BE49-F238E27FC236}">
                <a16:creationId xmlns:a16="http://schemas.microsoft.com/office/drawing/2014/main" id="{EF3ADE83-107E-4C60-8CA5-2D258AB1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695700"/>
            <a:ext cx="19716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综合与领域入口让内容被发现</a:t>
            </a:r>
          </a:p>
        </p:txBody>
      </p:sp>
      <p:sp>
        <p:nvSpPr>
          <p:cNvPr id="17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BDE0AC22-BF80-4BBC-A820-8A213869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8" name="loop-num-2">
            <a:extLst xmlns:a="http://schemas.openxmlformats.org/drawingml/2006/main">
              <a:ext uri="{FF2B5EF4-FFF2-40B4-BE49-F238E27FC236}">
                <a16:creationId xmlns:a16="http://schemas.microsoft.com/office/drawing/2014/main" id="{43B9CC27-693E-4FF7-BFAD-A58E343A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rule-532-294">
            <a:extLst xmlns:a="http://schemas.openxmlformats.org/drawingml/2006/main">
              <a:ext uri="{FF2B5EF4-FFF2-40B4-BE49-F238E27FC236}">
                <a16:creationId xmlns:a16="http://schemas.microsoft.com/office/drawing/2014/main" id="{689E5768-F4FF-4717-B5EA-3B6613A9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0350"/>
            <a:ext cx="1971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9FA1EE6C-E4F4-463A-93C4-3CCF9383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48000"/>
            <a:ext cx="1971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浏览消费</a:t>
            </a:r>
          </a:p>
        </p:txBody>
      </p:sp>
      <p:sp>
        <p:nvSpPr>
          <p:cNvPr id="21" name="loop-body-2">
            <a:extLst xmlns:a="http://schemas.openxmlformats.org/drawingml/2006/main">
              <a:ext uri="{FF2B5EF4-FFF2-40B4-BE49-F238E27FC236}">
                <a16:creationId xmlns:a16="http://schemas.microsoft.com/office/drawing/2014/main" id="{A52C8B45-9A23-46F2-9DE9-F72DB090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19716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用户点击、阅读并继续探索</a:t>
            </a:r>
          </a:p>
        </p:txBody>
      </p:sp>
      <p:sp>
        <p:nvSpPr>
          <p:cNvPr id="22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2C8EF05D-C708-4DE4-9BF9-100F37A9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432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3" name="loop-num-3">
            <a:extLst xmlns:a="http://schemas.openxmlformats.org/drawingml/2006/main">
              <a:ext uri="{FF2B5EF4-FFF2-40B4-BE49-F238E27FC236}">
                <a16:creationId xmlns:a16="http://schemas.microsoft.com/office/drawing/2014/main" id="{2C311577-672F-4796-BBB3-FF619BCC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86000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rule-763-294">
            <a:extLst xmlns:a="http://schemas.openxmlformats.org/drawingml/2006/main">
              <a:ext uri="{FF2B5EF4-FFF2-40B4-BE49-F238E27FC236}">
                <a16:creationId xmlns:a16="http://schemas.microsoft.com/office/drawing/2014/main" id="{62DE73A4-B8CB-4744-A079-287356CC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00350"/>
            <a:ext cx="1971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922EA0FD-58E5-4F4A-8C69-4EFCD408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48000"/>
            <a:ext cx="1971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讨论交流</a:t>
            </a:r>
          </a:p>
        </p:txBody>
      </p:sp>
      <p:sp>
        <p:nvSpPr>
          <p:cNvPr id="26" name="loop-body-3">
            <a:extLst xmlns:a="http://schemas.openxmlformats.org/drawingml/2006/main">
              <a:ext uri="{FF2B5EF4-FFF2-40B4-BE49-F238E27FC236}">
                <a16:creationId xmlns:a16="http://schemas.microsoft.com/office/drawing/2014/main" id="{1C740E59-7039-40A0-ACAA-89348A16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695700"/>
            <a:ext cx="19716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点赞、评论、分享与观点碰撞</a:t>
            </a:r>
          </a:p>
        </p:txBody>
      </p:sp>
      <p:sp>
        <p:nvSpPr>
          <p:cNvPr id="27" name="loop-arrow-3">
            <a:extLst xmlns:a="http://schemas.openxmlformats.org/drawingml/2006/main">
              <a:ext uri="{FF2B5EF4-FFF2-40B4-BE49-F238E27FC236}">
                <a16:creationId xmlns:a16="http://schemas.microsoft.com/office/drawing/2014/main" id="{033E7472-DE01-4EF3-9037-302B457F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8" name="loop-num-4">
            <a:extLst xmlns:a="http://schemas.openxmlformats.org/drawingml/2006/main">
              <a:ext uri="{FF2B5EF4-FFF2-40B4-BE49-F238E27FC236}">
                <a16:creationId xmlns:a16="http://schemas.microsoft.com/office/drawing/2014/main" id="{CD1BD2B0-E8FB-4EDE-82B0-D1024E64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9" name="rule-994-294">
            <a:extLst xmlns:a="http://schemas.openxmlformats.org/drawingml/2006/main">
              <a:ext uri="{FF2B5EF4-FFF2-40B4-BE49-F238E27FC236}">
                <a16:creationId xmlns:a16="http://schemas.microsoft.com/office/drawing/2014/main" id="{333B832C-0EFB-49B7-B1C3-D7ECA5BB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0350"/>
            <a:ext cx="1971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EC188E63-3E6C-4F73-B56D-2B6CF66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1971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再次贡献</a:t>
            </a:r>
          </a:p>
        </p:txBody>
      </p:sp>
      <p:sp>
        <p:nvSpPr>
          <p:cNvPr id="31" name="loop-body-4">
            <a:extLst xmlns:a="http://schemas.openxmlformats.org/drawingml/2006/main">
              <a:ext uri="{FF2B5EF4-FFF2-40B4-BE49-F238E27FC236}">
                <a16:creationId xmlns:a16="http://schemas.microsoft.com/office/drawing/2014/main" id="{5F528934-BDBF-4E2B-880E-DBA63DA6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95700"/>
            <a:ext cx="19716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反馈促成持续创作</a:t>
            </a:r>
          </a:p>
        </p:txBody>
      </p:sp>
      <p:sp>
        <p:nvSpPr>
          <p:cNvPr id="32" name="loop-bottom">
            <a:extLst xmlns:a="http://schemas.openxmlformats.org/drawingml/2006/main">
              <a:ext uri="{FF2B5EF4-FFF2-40B4-BE49-F238E27FC236}">
                <a16:creationId xmlns:a16="http://schemas.microsoft.com/office/drawing/2014/main" id="{C4F72F63-36F5-4143-A008-C1C13384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每一环都可观测：浏览规模、曝光点击、互动反馈、读者留存与创作者供给。</a:t>
            </a:r>
          </a:p>
        </p:txBody>
      </p:sp>
    </p:spTree>
    <p:extLst>
      <p:ext uri="{BB962C8B-B14F-4D97-AF65-F5344CB8AC3E}">
        <p14:creationId xmlns:p14="http://schemas.microsoft.com/office/powerpoint/2010/main" val="2028235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0E10FFD-1A67-40AA-9812-C0C4A481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4065D3-1FA9-4C0E-849B-7D20584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485CF8-5703-44A3-871E-1D9C8AC0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从晾晒到复盘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67CEA8-F3D2-4DC8-B0FF-51BF3189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看板提供一套反复使用的运营方法，而不是一个最终排名。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D89A456B-5941-4871-9BEB-9AAEF030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82B8F0D-B5B4-41CD-BA9B-23DFCE6A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85129AC-8A1E-4609-B075-056EDF7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8" name="cycle-label-0">
            <a:extLst xmlns:a="http://schemas.openxmlformats.org/drawingml/2006/main">
              <a:ext uri="{FF2B5EF4-FFF2-40B4-BE49-F238E27FC236}">
                <a16:creationId xmlns:a16="http://schemas.microsoft.com/office/drawing/2014/main" id="{BCF0C4A8-9549-43F5-9550-1799FCEE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01  晾晒</a:t>
            </a:r>
          </a:p>
        </p:txBody>
      </p:sp>
      <p:sp>
        <p:nvSpPr>
          <p:cNvPr id="9" name="cycle-body-0">
            <a:extLst xmlns:a="http://schemas.openxmlformats.org/drawingml/2006/main">
              <a:ext uri="{FF2B5EF4-FFF2-40B4-BE49-F238E27FC236}">
                <a16:creationId xmlns:a16="http://schemas.microsoft.com/office/drawing/2014/main" id="{2485BAA2-AB77-4A9B-BE2E-40D3BA85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19300"/>
            <a:ext cx="805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全站、频道和同类对象并排看；比较时同时展示比例与绝对量。</a:t>
            </a:r>
          </a:p>
        </p:txBody>
      </p:sp>
      <p:sp>
        <p:nvSpPr>
          <p:cNvPr id="10" name="rule-78-274">
            <a:extLst xmlns:a="http://schemas.openxmlformats.org/drawingml/2006/main">
              <a:ext uri="{FF2B5EF4-FFF2-40B4-BE49-F238E27FC236}">
                <a16:creationId xmlns:a16="http://schemas.microsoft.com/office/drawing/2014/main" id="{AD9D2F1A-14A9-4C42-96B7-8506A940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ycle-label-1">
            <a:extLst xmlns:a="http://schemas.openxmlformats.org/drawingml/2006/main">
              <a:ext uri="{FF2B5EF4-FFF2-40B4-BE49-F238E27FC236}">
                <a16:creationId xmlns:a16="http://schemas.microsoft.com/office/drawing/2014/main" id="{42B1CBF0-A549-46BA-8979-8FFA052A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02  定位</a:t>
            </a:r>
          </a:p>
        </p:txBody>
      </p:sp>
      <p:sp>
        <p:nvSpPr>
          <p:cNvPr id="12" name="cycle-body-1">
            <a:extLst xmlns:a="http://schemas.openxmlformats.org/drawingml/2006/main">
              <a:ext uri="{FF2B5EF4-FFF2-40B4-BE49-F238E27FC236}">
                <a16:creationId xmlns:a16="http://schemas.microsoft.com/office/drawing/2014/main" id="{B4ECC8A3-9E6C-4815-99A6-CFFED5A7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0350"/>
            <a:ext cx="805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分解来源、频道、账号、作者，以及文章和视频。</a:t>
            </a:r>
          </a:p>
        </p:txBody>
      </p:sp>
      <p:sp>
        <p:nvSpPr>
          <p:cNvPr id="13" name="rule-78-356">
            <a:extLst xmlns:a="http://schemas.openxmlformats.org/drawingml/2006/main">
              <a:ext uri="{FF2B5EF4-FFF2-40B4-BE49-F238E27FC236}">
                <a16:creationId xmlns:a16="http://schemas.microsoft.com/office/drawing/2014/main" id="{CE8ACBBD-0BC8-429F-A5FF-37C27FBC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ycle-label-2">
            <a:extLst xmlns:a="http://schemas.openxmlformats.org/drawingml/2006/main">
              <a:ext uri="{FF2B5EF4-FFF2-40B4-BE49-F238E27FC236}">
                <a16:creationId xmlns:a16="http://schemas.microsoft.com/office/drawing/2014/main" id="{83E9D1BD-E594-432D-A952-7E31F4D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03  理解</a:t>
            </a:r>
          </a:p>
        </p:txBody>
      </p:sp>
      <p:sp>
        <p:nvSpPr>
          <p:cNvPr id="15" name="cycle-body-2">
            <a:extLst xmlns:a="http://schemas.openxmlformats.org/drawingml/2006/main">
              <a:ext uri="{FF2B5EF4-FFF2-40B4-BE49-F238E27FC236}">
                <a16:creationId xmlns:a16="http://schemas.microsoft.com/office/drawing/2014/main" id="{921A53ED-D585-4ECE-8DAA-5D813C7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81400"/>
            <a:ext cx="805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结合读者、专家、互动和内容供给，解释差异。</a:t>
            </a:r>
          </a:p>
        </p:txBody>
      </p:sp>
      <p:sp>
        <p:nvSpPr>
          <p:cNvPr id="16" name="rule-78-438">
            <a:extLst xmlns:a="http://schemas.openxmlformats.org/drawingml/2006/main">
              <a:ext uri="{FF2B5EF4-FFF2-40B4-BE49-F238E27FC236}">
                <a16:creationId xmlns:a16="http://schemas.microsoft.com/office/drawing/2014/main" id="{F6BBCC1F-453B-4007-8F30-E654FB6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ycle-label-3">
            <a:extLst xmlns:a="http://schemas.openxmlformats.org/drawingml/2006/main">
              <a:ext uri="{FF2B5EF4-FFF2-40B4-BE49-F238E27FC236}">
                <a16:creationId xmlns:a16="http://schemas.microsoft.com/office/drawing/2014/main" id="{6222CFE1-8C66-4157-9416-7D70A2E6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04  行动</a:t>
            </a:r>
          </a:p>
        </p:txBody>
      </p:sp>
      <p:sp>
        <p:nvSpPr>
          <p:cNvPr id="18" name="cycle-body-3">
            <a:extLst xmlns:a="http://schemas.openxmlformats.org/drawingml/2006/main">
              <a:ext uri="{FF2B5EF4-FFF2-40B4-BE49-F238E27FC236}">
                <a16:creationId xmlns:a16="http://schemas.microsoft.com/office/drawing/2014/main" id="{43F10B96-DCCF-43DA-ABEE-7229C958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62450"/>
            <a:ext cx="805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把假设转成选题、推荐、活动或作者支持计划。</a:t>
            </a:r>
          </a:p>
        </p:txBody>
      </p:sp>
      <p:sp>
        <p:nvSpPr>
          <p:cNvPr id="19" name="rule-78-520">
            <a:extLst xmlns:a="http://schemas.openxmlformats.org/drawingml/2006/main">
              <a:ext uri="{FF2B5EF4-FFF2-40B4-BE49-F238E27FC236}">
                <a16:creationId xmlns:a16="http://schemas.microsoft.com/office/drawing/2014/main" id="{05596CA4-00FD-4F57-B0C4-60013D7A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ycle-label-4">
            <a:extLst xmlns:a="http://schemas.openxmlformats.org/drawingml/2006/main">
              <a:ext uri="{FF2B5EF4-FFF2-40B4-BE49-F238E27FC236}">
                <a16:creationId xmlns:a16="http://schemas.microsoft.com/office/drawing/2014/main" id="{1C863FF1-457B-4AE6-A62B-348A52F9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05  复盘</a:t>
            </a:r>
          </a:p>
        </p:txBody>
      </p:sp>
      <p:sp>
        <p:nvSpPr>
          <p:cNvPr id="21" name="cycle-body-4">
            <a:extLst xmlns:a="http://schemas.openxmlformats.org/drawingml/2006/main">
              <a:ext uri="{FF2B5EF4-FFF2-40B4-BE49-F238E27FC236}">
                <a16:creationId xmlns:a16="http://schemas.microsoft.com/office/drawing/2014/main" id="{FA0B843F-9B7A-477D-966B-C6B2D236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43500"/>
            <a:ext cx="8058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记录基线、目标与观察窗口，再讨论变化是否持续。</a:t>
            </a:r>
          </a:p>
        </p:txBody>
      </p:sp>
    </p:spTree>
    <p:extLst>
      <p:ext uri="{BB962C8B-B14F-4D97-AF65-F5344CB8AC3E}">
        <p14:creationId xmlns:p14="http://schemas.microsoft.com/office/powerpoint/2010/main" val="19270799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954091E-60D4-45AC-B56C-A0698BD7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17E35F-0EBA-44CF-BADB-E98AED5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DE5545-7326-4E0A-9247-76453426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总览看板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C796888-2A54-44B7-BCB7-83A025F9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先看全站结果，再决定需要进入哪个分析维度。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8B482C7B-F2B4-4F30-8582-3BFA91EB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B4A0D3B-8A97-433A-837D-551417D2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F215BB2-FDEE-47B2-93E8-70BC773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B95D4A16-76F1-4439-AC9C-871289CA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先核对范围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4CA63FDC-C12D-4B51-9AD5-190354EF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确认日期、对象与筛选条件。</a:t>
            </a:r>
          </a:p>
        </p:txBody>
      </p:sp>
      <p:sp>
        <p:nvSpPr>
          <p:cNvPr id="10" name="rule-898-308">
            <a:extLst xmlns:a="http://schemas.openxmlformats.org/drawingml/2006/main">
              <a:ext uri="{FF2B5EF4-FFF2-40B4-BE49-F238E27FC236}">
                <a16:creationId xmlns:a16="http://schemas.microsoft.com/office/drawing/2014/main" id="{8E150229-279A-4040-B57F-4573B477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337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815DA07D-E520-4DED-86F5-89B62403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观察结果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4973C2F3-7D52-4231-B275-0A520D64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71875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看 PV 规模、趋势和周期变化，定位变化明显的时段。</a:t>
            </a:r>
          </a:p>
        </p:txBody>
      </p:sp>
      <p:sp>
        <p:nvSpPr>
          <p:cNvPr id="13" name="rule-898-462">
            <a:extLst xmlns:a="http://schemas.openxmlformats.org/drawingml/2006/main">
              <a:ext uri="{FF2B5EF4-FFF2-40B4-BE49-F238E27FC236}">
                <a16:creationId xmlns:a16="http://schemas.microsoft.com/office/drawing/2014/main" id="{5354A7E4-05E1-4962-9475-6D40135E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005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E67A0A4E-95F1-4A86-A0F5-88A4C18D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向下查证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D5DEF19C-9B0B-4977-BB1F-8B022917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38725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从总量进入频道、账号、作者与内容，避免只在汇总数上猜原因。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D392B-EE7B-41BD-A40C-DA1D3277F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236384cae4409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093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279F27F-7106-4E0A-B1E0-16126262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C1F888-706E-4C52-8596-FE25DA2D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79CF60-826A-47AD-9B70-CC46666A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访问流向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F88F74-936A-4E20-B6CC-CDA32926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首页先看入口与站内去向的汇总；选中节点后在同一流向图内继续展开。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8BEC4E53-CDBE-4903-874E-F077B085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A212E0E-1D91-4231-A67E-9AC6452F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8039210-8342-438D-9A01-7CF6240F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92F032AC-6101-43AC-A975-7029C970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入口来源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FFED353E-865D-4E14-9C38-0FFA0368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识别主动打开、群转发、应用号、公众号、W3、心声和其他网站等来源。</a:t>
            </a:r>
          </a:p>
        </p:txBody>
      </p:sp>
      <p:sp>
        <p:nvSpPr>
          <p:cNvPr id="10" name="rule-898-358">
            <a:extLst xmlns:a="http://schemas.openxmlformats.org/drawingml/2006/main">
              <a:ext uri="{FF2B5EF4-FFF2-40B4-BE49-F238E27FC236}">
                <a16:creationId xmlns:a16="http://schemas.microsoft.com/office/drawing/2014/main" id="{B1339EA9-80FD-472D-99E0-81A245A4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99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5B275DFB-D83F-49DA-ABDA-DC781579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766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站内行为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CBAC88E8-7578-4F46-BE39-AFE768F7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48125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追踪访问进入后去了哪些频道、页面与互动位置。</a:t>
            </a:r>
          </a:p>
        </p:txBody>
      </p:sp>
      <p:sp>
        <p:nvSpPr>
          <p:cNvPr id="13" name="rule-898-512">
            <a:extLst xmlns:a="http://schemas.openxmlformats.org/drawingml/2006/main">
              <a:ext uri="{FF2B5EF4-FFF2-40B4-BE49-F238E27FC236}">
                <a16:creationId xmlns:a16="http://schemas.microsoft.com/office/drawing/2014/main" id="{8AC40F96-5DA1-442C-986B-C05398E0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768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3585B466-3B77-4561-95BB-27EAAFFF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435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数据边界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5DDC4DDF-E0CA-48A5-B03F-C324669F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14975"/>
            <a:ext cx="2971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当前流向为合成演示；接入真实来源标记、会话和事件顺序后，才能作真实路径判断。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8730D-1BC2-4487-A65A-B082B7F175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54f0b053445e4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458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F836871-2106-45D3-8250-844DE9EA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3B03FF-09F2-4A1C-8FA4-E684C4D9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5DA257-E43B-4FC5-89FB-604EEF28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综合频道与领域频道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2650AD-5F57-442F-A415-0D2D7683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面向同一个 PV 目标，承担不同的运营职责。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AD8025DB-4522-4907-A4E7-A8193328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F3D3C30-005D-402D-92F5-C505F65B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DD21A08-993F-42FC-BFDD-90E9C3C3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8" name="col-title-0">
            <a:extLst xmlns:a="http://schemas.openxmlformats.org/drawingml/2006/main">
              <a:ext uri="{FF2B5EF4-FFF2-40B4-BE49-F238E27FC236}">
                <a16:creationId xmlns:a16="http://schemas.microsoft.com/office/drawing/2014/main" id="{DF5C8CF3-7DE1-4E1E-A9EE-537E7EB6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13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综合频道｜入口分发</a:t>
            </a:r>
          </a:p>
        </p:txBody>
      </p:sp>
      <p:sp>
        <p:nvSpPr>
          <p:cNvPr id="9" name="col-kicker-0">
            <a:extLst xmlns:a="http://schemas.openxmlformats.org/drawingml/2006/main">
              <a:ext uri="{FF2B5EF4-FFF2-40B4-BE49-F238E27FC236}">
                <a16:creationId xmlns:a16="http://schemas.microsoft.com/office/drawing/2014/main" id="{AEECDBC9-53A2-4766-9C04-4A397F60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513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让内容获得展示机会</a:t>
            </a:r>
          </a:p>
        </p:txBody>
      </p:sp>
      <p:sp>
        <p:nvSpPr>
          <p:cNvPr id="10" name="col-body-0">
            <a:extLst xmlns:a="http://schemas.openxmlformats.org/drawingml/2006/main">
              <a:ext uri="{FF2B5EF4-FFF2-40B4-BE49-F238E27FC236}">
                <a16:creationId xmlns:a16="http://schemas.microsoft.com/office/drawing/2014/main" id="{3B4E8A9F-8B1D-49C4-8754-2E38AA71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5133975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关注、推荐、热点、视频、直播等入口。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观察曝光、点击、点击率和触达，并查看点击内容的领域分布。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核心问题：哪些内容获得了展示，哪些被用户选择？</a:t>
            </a:r>
          </a:p>
        </p:txBody>
      </p:sp>
      <p:sp>
        <p:nvSpPr>
          <p:cNvPr id="11" name="col-title-1">
            <a:extLst xmlns:a="http://schemas.openxmlformats.org/drawingml/2006/main">
              <a:ext uri="{FF2B5EF4-FFF2-40B4-BE49-F238E27FC236}">
                <a16:creationId xmlns:a16="http://schemas.microsoft.com/office/drawing/2014/main" id="{BC31E9CC-9F76-4F94-A5DE-80FE4691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95500"/>
            <a:ext cx="5133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领域频道｜内容与来源</a:t>
            </a:r>
          </a:p>
        </p:txBody>
      </p:sp>
      <p:sp>
        <p:nvSpPr>
          <p:cNvPr id="12" name="col-kicker-1">
            <a:extLst xmlns:a="http://schemas.openxmlformats.org/drawingml/2006/main">
              <a:ext uri="{FF2B5EF4-FFF2-40B4-BE49-F238E27FC236}">
                <a16:creationId xmlns:a16="http://schemas.microsoft.com/office/drawing/2014/main" id="{4C77CD21-FBF7-4C38-831D-20CB133B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00325"/>
            <a:ext cx="5133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让专业内容持续供给</a:t>
            </a:r>
          </a:p>
        </p:txBody>
      </p:sp>
      <p:sp>
        <p:nvSpPr>
          <p:cNvPr id="13" name="col-body-1">
            <a:extLst xmlns:a="http://schemas.openxmlformats.org/drawingml/2006/main">
              <a:ext uri="{FF2B5EF4-FFF2-40B4-BE49-F238E27FC236}">
                <a16:creationId xmlns:a16="http://schemas.microsoft.com/office/drawing/2014/main" id="{5C544B3E-A4A8-4498-B089-54A7F929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90850"/>
            <a:ext cx="5133975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观察所属内容在各来源的 PV、互动与供给，也看自主分发、作者、账号和具体内容。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核心问题：领域内容从哪里获得浏览，供给与反馈是否匹配？</a:t>
            </a:r>
          </a:p>
        </p:txBody>
      </p:sp>
      <p:sp>
        <p:nvSpPr>
          <p:cNvPr id="14" name="col-divider-1">
            <a:extLst xmlns:a="http://schemas.openxmlformats.org/drawingml/2006/main">
              <a:ext uri="{FF2B5EF4-FFF2-40B4-BE49-F238E27FC236}">
                <a16:creationId xmlns:a16="http://schemas.microsoft.com/office/drawing/2014/main" id="{5338788A-996D-4CE7-A344-34F54372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70-625">
            <a:extLst xmlns:a="http://schemas.openxmlformats.org/drawingml/2006/main">
              <a:ext uri="{FF2B5EF4-FFF2-40B4-BE49-F238E27FC236}">
                <a16:creationId xmlns:a16="http://schemas.microsoft.com/office/drawing/2014/main" id="{9F7E966F-5332-4165-8271-88EC1927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annel-collaboration">
            <a:extLst xmlns:a="http://schemas.openxmlformats.org/drawingml/2006/main">
              <a:ext uri="{FF2B5EF4-FFF2-40B4-BE49-F238E27FC236}">
                <a16:creationId xmlns:a16="http://schemas.microsoft.com/office/drawing/2014/main" id="{BC8FA2CA-047E-411C-867E-3D7F4F3A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协作关键：入口曝光按展示位置统计；领域内容 PV 按内容归属统计，两者不能当作同一指标。</a:t>
            </a:r>
          </a:p>
        </p:txBody>
      </p:sp>
    </p:spTree>
    <p:extLst>
      <p:ext uri="{BB962C8B-B14F-4D97-AF65-F5344CB8AC3E}">
        <p14:creationId xmlns:p14="http://schemas.microsoft.com/office/powerpoint/2010/main" val="198629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D82AE95-21F8-48ED-AF0E-F8AC8680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35CBB7-4261-491E-9EC8-A657E26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94ABF1-A0CB-4E50-83A2-3E7673EC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频道驾驶舱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63CE79-BAE9-4C38-919D-C569112C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把分发、内容来源与互动放在同一视图，先找到变化再看详情。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D35E3ECA-66FE-4AB2-BEBE-4D2AB071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886FB3A-C0D7-44F4-AC4F-9C4F0FD2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174ADF2-C3D2-4DC6-9890-C0D04DBF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6BCA8092-607A-41DB-8BC2-CF47669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综合入口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CF3E78BB-E561-412D-B630-77AD42E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看曝光和点击绝对量，再结合点击率、触达与领域覆盖。</a:t>
            </a:r>
          </a:p>
        </p:txBody>
      </p:sp>
      <p:sp>
        <p:nvSpPr>
          <p:cNvPr id="10" name="rule-898-334">
            <a:extLst xmlns:a="http://schemas.openxmlformats.org/drawingml/2006/main">
              <a:ext uri="{FF2B5EF4-FFF2-40B4-BE49-F238E27FC236}">
                <a16:creationId xmlns:a16="http://schemas.microsoft.com/office/drawing/2014/main" id="{E4E7A86F-FD32-478B-9608-BD61EA23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813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515DD036-5D54-4D0B-9BAB-AEED3590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480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领域内容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D21F5982-B433-4C25-8D3D-79BA38AE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19525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看 PV、来源、自主分发、互动、内容供给，理解流量结构。</a:t>
            </a:r>
          </a:p>
        </p:txBody>
      </p:sp>
      <p:sp>
        <p:nvSpPr>
          <p:cNvPr id="13" name="rule-898-490">
            <a:extLst xmlns:a="http://schemas.openxmlformats.org/drawingml/2006/main">
              <a:ext uri="{FF2B5EF4-FFF2-40B4-BE49-F238E27FC236}">
                <a16:creationId xmlns:a16="http://schemas.microsoft.com/office/drawing/2014/main" id="{FB20269B-355F-4D92-9849-200A4F6A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C838B179-1C5F-43D1-851D-572D8028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339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深入频道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69CC73FC-EA34-4C0B-9D6E-2AAD03A9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05425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通过账号和内容列表找到主要贡献者，再核实内容和受众反馈。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CFCDC-5169-4603-8F2C-5868AF5CC9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20e4137e64a69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01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61FE599-F439-409A-84B8-CEBD9090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E11772-D6E9-4E10-A7D4-1E730707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FC0E5B-F5B4-4BAC-9281-3CFF61DF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频道竞赛榜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F5F02B-E198-4EF2-823A-F1A18910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同类比较帮助发现差距，适合用来提出问题和交流做法。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D75F8275-B5BE-4D14-AD43-B4CD0145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FBDDBAA-4E5C-4FEF-A77F-1D1DB71E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AE09D59-855D-4EF3-BE9D-595474AD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DD46F426-4093-4E15-B4CE-52B2B9E0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464781FC-02CF-416D-B237-182265CA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比较排名、名次变化及各维度表现，确定值得关注的频道。</a:t>
            </a:r>
          </a:p>
        </p:txBody>
      </p:sp>
      <p:sp>
        <p:nvSpPr>
          <p:cNvPr id="10" name="rule-898-332">
            <a:extLst xmlns:a="http://schemas.openxmlformats.org/drawingml/2006/main">
              <a:ext uri="{FF2B5EF4-FFF2-40B4-BE49-F238E27FC236}">
                <a16:creationId xmlns:a16="http://schemas.microsoft.com/office/drawing/2014/main" id="{711B5897-8EAA-4D14-B2EF-1E965751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623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3930C9FF-2363-40EA-93C8-DC8AD7A7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核实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11C13B16-F325-490B-91F8-596C9FB8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00475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榜内健康分是相对结果；结合实际规模、周期和指标口径判断。</a:t>
            </a:r>
          </a:p>
        </p:txBody>
      </p:sp>
      <p:sp>
        <p:nvSpPr>
          <p:cNvPr id="13" name="rule-898-492">
            <a:extLst xmlns:a="http://schemas.openxmlformats.org/drawingml/2006/main">
              <a:ext uri="{FF2B5EF4-FFF2-40B4-BE49-F238E27FC236}">
                <a16:creationId xmlns:a16="http://schemas.microsoft.com/office/drawing/2014/main" id="{945AAA28-9AD4-4453-86D1-219CB93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863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88B3200A-F6E1-4FBE-AE48-1671B0A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53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讨论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5822741C-7C1D-49F6-B4AA-CF385759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24475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请表现突出的团队分享入口策略、选题节奏和内容经验。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CF529-52B9-4BCA-9A2C-F8FAD442C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dc5bae6e04fb6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342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4BBEDA8-E75E-4AA6-AA84-6FDCBA7B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14F998-BEAF-4BF6-8DFB-9C68F3B0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224C22-0562-4DF2-B03D-E18E4B12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对比分析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EBB5C0-EBD2-47DD-97DE-31167260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选择 2–5 个同类型对象，把差异放在同一张表中。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AB563BE9-7780-4BBB-A1D5-B1603458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8338E3A-730B-457F-93FA-240D2110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C12668E-4F04-4F11-B2B4-180FFFC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0A9B2046-4DAF-4500-94DD-C878897C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先统一范围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2D99D8A9-5770-4B2E-8CCF-30B1D49A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核对对象类型、日期和指标统计口径。</a:t>
            </a:r>
          </a:p>
        </p:txBody>
      </p:sp>
      <p:sp>
        <p:nvSpPr>
          <p:cNvPr id="10" name="rule-898-312">
            <a:extLst xmlns:a="http://schemas.openxmlformats.org/drawingml/2006/main">
              <a:ext uri="{FF2B5EF4-FFF2-40B4-BE49-F238E27FC236}">
                <a16:creationId xmlns:a16="http://schemas.microsoft.com/office/drawing/2014/main" id="{AAAACB53-A33C-4BDA-943A-A53C88B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5A5A9860-AF3B-40DC-A2A8-3AF964CC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再找差异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1C52F3A7-99AF-4CF4-B6FA-7E61F69E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9975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同步看 PV、UV、互动率、来源占比与内容供给。</a:t>
            </a:r>
          </a:p>
        </p:txBody>
      </p:sp>
      <p:sp>
        <p:nvSpPr>
          <p:cNvPr id="13" name="rule-898-458">
            <a:extLst xmlns:a="http://schemas.openxmlformats.org/drawingml/2006/main">
              <a:ext uri="{FF2B5EF4-FFF2-40B4-BE49-F238E27FC236}">
                <a16:creationId xmlns:a16="http://schemas.microsoft.com/office/drawing/2014/main" id="{E7EF5A95-23D4-45B4-B20F-BCB73A36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624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9C6777FA-A61E-43F5-851E-ABCB3C71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291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读懂标记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FA8FA505-AF13-4BC6-8353-8A2CD8FF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00625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绿色表示当前规则下较优；不是绝对评价，也不代表因果。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D2CE8-02BA-49E2-AF9D-FF3A10CE68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52c68210a4004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298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889E33-D9FF-46FB-8131-704B4907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3FE2A8-FA23-4ADD-89A9-0D0A42AA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2DA243-3576-4230-8393-F89ACD64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从频道下钻到内容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0AF6D9-D55A-434D-A21A-F1B681E4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先拆来源，再找贡献对象，最后形成可验证的行动假设。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F1EAD62A-CD55-491A-86EF-503CCA84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93DF038-F796-455A-8A7A-E1093E9F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73A88D-9CB5-4BD4-8C8E-1D0E7B65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8" name="drill-title-0">
            <a:extLst xmlns:a="http://schemas.openxmlformats.org/drawingml/2006/main">
              <a:ext uri="{FF2B5EF4-FFF2-40B4-BE49-F238E27FC236}">
                <a16:creationId xmlns:a16="http://schemas.microsoft.com/office/drawing/2014/main" id="{E475716C-2A67-42EF-86BF-DD5B32A4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频道</a:t>
            </a:r>
          </a:p>
        </p:txBody>
      </p:sp>
      <p:sp>
        <p:nvSpPr>
          <p:cNvPr id="9" name="drill-body-0">
            <a:extLst xmlns:a="http://schemas.openxmlformats.org/drawingml/2006/main">
              <a:ext uri="{FF2B5EF4-FFF2-40B4-BE49-F238E27FC236}">
                <a16:creationId xmlns:a16="http://schemas.microsoft.com/office/drawing/2014/main" id="{BB702936-347E-4FF9-AD72-D1274E7C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PV 变化来自综合入口、自主入口、搜索、分享，还是其他来源？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同时看数量与占比。</a:t>
            </a:r>
          </a:p>
        </p:txBody>
      </p:sp>
      <p:sp>
        <p:nvSpPr>
          <p:cNvPr id="10" name="drill-title-1">
            <a:extLst xmlns:a="http://schemas.openxmlformats.org/drawingml/2006/main">
              <a:ext uri="{FF2B5EF4-FFF2-40B4-BE49-F238E27FC236}">
                <a16:creationId xmlns:a16="http://schemas.microsoft.com/office/drawing/2014/main" id="{F855E457-FADB-4BAD-91A1-510C24A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账号与作者</a:t>
            </a:r>
          </a:p>
        </p:txBody>
      </p:sp>
      <p:sp>
        <p:nvSpPr>
          <p:cNvPr id="11" name="drill-body-1">
            <a:extLst xmlns:a="http://schemas.openxmlformats.org/drawingml/2006/main">
              <a:ext uri="{FF2B5EF4-FFF2-40B4-BE49-F238E27FC236}">
                <a16:creationId xmlns:a16="http://schemas.microsoft.com/office/drawing/2014/main" id="{509500E7-71AB-4194-A10B-3D662B0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哪些账号、作者或单篇内容带来主要变化？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合著内容在作者视角可能重复归属。</a:t>
            </a:r>
          </a:p>
        </p:txBody>
      </p:sp>
      <p:sp>
        <p:nvSpPr>
          <p:cNvPr id="12" name="rule-70-394">
            <a:extLst xmlns:a="http://schemas.openxmlformats.org/drawingml/2006/main">
              <a:ext uri="{FF2B5EF4-FFF2-40B4-BE49-F238E27FC236}">
                <a16:creationId xmlns:a16="http://schemas.microsoft.com/office/drawing/2014/main" id="{4022BC38-71FB-42E2-9B20-1139A838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rill-title-2">
            <a:extLst xmlns:a="http://schemas.openxmlformats.org/drawingml/2006/main">
              <a:ext uri="{FF2B5EF4-FFF2-40B4-BE49-F238E27FC236}">
                <a16:creationId xmlns:a16="http://schemas.microsoft.com/office/drawing/2014/main" id="{E6B2AA99-E67E-4650-8D86-CD1CD8C4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内容</a:t>
            </a:r>
          </a:p>
        </p:txBody>
      </p:sp>
      <p:sp>
        <p:nvSpPr>
          <p:cNvPr id="14" name="drill-body-2">
            <a:extLst xmlns:a="http://schemas.openxmlformats.org/drawingml/2006/main">
              <a:ext uri="{FF2B5EF4-FFF2-40B4-BE49-F238E27FC236}">
                <a16:creationId xmlns:a16="http://schemas.microsoft.com/office/drawing/2014/main" id="{CC5FF7F1-5745-4386-817F-E47C210D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结合文章或视频的曝光、点击、停留与互动，了解用户是否继续消费。</a:t>
            </a:r>
          </a:p>
        </p:txBody>
      </p:sp>
      <p:sp>
        <p:nvSpPr>
          <p:cNvPr id="15" name="drill-title-3">
            <a:extLst xmlns:a="http://schemas.openxmlformats.org/drawingml/2006/main">
              <a:ext uri="{FF2B5EF4-FFF2-40B4-BE49-F238E27FC236}">
                <a16:creationId xmlns:a16="http://schemas.microsoft.com/office/drawing/2014/main" id="{86290C2D-97D5-47AB-A9D3-A0AEF3D9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行动</a:t>
            </a:r>
          </a:p>
        </p:txBody>
      </p:sp>
      <p:sp>
        <p:nvSpPr>
          <p:cNvPr id="16" name="drill-body-3">
            <a:extLst xmlns:a="http://schemas.openxmlformats.org/drawingml/2006/main">
              <a:ext uri="{FF2B5EF4-FFF2-40B4-BE49-F238E27FC236}">
                <a16:creationId xmlns:a16="http://schemas.microsoft.com/office/drawing/2014/main" id="{E0CEEE69-E437-47B2-9DEF-D79E5404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对内容供给、入口呈现和作者支持分别设计动作，并设定复盘窗口。</a:t>
            </a:r>
          </a:p>
        </p:txBody>
      </p:sp>
      <p:sp>
        <p:nvSpPr>
          <p:cNvPr id="17" name="rule-70-594">
            <a:extLst xmlns:a="http://schemas.openxmlformats.org/drawingml/2006/main">
              <a:ext uri="{FF2B5EF4-FFF2-40B4-BE49-F238E27FC236}">
                <a16:creationId xmlns:a16="http://schemas.microsoft.com/office/drawing/2014/main" id="{F68E1835-6605-4C40-AE43-16839A76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00590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340E69F-642B-4317-B86D-7AAE5253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B53B7D-49DB-4CE6-A6EB-A8C2A0C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7BB72A-8978-4CDF-9138-7D9C0912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读者分析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5F4F64-E933-4C2C-B56D-1AABF35F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活跃、留存、激活漏斗和读者分层共同补充 PV。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AB0A5C16-575D-43AC-B727-6B958849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449A7C8-0CDA-405E-A69A-CAD5FD66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B0D2A6E-A4FF-416E-9588-BCAAB77A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9E8A13FD-1286-4884-A26F-0ABE14D2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留存同期群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3508D220-5C50-40C3-8BC7-6C09E47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按加入周或月分组，横向看同批成员后续是否活跃。</a:t>
            </a:r>
          </a:p>
        </p:txBody>
      </p:sp>
      <p:sp>
        <p:nvSpPr>
          <p:cNvPr id="10" name="rule-898-328">
            <a:extLst xmlns:a="http://schemas.openxmlformats.org/drawingml/2006/main">
              <a:ext uri="{FF2B5EF4-FFF2-40B4-BE49-F238E27FC236}">
                <a16:creationId xmlns:a16="http://schemas.microsoft.com/office/drawing/2014/main" id="{8767B57B-6557-4002-B6E8-AEE103FF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242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F4DA2677-9841-4445-9050-C31E2F7D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909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激活漏斗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25256A7F-5501-4C36-8668-6AB3F83B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62375"/>
            <a:ext cx="2971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浏览、互动、发帖及第二周活跃分别以加入人数为分母；步骤是独立统计。</a:t>
            </a:r>
          </a:p>
        </p:txBody>
      </p:sp>
      <p:sp>
        <p:nvSpPr>
          <p:cNvPr id="13" name="rule-898-498">
            <a:extLst xmlns:a="http://schemas.openxmlformats.org/drawingml/2006/main">
              <a:ext uri="{FF2B5EF4-FFF2-40B4-BE49-F238E27FC236}">
                <a16:creationId xmlns:a16="http://schemas.microsoft.com/office/drawing/2014/main" id="{615998E4-E337-4CB5-8C2E-4BF4C692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434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BA10B2F9-68D2-49D1-A7F8-5F5E1894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101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解读边界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2AA93E6A-72DA-4C96-9ABB-4DF6ABE3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81625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检查周期完整性和样本量；小群体的比例容易波动。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F12151-CD6A-49A1-8C90-D4CCB32C96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bc092ff2246e3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634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6E2339F-F176-4771-94D3-8AED48B5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0E9C83F-8D74-4707-83BD-C9D06C9F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75AB4A-0C31-48A6-A586-52EF8B00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创作者分析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3640E5-61D5-4B3C-8863-B2330F8B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从读者到创作者，观察贡献结构、成长速度和集中风险。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02228C21-2EB9-4DDE-B32C-30CCE81F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F32BEB2-DBD0-4D9F-A431-7615D24D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7EA3F69-EA0A-459E-9FCA-85109F57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E584CB3C-B6B6-480A-B12F-27F5DD20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看结构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00979F84-D39E-4315-A533-6744CEC2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识别读者、互动者、创作者和活跃创作者的规模。</a:t>
            </a:r>
          </a:p>
        </p:txBody>
      </p:sp>
      <p:sp>
        <p:nvSpPr>
          <p:cNvPr id="10" name="rule-898-322">
            <a:extLst xmlns:a="http://schemas.openxmlformats.org/drawingml/2006/main">
              <a:ext uri="{FF2B5EF4-FFF2-40B4-BE49-F238E27FC236}">
                <a16:creationId xmlns:a16="http://schemas.microsoft.com/office/drawing/2014/main" id="{86A81A15-1558-4625-A1B4-8E5CF412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196EA946-B7DD-4A1A-A55B-D91AC2B0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看培养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FF455E9A-624B-485A-8961-456126E3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05225"/>
            <a:ext cx="297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结合到达率、耗时和创作者留存，找到从阅读走向创作的机会。</a:t>
            </a:r>
          </a:p>
        </p:txBody>
      </p:sp>
      <p:sp>
        <p:nvSpPr>
          <p:cNvPr id="13" name="rule-898-476">
            <a:extLst xmlns:a="http://schemas.openxmlformats.org/drawingml/2006/main">
              <a:ext uri="{FF2B5EF4-FFF2-40B4-BE49-F238E27FC236}">
                <a16:creationId xmlns:a16="http://schemas.microsoft.com/office/drawing/2014/main" id="{30D94D70-34DD-4C91-984C-6EA298B4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339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F711BF29-CFE7-4745-A9F6-ECBCC4BA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006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看集中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FFD656FA-714E-42AB-ACF4-40C08FDE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72075"/>
            <a:ext cx="2971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头部份额和基尼系数提示内容供给是否依赖少数作者；需要结合具体内容判断。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55E8E-8AD3-4076-9507-70BCCD96BB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973a3f0ce40c4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227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D8118BA-5304-4D54-B1B4-85FBA0AF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060128-05E4-44AA-8F32-606E2C46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AA73D2-96D9-4894-96A5-B15D5567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用户分析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FC846E-1620-4B52-96D7-EC89A2FB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把生命周期、价值层次和兴趣线索放在一起理解。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98F944D6-B4E9-4830-BE68-264AC405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14E7188-BBD2-48DD-8167-29E8E762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B0B93C3-B13F-41CC-8C1A-8488040B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3A8A1713-8ABA-4699-9F53-DC86CD97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生命周期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F43445F9-41A4-48FC-9CE1-160B1166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观察新成员、活跃、回流、沉默等状态及其变化。</a:t>
            </a:r>
          </a:p>
        </p:txBody>
      </p:sp>
      <p:sp>
        <p:nvSpPr>
          <p:cNvPr id="10" name="rule-898-322">
            <a:extLst xmlns:a="http://schemas.openxmlformats.org/drawingml/2006/main">
              <a:ext uri="{FF2B5EF4-FFF2-40B4-BE49-F238E27FC236}">
                <a16:creationId xmlns:a16="http://schemas.microsoft.com/office/drawing/2014/main" id="{41EBC825-BAD0-4C23-BF02-20F8EA61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5EF08958-6D0E-464E-BFA9-D8321742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337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流转矩阵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503F947A-D6B2-4B33-BE44-08374008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05225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行是 30 天前的阶段，列是现在；单元格比例以该行人数为分母。</a:t>
            </a:r>
          </a:p>
        </p:txBody>
      </p:sp>
      <p:sp>
        <p:nvSpPr>
          <p:cNvPr id="13" name="rule-898-482">
            <a:extLst xmlns:a="http://schemas.openxmlformats.org/drawingml/2006/main">
              <a:ext uri="{FF2B5EF4-FFF2-40B4-BE49-F238E27FC236}">
                <a16:creationId xmlns:a16="http://schemas.microsoft.com/office/drawing/2014/main" id="{7B06CFD0-D4FF-49CA-BE40-F6FEC1D5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910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699C9546-D52E-44F0-8072-338372A9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577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读转移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835607D7-3B9D-441C-8692-15B561C6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29225"/>
            <a:ext cx="2971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重点关注沉默→活跃/回流（唤回）和活跃→沉默（流失风险），再结合成员行为核实。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5931B-083A-4A75-A6C5-5ED52FB9F9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359ea7fae42ba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20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085B61F-90B2-4FCB-82BF-03E5C213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RFM 专题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ACE58A-0376-42A2-8921-D8BF0E19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B77B70-4771-414A-8787-AC3B135E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RFM：按行为差异安排运营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102224-510B-46AE-A7E0-76804800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用户分析和 KOL 管理都使用 RFM，但统计对象与 F、M 口径不同。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1538335F-6F8E-40A9-A463-0E21F4E0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B0B9182-0038-4738-B1D3-61CBE6F0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D52ED5E-C849-4817-829E-2DFAC17D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8" name="rfm-letter-0">
            <a:extLst xmlns:a="http://schemas.openxmlformats.org/drawingml/2006/main">
              <a:ext uri="{FF2B5EF4-FFF2-40B4-BE49-F238E27FC236}">
                <a16:creationId xmlns:a16="http://schemas.microsoft.com/office/drawing/2014/main" id="{8E90C458-2504-4AB2-AFDA-FF6A6A2B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R｜最近</a:t>
            </a:r>
          </a:p>
        </p:txBody>
      </p:sp>
      <p:sp>
        <p:nvSpPr>
          <p:cNvPr id="9" name="rule-82-296">
            <a:extLst xmlns:a="http://schemas.openxmlformats.org/drawingml/2006/main">
              <a:ext uri="{FF2B5EF4-FFF2-40B4-BE49-F238E27FC236}">
                <a16:creationId xmlns:a16="http://schemas.microsoft.com/office/drawing/2014/main" id="{B4D3547C-B44B-4ABD-BD78-A2B4FC6F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fm-question-0">
            <a:extLst xmlns:a="http://schemas.openxmlformats.org/drawingml/2006/main">
              <a:ext uri="{FF2B5EF4-FFF2-40B4-BE49-F238E27FC236}">
                <a16:creationId xmlns:a16="http://schemas.microsoft.com/office/drawing/2014/main" id="{B4F75FC5-BE89-43EB-9918-EE3C5D14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最近一次行为距统计日多近？</a:t>
            </a:r>
          </a:p>
        </p:txBody>
      </p:sp>
      <p:sp>
        <p:nvSpPr>
          <p:cNvPr id="11" name="rfm-hint-0">
            <a:extLst xmlns:a="http://schemas.openxmlformats.org/drawingml/2006/main">
              <a:ext uri="{FF2B5EF4-FFF2-40B4-BE49-F238E27FC236}">
                <a16:creationId xmlns:a16="http://schemas.microsoft.com/office/drawing/2014/main" id="{38F4F5AD-BE5F-41A6-8D30-ED062EC9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越近，R 通常越高</a:t>
            </a:r>
          </a:p>
        </p:txBody>
      </p:sp>
      <p:sp>
        <p:nvSpPr>
          <p:cNvPr id="12" name="rfm-letter-1">
            <a:extLst xmlns:a="http://schemas.openxmlformats.org/drawingml/2006/main">
              <a:ext uri="{FF2B5EF4-FFF2-40B4-BE49-F238E27FC236}">
                <a16:creationId xmlns:a16="http://schemas.microsoft.com/office/drawing/2014/main" id="{D0955333-99C9-4143-86B0-A47E0163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F｜频次</a:t>
            </a:r>
          </a:p>
        </p:txBody>
      </p:sp>
      <p:sp>
        <p:nvSpPr>
          <p:cNvPr id="13" name="rule-468-296">
            <a:extLst xmlns:a="http://schemas.openxmlformats.org/drawingml/2006/main">
              <a:ext uri="{FF2B5EF4-FFF2-40B4-BE49-F238E27FC236}">
                <a16:creationId xmlns:a16="http://schemas.microsoft.com/office/drawing/2014/main" id="{3C5613A6-642B-46F0-B03C-A73958D1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194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fm-question-1">
            <a:extLst xmlns:a="http://schemas.openxmlformats.org/drawingml/2006/main">
              <a:ext uri="{FF2B5EF4-FFF2-40B4-BE49-F238E27FC236}">
                <a16:creationId xmlns:a16="http://schemas.microsoft.com/office/drawing/2014/main" id="{F6BB8E17-7C52-4E5F-AF4E-C0C451F6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统一时间窗内发生了多少次？</a:t>
            </a:r>
          </a:p>
        </p:txBody>
      </p:sp>
      <p:sp>
        <p:nvSpPr>
          <p:cNvPr id="15" name="rfm-hint-1">
            <a:extLst xmlns:a="http://schemas.openxmlformats.org/drawingml/2006/main">
              <a:ext uri="{FF2B5EF4-FFF2-40B4-BE49-F238E27FC236}">
                <a16:creationId xmlns:a16="http://schemas.microsoft.com/office/drawing/2014/main" id="{9887F323-4228-4DF4-9FBD-E19A8E4A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671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区分偶尔参与与持续参与</a:t>
            </a:r>
          </a:p>
        </p:txBody>
      </p:sp>
      <p:sp>
        <p:nvSpPr>
          <p:cNvPr id="16" name="rfm-letter-2">
            <a:extLst xmlns:a="http://schemas.openxmlformats.org/drawingml/2006/main">
              <a:ext uri="{FF2B5EF4-FFF2-40B4-BE49-F238E27FC236}">
                <a16:creationId xmlns:a16="http://schemas.microsoft.com/office/drawing/2014/main" id="{E98AC0BB-69AE-49E6-B37C-0C2BEDB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3837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M｜贡献</a:t>
            </a:r>
          </a:p>
        </p:txBody>
      </p:sp>
      <p:sp>
        <p:nvSpPr>
          <p:cNvPr id="17" name="rule-854-296">
            <a:extLst xmlns:a="http://schemas.openxmlformats.org/drawingml/2006/main">
              <a:ext uri="{FF2B5EF4-FFF2-40B4-BE49-F238E27FC236}">
                <a16:creationId xmlns:a16="http://schemas.microsoft.com/office/drawing/2014/main" id="{D8C2BEE4-1324-42A8-B674-5661AA62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194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fm-question-2">
            <a:extLst xmlns:a="http://schemas.openxmlformats.org/drawingml/2006/main">
              <a:ext uri="{FF2B5EF4-FFF2-40B4-BE49-F238E27FC236}">
                <a16:creationId xmlns:a16="http://schemas.microsoft.com/office/drawing/2014/main" id="{C560A5E1-9E7F-470E-8543-FFA01549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时间窗内累计贡献多少？</a:t>
            </a:r>
          </a:p>
        </p:txBody>
      </p:sp>
      <p:sp>
        <p:nvSpPr>
          <p:cNvPr id="19" name="rfm-hint-2">
            <a:extLst xmlns:a="http://schemas.openxmlformats.org/drawingml/2006/main">
              <a:ext uri="{FF2B5EF4-FFF2-40B4-BE49-F238E27FC236}">
                <a16:creationId xmlns:a16="http://schemas.microsoft.com/office/drawing/2014/main" id="{4B0C766F-A9DF-43A0-BDDD-ADEBA09E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6717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可用金额、积分或加权参与分</a:t>
            </a:r>
          </a:p>
        </p:txBody>
      </p:sp>
      <p:sp>
        <p:nvSpPr>
          <p:cNvPr id="20" name="rule-82-550">
            <a:extLst xmlns:a="http://schemas.openxmlformats.org/drawingml/2006/main">
              <a:ext uri="{FF2B5EF4-FFF2-40B4-BE49-F238E27FC236}">
                <a16:creationId xmlns:a16="http://schemas.microsoft.com/office/drawing/2014/main" id="{96CAD3DF-0F61-4C2D-A025-4AD3A621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fm-warning">
            <a:extLst xmlns:a="http://schemas.openxmlformats.org/drawingml/2006/main">
              <a:ext uri="{FF2B5EF4-FFF2-40B4-BE49-F238E27FC236}">
                <a16:creationId xmlns:a16="http://schemas.microsoft.com/office/drawing/2014/main" id="{021354A7-35EE-4291-AE73-A479C448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62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相对分层是分析工具，不是对人的价值判断；低分或预警只是信号，不是原因。</a:t>
            </a:r>
          </a:p>
        </p:txBody>
      </p:sp>
    </p:spTree>
    <p:extLst>
      <p:ext uri="{BB962C8B-B14F-4D97-AF65-F5344CB8AC3E}">
        <p14:creationId xmlns:p14="http://schemas.microsoft.com/office/powerpoint/2010/main" val="4547060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D90D008-CB65-49C2-ABF2-669B0E25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RFM 专题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0DC303-22A6-46F6-8C09-CDDB9B4B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A5DE2D-3026-4E59-9DF0-AE6EBB7A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RFM 的行业常见做法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732406-E12E-4CE1-A0C8-238287DA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把历史行为转成可解释的人群，再为不同人群安排不同动作。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3DF3BE2F-5CAB-4978-AD8B-1F22999E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5C0CA6C-0DF9-47A5-A0D0-056BE608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A04F959-D0C5-4820-9E14-73F6C2A0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8" name="industry-rfm-num-0">
            <a:extLst xmlns:a="http://schemas.openxmlformats.org/drawingml/2006/main">
              <a:ext uri="{FF2B5EF4-FFF2-40B4-BE49-F238E27FC236}">
                <a16:creationId xmlns:a16="http://schemas.microsoft.com/office/drawing/2014/main" id="{5BE83B84-6B6B-4BED-9726-1D382207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industry-rfm-title-0">
            <a:extLst xmlns:a="http://schemas.openxmlformats.org/drawingml/2006/main">
              <a:ext uri="{FF2B5EF4-FFF2-40B4-BE49-F238E27FC236}">
                <a16:creationId xmlns:a16="http://schemas.microsoft.com/office/drawing/2014/main" id="{7AE5CE6F-A206-4C91-9686-B0107E9D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定范围</a:t>
            </a:r>
          </a:p>
        </p:txBody>
      </p:sp>
      <p:sp>
        <p:nvSpPr>
          <p:cNvPr id="10" name="industry-rfm-body-0">
            <a:extLst xmlns:a="http://schemas.openxmlformats.org/drawingml/2006/main">
              <a:ext uri="{FF2B5EF4-FFF2-40B4-BE49-F238E27FC236}">
                <a16:creationId xmlns:a16="http://schemas.microsoft.com/office/drawing/2014/main" id="{7404CE97-44A4-4809-B75B-6647A400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对象、统计日、行为类型和时间窗</a:t>
            </a:r>
          </a:p>
        </p:txBody>
      </p:sp>
      <p:sp>
        <p:nvSpPr>
          <p:cNvPr id="11" name="rule-322-292">
            <a:extLst xmlns:a="http://schemas.openxmlformats.org/drawingml/2006/main">
              <a:ext uri="{FF2B5EF4-FFF2-40B4-BE49-F238E27FC236}">
                <a16:creationId xmlns:a16="http://schemas.microsoft.com/office/drawing/2014/main" id="{71F043A9-470A-4D95-883F-CBE3B966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dustry-rfm-num-1">
            <a:extLst xmlns:a="http://schemas.openxmlformats.org/drawingml/2006/main">
              <a:ext uri="{FF2B5EF4-FFF2-40B4-BE49-F238E27FC236}">
                <a16:creationId xmlns:a16="http://schemas.microsoft.com/office/drawing/2014/main" id="{EDAAF8F5-E836-487C-97D8-22A5AF18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industry-rfm-title-1">
            <a:extLst xmlns:a="http://schemas.openxmlformats.org/drawingml/2006/main">
              <a:ext uri="{FF2B5EF4-FFF2-40B4-BE49-F238E27FC236}">
                <a16:creationId xmlns:a16="http://schemas.microsoft.com/office/drawing/2014/main" id="{EF4E4F1E-6FB9-4F58-9128-F201A356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算三维</a:t>
            </a:r>
          </a:p>
        </p:txBody>
      </p:sp>
      <p:sp>
        <p:nvSpPr>
          <p:cNvPr id="14" name="industry-rfm-body-1">
            <a:extLst xmlns:a="http://schemas.openxmlformats.org/drawingml/2006/main">
              <a:ext uri="{FF2B5EF4-FFF2-40B4-BE49-F238E27FC236}">
                <a16:creationId xmlns:a16="http://schemas.microsoft.com/office/drawing/2014/main" id="{F76E5E0E-0D75-4F60-889E-07EBA91D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最近时间、频次和贡献</a:t>
            </a:r>
          </a:p>
        </p:txBody>
      </p:sp>
      <p:sp>
        <p:nvSpPr>
          <p:cNvPr id="15" name="rule-616-292">
            <a:extLst xmlns:a="http://schemas.openxmlformats.org/drawingml/2006/main">
              <a:ext uri="{FF2B5EF4-FFF2-40B4-BE49-F238E27FC236}">
                <a16:creationId xmlns:a16="http://schemas.microsoft.com/office/drawing/2014/main" id="{8FA7F0E9-2AC8-4A8C-8AA2-49D04913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ndustry-rfm-num-2">
            <a:extLst xmlns:a="http://schemas.openxmlformats.org/drawingml/2006/main">
              <a:ext uri="{FF2B5EF4-FFF2-40B4-BE49-F238E27FC236}">
                <a16:creationId xmlns:a16="http://schemas.microsoft.com/office/drawing/2014/main" id="{D5698041-BA15-4622-B857-AADDFB6E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industry-rfm-title-2">
            <a:extLst xmlns:a="http://schemas.openxmlformats.org/drawingml/2006/main">
              <a:ext uri="{FF2B5EF4-FFF2-40B4-BE49-F238E27FC236}">
                <a16:creationId xmlns:a16="http://schemas.microsoft.com/office/drawing/2014/main" id="{244AFAAD-8259-4DEE-BC50-75863983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给分组</a:t>
            </a:r>
          </a:p>
        </p:txBody>
      </p:sp>
      <p:sp>
        <p:nvSpPr>
          <p:cNvPr id="18" name="industry-rfm-body-2">
            <a:extLst xmlns:a="http://schemas.openxmlformats.org/drawingml/2006/main">
              <a:ext uri="{FF2B5EF4-FFF2-40B4-BE49-F238E27FC236}">
                <a16:creationId xmlns:a16="http://schemas.microsoft.com/office/drawing/2014/main" id="{DAF9802C-8A97-4106-A0E7-87167608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按人群分布或业务阈值组合</a:t>
            </a:r>
          </a:p>
        </p:txBody>
      </p:sp>
      <p:sp>
        <p:nvSpPr>
          <p:cNvPr id="19" name="rule-910-292">
            <a:extLst xmlns:a="http://schemas.openxmlformats.org/drawingml/2006/main">
              <a:ext uri="{FF2B5EF4-FFF2-40B4-BE49-F238E27FC236}">
                <a16:creationId xmlns:a16="http://schemas.microsoft.com/office/drawing/2014/main" id="{D847D637-7C34-4D2D-BC40-C3D54A1F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95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ndustry-rfm-num-3">
            <a:extLst xmlns:a="http://schemas.openxmlformats.org/drawingml/2006/main">
              <a:ext uri="{FF2B5EF4-FFF2-40B4-BE49-F238E27FC236}">
                <a16:creationId xmlns:a16="http://schemas.microsoft.com/office/drawing/2014/main" id="{C102AF74-DCA0-452C-8B6D-555CB8D5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86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industry-rfm-title-3">
            <a:extLst xmlns:a="http://schemas.openxmlformats.org/drawingml/2006/main">
              <a:ext uri="{FF2B5EF4-FFF2-40B4-BE49-F238E27FC236}">
                <a16:creationId xmlns:a16="http://schemas.microsoft.com/office/drawing/2014/main" id="{E1E6347D-0759-4B72-8B6D-625F8552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05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做验证</a:t>
            </a:r>
          </a:p>
        </p:txBody>
      </p:sp>
      <p:sp>
        <p:nvSpPr>
          <p:cNvPr id="22" name="industry-rfm-body-3">
            <a:extLst xmlns:a="http://schemas.openxmlformats.org/drawingml/2006/main">
              <a:ext uri="{FF2B5EF4-FFF2-40B4-BE49-F238E27FC236}">
                <a16:creationId xmlns:a16="http://schemas.microsoft.com/office/drawing/2014/main" id="{568F51EF-CF04-4B61-BE26-500E7243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76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观察不同动作后的行为变化</a:t>
            </a:r>
          </a:p>
        </p:txBody>
      </p:sp>
      <p:sp>
        <p:nvSpPr>
          <p:cNvPr id="23" name="industry-rfm-variation">
            <a:extLst xmlns:a="http://schemas.openxmlformats.org/drawingml/2006/main">
              <a:ext uri="{FF2B5EF4-FFF2-40B4-BE49-F238E27FC236}">
                <a16:creationId xmlns:a16="http://schemas.microsoft.com/office/drawing/2014/main" id="{33887858-86D9-4741-ACD2-F6B7D0A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常见扩展：加 T（购买周期）、C（品类），或把 M 换成毛利等目标变量。名称和阈值应按业务定义。</a:t>
            </a:r>
          </a:p>
        </p:txBody>
      </p:sp>
    </p:spTree>
    <p:extLst>
      <p:ext uri="{BB962C8B-B14F-4D97-AF65-F5344CB8AC3E}">
        <p14:creationId xmlns:p14="http://schemas.microsoft.com/office/powerpoint/2010/main" val="8171888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1DB41C8-EC6F-4588-9E10-4568CAE2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RFM 专题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B912A4-E6CB-4F62-AD2C-FEC7F32E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B05DEB-9606-4ACA-9102-83ACA949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零售案例｜礼品篮品牌的季节性触达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4D8511-EA58-427F-964E-150C4B01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GourmetGiftBaskets.com 根据购买节奏调整客户触达。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1CBB6FDE-EBE4-4F06-99AF-2282FF92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6425DD9-B1E0-44F2-AFDA-48DE9D29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A07E3A3-55AD-43BB-8533-0665F340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8" name="retail-problem-label">
            <a:extLst xmlns:a="http://schemas.openxmlformats.org/drawingml/2006/main">
              <a:ext uri="{FF2B5EF4-FFF2-40B4-BE49-F238E27FC236}">
                <a16:creationId xmlns:a16="http://schemas.microsoft.com/office/drawing/2014/main" id="{EAEBE5A9-C12E-4363-9C11-DD432555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业务问题</a:t>
            </a:r>
          </a:p>
        </p:txBody>
      </p:sp>
      <p:sp>
        <p:nvSpPr>
          <p:cNvPr id="9" name="retail-problem">
            <a:extLst xmlns:a="http://schemas.openxmlformats.org/drawingml/2006/main">
              <a:ext uri="{FF2B5EF4-FFF2-40B4-BE49-F238E27FC236}">
                <a16:creationId xmlns:a16="http://schemas.microsoft.com/office/drawing/2014/main" id="{EDBCB04A-99C5-4E57-AB36-1300197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礼品篮销售集中于节日。团队希望避免平时向所有客户反复发短信，改为识别近期有复购机会的人群。</a:t>
            </a:r>
          </a:p>
        </p:txBody>
      </p:sp>
      <p:sp>
        <p:nvSpPr>
          <p:cNvPr id="10" name="rule-78-356">
            <a:extLst xmlns:a="http://schemas.openxmlformats.org/drawingml/2006/main">
              <a:ext uri="{FF2B5EF4-FFF2-40B4-BE49-F238E27FC236}">
                <a16:creationId xmlns:a16="http://schemas.microsoft.com/office/drawing/2014/main" id="{E5E94DCF-E382-4304-B10B-C49D6920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label-邮件收入/收件人 环比">
            <a:extLst xmlns:a="http://schemas.openxmlformats.org/drawingml/2006/main">
              <a:ext uri="{FF2B5EF4-FFF2-40B4-BE49-F238E27FC236}">
                <a16:creationId xmlns:a16="http://schemas.microsoft.com/office/drawing/2014/main" id="{BDCA5900-C66A-4483-8D00-55A69007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邮件收入/收件人 环比</a:t>
            </a:r>
          </a:p>
        </p:txBody>
      </p:sp>
      <p:sp>
        <p:nvSpPr>
          <p:cNvPr id="12" name="metric-value-邮件收入/收件人 环比">
            <a:extLst xmlns:a="http://schemas.openxmlformats.org/drawingml/2006/main">
              <a:ext uri="{FF2B5EF4-FFF2-40B4-BE49-F238E27FC236}">
                <a16:creationId xmlns:a16="http://schemas.microsoft.com/office/drawing/2014/main" id="{9096A291-5775-4515-AEC5-4C1A55B0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+42%</a:t>
            </a:r>
          </a:p>
        </p:txBody>
      </p:sp>
      <p:sp>
        <p:nvSpPr>
          <p:cNvPr id="13" name="metric-label-短信收入/收件人 环比">
            <a:extLst xmlns:a="http://schemas.openxmlformats.org/drawingml/2006/main">
              <a:ext uri="{FF2B5EF4-FFF2-40B4-BE49-F238E27FC236}">
                <a16:creationId xmlns:a16="http://schemas.microsoft.com/office/drawing/2014/main" id="{351004FB-DCD4-4187-85AF-83EE06BE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短信收入/收件人 环比</a:t>
            </a:r>
          </a:p>
        </p:txBody>
      </p:sp>
      <p:sp>
        <p:nvSpPr>
          <p:cNvPr id="14" name="metric-value-短信收入/收件人 环比">
            <a:extLst xmlns:a="http://schemas.openxmlformats.org/drawingml/2006/main">
              <a:ext uri="{FF2B5EF4-FFF2-40B4-BE49-F238E27FC236}">
                <a16:creationId xmlns:a16="http://schemas.microsoft.com/office/drawing/2014/main" id="{E9915AEB-A59E-49A6-84C0-D8653BB0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719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253249"/>
                </a:solidFill>
                <a:latin typeface="PingFang SC"/>
                <a:ea typeface="PingFang SC"/>
                <a:cs typeface="PingFang SC"/>
              </a:rPr>
              <a:t>+88%</a:t>
            </a:r>
          </a:p>
        </p:txBody>
      </p:sp>
      <p:sp>
        <p:nvSpPr>
          <p:cNvPr id="15" name="retail-cadence">
            <a:extLst xmlns:a="http://schemas.openxmlformats.org/drawingml/2006/main">
              <a:ext uri="{FF2B5EF4-FFF2-40B4-BE49-F238E27FC236}">
                <a16:creationId xmlns:a16="http://schemas.microsoft.com/office/drawing/2014/main" id="{0BE99A81-8FBD-404D-9E30-686BF115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案例观察：约 90 天内仍有再次购买机会；此后常需等到圣诞节或首次购买周年。非第四季度优先触达 Champion、Recent，减少对 Loyal、Inactive 的短信。</a:t>
            </a:r>
          </a:p>
        </p:txBody>
      </p:sp>
      <p:sp>
        <p:nvSpPr>
          <p:cNvPr id="16" name="retail-caveat">
            <a:extLst xmlns:a="http://schemas.openxmlformats.org/drawingml/2006/main">
              <a:ext uri="{FF2B5EF4-FFF2-40B4-BE49-F238E27FC236}">
                <a16:creationId xmlns:a16="http://schemas.microsoft.com/office/drawing/2014/main" id="{96B6EC77-8756-4BC1-9B8D-827C4276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边界：这是供应商披露的同期活动表现；同时优化了短信订阅与欢迎优惠，不能把全部增长归因于 RFM。</a:t>
            </a:r>
          </a:p>
        </p:txBody>
      </p:sp>
    </p:spTree>
    <p:extLst>
      <p:ext uri="{BB962C8B-B14F-4D97-AF65-F5344CB8AC3E}">
        <p14:creationId xmlns:p14="http://schemas.microsoft.com/office/powerpoint/2010/main" val="4173517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1BFC758-7648-45AF-A191-9617F44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RFM 专题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2A0775-FB0D-4334-94EA-F1B9903F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BC3090-5257-4795-BED1-1BAB6C37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RFM 如何计算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DD8A8D8-E8ED-423C-92BC-9E688FAD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先计算每个原始指标，再分别排名，最后按业务规则解释组合。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673D90E1-BFA5-4DAD-AB0E-1F0FDC6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0026EBB-BD1B-4877-B741-C198378B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0E63D3A-07BC-474D-BA1E-7B38506B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8" name="calc-name-0">
            <a:extLst xmlns:a="http://schemas.openxmlformats.org/drawingml/2006/main">
              <a:ext uri="{FF2B5EF4-FFF2-40B4-BE49-F238E27FC236}">
                <a16:creationId xmlns:a16="http://schemas.microsoft.com/office/drawing/2014/main" id="{1D7AE9DC-4D61-4EDF-BD8C-0AE3041E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R｜最近</a:t>
            </a:r>
          </a:p>
        </p:txBody>
      </p:sp>
      <p:sp>
        <p:nvSpPr>
          <p:cNvPr id="9" name="calc-formula-0">
            <a:extLst xmlns:a="http://schemas.openxmlformats.org/drawingml/2006/main">
              <a:ext uri="{FF2B5EF4-FFF2-40B4-BE49-F238E27FC236}">
                <a16:creationId xmlns:a16="http://schemas.microsoft.com/office/drawing/2014/main" id="{3FDE99F4-8D26-4064-92CB-7E1C6AEF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统计日 − 最近一次有效行为日期</a:t>
            </a:r>
          </a:p>
        </p:txBody>
      </p:sp>
      <p:sp>
        <p:nvSpPr>
          <p:cNvPr id="10" name="calc-direction-0">
            <a:extLst xmlns:a="http://schemas.openxmlformats.org/drawingml/2006/main">
              <a:ext uri="{FF2B5EF4-FFF2-40B4-BE49-F238E27FC236}">
                <a16:creationId xmlns:a16="http://schemas.microsoft.com/office/drawing/2014/main" id="{CDFCE1D1-A41E-4653-8D3B-A03AC565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天数越小，R 分越高</a:t>
            </a:r>
          </a:p>
        </p:txBody>
      </p:sp>
      <p:sp>
        <p:nvSpPr>
          <p:cNvPr id="11" name="rule-82-294">
            <a:extLst xmlns:a="http://schemas.openxmlformats.org/drawingml/2006/main">
              <a:ext uri="{FF2B5EF4-FFF2-40B4-BE49-F238E27FC236}">
                <a16:creationId xmlns:a16="http://schemas.microsoft.com/office/drawing/2014/main" id="{2C40FADD-4EB3-4309-AB12-71C4DFF9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c-name-1">
            <a:extLst xmlns:a="http://schemas.openxmlformats.org/drawingml/2006/main">
              <a:ext uri="{FF2B5EF4-FFF2-40B4-BE49-F238E27FC236}">
                <a16:creationId xmlns:a16="http://schemas.microsoft.com/office/drawing/2014/main" id="{CC5209C8-4EB8-4080-AE68-94A3E4C7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F｜频次</a:t>
            </a:r>
          </a:p>
        </p:txBody>
      </p:sp>
      <p:sp>
        <p:nvSpPr>
          <p:cNvPr id="13" name="calc-formula-1">
            <a:extLst xmlns:a="http://schemas.openxmlformats.org/drawingml/2006/main">
              <a:ext uri="{FF2B5EF4-FFF2-40B4-BE49-F238E27FC236}">
                <a16:creationId xmlns:a16="http://schemas.microsoft.com/office/drawing/2014/main" id="{194A460F-FC65-4061-8450-F3E1FD14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统计窗内的有效行为次数或活跃天数</a:t>
            </a:r>
          </a:p>
        </p:txBody>
      </p:sp>
      <p:sp>
        <p:nvSpPr>
          <p:cNvPr id="14" name="calc-direction-1">
            <a:extLst xmlns:a="http://schemas.openxmlformats.org/drawingml/2006/main">
              <a:ext uri="{FF2B5EF4-FFF2-40B4-BE49-F238E27FC236}">
                <a16:creationId xmlns:a16="http://schemas.microsoft.com/office/drawing/2014/main" id="{294B0A00-2D53-4CF1-AD1A-49484604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62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原始值越大，F 分越高</a:t>
            </a:r>
          </a:p>
        </p:txBody>
      </p:sp>
      <p:sp>
        <p:nvSpPr>
          <p:cNvPr id="15" name="rule-82-406">
            <a:extLst xmlns:a="http://schemas.openxmlformats.org/drawingml/2006/main">
              <a:ext uri="{FF2B5EF4-FFF2-40B4-BE49-F238E27FC236}">
                <a16:creationId xmlns:a16="http://schemas.microsoft.com/office/drawing/2014/main" id="{EC4AD0D8-670E-4149-8A33-B8F1ABB0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lc-name-2">
            <a:extLst xmlns:a="http://schemas.openxmlformats.org/drawingml/2006/main">
              <a:ext uri="{FF2B5EF4-FFF2-40B4-BE49-F238E27FC236}">
                <a16:creationId xmlns:a16="http://schemas.microsoft.com/office/drawing/2014/main" id="{73F392FD-8B91-469E-BA7F-1207A2CA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M｜贡献</a:t>
            </a:r>
          </a:p>
        </p:txBody>
      </p:sp>
      <p:sp>
        <p:nvSpPr>
          <p:cNvPr id="17" name="calc-formula-2">
            <a:extLst xmlns:a="http://schemas.openxmlformats.org/drawingml/2006/main">
              <a:ext uri="{FF2B5EF4-FFF2-40B4-BE49-F238E27FC236}">
                <a16:creationId xmlns:a16="http://schemas.microsoft.com/office/drawing/2014/main" id="{2880FE38-E6A9-49FB-BC3F-3E71EB8D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统计窗内的金额、积分或加权参与分</a:t>
            </a:r>
          </a:p>
        </p:txBody>
      </p:sp>
      <p:sp>
        <p:nvSpPr>
          <p:cNvPr id="18" name="calc-direction-2">
            <a:extLst xmlns:a="http://schemas.openxmlformats.org/drawingml/2006/main">
              <a:ext uri="{FF2B5EF4-FFF2-40B4-BE49-F238E27FC236}">
                <a16:creationId xmlns:a16="http://schemas.microsoft.com/office/drawing/2014/main" id="{72A086E3-724A-4C73-8598-7D8E38DA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原始值越大，M 分越高</a:t>
            </a:r>
          </a:p>
        </p:txBody>
      </p:sp>
      <p:sp>
        <p:nvSpPr>
          <p:cNvPr id="19" name="rule-82-518">
            <a:extLst xmlns:a="http://schemas.openxmlformats.org/drawingml/2006/main">
              <a:ext uri="{FF2B5EF4-FFF2-40B4-BE49-F238E27FC236}">
                <a16:creationId xmlns:a16="http://schemas.microsoft.com/office/drawing/2014/main" id="{FBEE02EE-FCFB-41C1-A9EF-FC9F383C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ore-explanation">
            <a:extLst xmlns:a="http://schemas.openxmlformats.org/drawingml/2006/main">
              <a:ext uri="{FF2B5EF4-FFF2-40B4-BE49-F238E27FC236}">
                <a16:creationId xmlns:a16="http://schemas.microsoft.com/office/drawing/2014/main" id="{86DB28C6-570D-49DE-A043-FB029FE8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45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项目将 R、F、M 映射为 1–5 分，代表指定人群内的相对位置。大量并列值时，各档人数不保证正好相等。</a:t>
            </a:r>
          </a:p>
        </p:txBody>
      </p:sp>
      <p:sp>
        <p:nvSpPr>
          <p:cNvPr id="21" name="score-example">
            <a:extLst xmlns:a="http://schemas.openxmlformats.org/drawingml/2006/main">
              <a:ext uri="{FF2B5EF4-FFF2-40B4-BE49-F238E27FC236}">
                <a16:creationId xmlns:a16="http://schemas.microsoft.com/office/drawing/2014/main" id="{CDE71A4E-1AC6-4A6F-8B6C-D90125DB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45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例：R/F/M = 2/3/5 是三个独立维度，不能把“235”当成单一分数；需再查原始行为。</a:t>
            </a:r>
          </a:p>
        </p:txBody>
      </p:sp>
    </p:spTree>
    <p:extLst>
      <p:ext uri="{BB962C8B-B14F-4D97-AF65-F5344CB8AC3E}">
        <p14:creationId xmlns:p14="http://schemas.microsoft.com/office/powerpoint/2010/main" val="16186950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705CDF4-F9BD-4EA7-BB13-93AF51CF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RFM 专题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68D4E7-7BD8-4FD5-BE77-4DCC29D3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C6D9B7-5B32-45D5-A9FC-61E1DFFC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本社区 RFM｜全员价值分层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AAE3009-09A7-4194-9C04-1D201997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统计日已加入的全体成员；观察近 90 天。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7FDD05A0-C9BC-4905-935C-E8A99863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4696FB8-6AEF-4C87-8C67-CE0E0868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697B7D7-4A88-4A6E-8011-939CDF30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8" name="rfm-all-def">
            <a:extLst xmlns:a="http://schemas.openxmlformats.org/drawingml/2006/main">
              <a:ext uri="{FF2B5EF4-FFF2-40B4-BE49-F238E27FC236}">
                <a16:creationId xmlns:a16="http://schemas.microsoft.com/office/drawing/2014/main" id="{876EE909-C242-4E44-BD22-9D43654B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R = 距最近站内行为天数  ·  F = 有行为的天数  ·  M = 浏览 + 3×互动 + 10×发帖</a:t>
            </a:r>
          </a:p>
        </p:txBody>
      </p:sp>
      <p:sp>
        <p:nvSpPr>
          <p:cNvPr id="9" name="all-group-0">
            <a:extLst xmlns:a="http://schemas.openxmlformats.org/drawingml/2006/main">
              <a:ext uri="{FF2B5EF4-FFF2-40B4-BE49-F238E27FC236}">
                <a16:creationId xmlns:a16="http://schemas.microsoft.com/office/drawing/2014/main" id="{5A27CC89-0BA7-4009-BE59-8484BFE8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核心</a:t>
            </a:r>
          </a:p>
        </p:txBody>
      </p:sp>
      <p:sp>
        <p:nvSpPr>
          <p:cNvPr id="10" name="all-rule-0">
            <a:extLst xmlns:a="http://schemas.openxmlformats.org/drawingml/2006/main">
              <a:ext uri="{FF2B5EF4-FFF2-40B4-BE49-F238E27FC236}">
                <a16:creationId xmlns:a16="http://schemas.microsoft.com/office/drawing/2014/main" id="{6E880260-0DC8-4913-A520-74C9FB79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146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M ≥ 4 且 R ≥ 4</a:t>
            </a:r>
          </a:p>
        </p:txBody>
      </p:sp>
      <p:sp>
        <p:nvSpPr>
          <p:cNvPr id="11" name="all-action-0">
            <a:extLst xmlns:a="http://schemas.openxmlformats.org/drawingml/2006/main">
              <a:ext uri="{FF2B5EF4-FFF2-40B4-BE49-F238E27FC236}">
                <a16:creationId xmlns:a16="http://schemas.microsoft.com/office/drawing/2014/main" id="{6D7BAEFC-EEA8-4472-B76F-806A9FCC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持续分享、互动与回访</a:t>
            </a:r>
          </a:p>
        </p:txBody>
      </p:sp>
      <p:sp>
        <p:nvSpPr>
          <p:cNvPr id="12" name="rule-82-330">
            <a:extLst xmlns:a="http://schemas.openxmlformats.org/drawingml/2006/main">
              <a:ext uri="{FF2B5EF4-FFF2-40B4-BE49-F238E27FC236}">
                <a16:creationId xmlns:a16="http://schemas.microsoft.com/office/drawing/2014/main" id="{5CAFA260-9BC5-417D-952C-531D8454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ll-group-1">
            <a:extLst xmlns:a="http://schemas.openxmlformats.org/drawingml/2006/main">
              <a:ext uri="{FF2B5EF4-FFF2-40B4-BE49-F238E27FC236}">
                <a16:creationId xmlns:a16="http://schemas.microsoft.com/office/drawing/2014/main" id="{1F014097-30B0-4D5A-B8EC-CA86C9A2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活跃</a:t>
            </a:r>
          </a:p>
        </p:txBody>
      </p:sp>
      <p:sp>
        <p:nvSpPr>
          <p:cNvPr id="14" name="all-rule-1">
            <a:extLst xmlns:a="http://schemas.openxmlformats.org/drawingml/2006/main">
              <a:ext uri="{FF2B5EF4-FFF2-40B4-BE49-F238E27FC236}">
                <a16:creationId xmlns:a16="http://schemas.microsoft.com/office/drawing/2014/main" id="{792EED3A-BA25-46EF-B2EE-6993B186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051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M ≥ 3 且 R ≥ 3</a:t>
            </a:r>
          </a:p>
        </p:txBody>
      </p:sp>
      <p:sp>
        <p:nvSpPr>
          <p:cNvPr id="15" name="all-action-1">
            <a:extLst xmlns:a="http://schemas.openxmlformats.org/drawingml/2006/main">
              <a:ext uri="{FF2B5EF4-FFF2-40B4-BE49-F238E27FC236}">
                <a16:creationId xmlns:a16="http://schemas.microsoft.com/office/drawing/2014/main" id="{7E87152F-E00F-4963-8BEB-2C5EF702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识别稳定兴趣与参与方式</a:t>
            </a:r>
          </a:p>
        </p:txBody>
      </p:sp>
      <p:sp>
        <p:nvSpPr>
          <p:cNvPr id="16" name="rule-82-392">
            <a:extLst xmlns:a="http://schemas.openxmlformats.org/drawingml/2006/main">
              <a:ext uri="{FF2B5EF4-FFF2-40B4-BE49-F238E27FC236}">
                <a16:creationId xmlns:a16="http://schemas.microsoft.com/office/drawing/2014/main" id="{7B53F99D-D653-4C60-8422-F828E913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ll-group-2">
            <a:extLst xmlns:a="http://schemas.openxmlformats.org/drawingml/2006/main">
              <a:ext uri="{FF2B5EF4-FFF2-40B4-BE49-F238E27FC236}">
                <a16:creationId xmlns:a16="http://schemas.microsoft.com/office/drawing/2014/main" id="{2F9CE0C6-893D-4501-9D20-AEE6DD7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待唤醒</a:t>
            </a:r>
          </a:p>
        </p:txBody>
      </p:sp>
      <p:sp>
        <p:nvSpPr>
          <p:cNvPr id="18" name="all-rule-2">
            <a:extLst xmlns:a="http://schemas.openxmlformats.org/drawingml/2006/main">
              <a:ext uri="{FF2B5EF4-FFF2-40B4-BE49-F238E27FC236}">
                <a16:creationId xmlns:a16="http://schemas.microsoft.com/office/drawing/2014/main" id="{52295D66-8993-4CE6-BDD5-E0FA0C7B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957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R ≤ 2 且（F ≥ 3 或 M ≥ 3）</a:t>
            </a:r>
          </a:p>
        </p:txBody>
      </p:sp>
      <p:sp>
        <p:nvSpPr>
          <p:cNvPr id="19" name="all-action-2">
            <a:extLst xmlns:a="http://schemas.openxmlformats.org/drawingml/2006/main">
              <a:ext uri="{FF2B5EF4-FFF2-40B4-BE49-F238E27FC236}">
                <a16:creationId xmlns:a16="http://schemas.microsoft.com/office/drawing/2014/main" id="{52A337D3-8C70-48AF-97DF-9079669A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9572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了解近期停止参与的原因</a:t>
            </a:r>
          </a:p>
        </p:txBody>
      </p:sp>
      <p:sp>
        <p:nvSpPr>
          <p:cNvPr id="20" name="rule-82-454">
            <a:extLst xmlns:a="http://schemas.openxmlformats.org/drawingml/2006/main">
              <a:ext uri="{FF2B5EF4-FFF2-40B4-BE49-F238E27FC236}">
                <a16:creationId xmlns:a16="http://schemas.microsoft.com/office/drawing/2014/main" id="{B630785E-57DD-4781-A424-566EDB84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ll-group-3">
            <a:extLst xmlns:a="http://schemas.openxmlformats.org/drawingml/2006/main">
              <a:ext uri="{FF2B5EF4-FFF2-40B4-BE49-F238E27FC236}">
                <a16:creationId xmlns:a16="http://schemas.microsoft.com/office/drawing/2014/main" id="{CEB77EE4-02A7-4B4D-A0AB-3A9A1352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低活跃</a:t>
            </a:r>
          </a:p>
        </p:txBody>
      </p:sp>
      <p:sp>
        <p:nvSpPr>
          <p:cNvPr id="22" name="all-rule-3">
            <a:extLst xmlns:a="http://schemas.openxmlformats.org/drawingml/2006/main">
              <a:ext uri="{FF2B5EF4-FFF2-40B4-BE49-F238E27FC236}">
                <a16:creationId xmlns:a16="http://schemas.microsoft.com/office/drawing/2014/main" id="{E8E3ACA2-BBF6-4AE9-BDE0-16E5A7A0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R ≥ 3 且 M ≤ 2</a:t>
            </a:r>
          </a:p>
        </p:txBody>
      </p:sp>
      <p:sp>
        <p:nvSpPr>
          <p:cNvPr id="23" name="all-action-3">
            <a:extLst xmlns:a="http://schemas.openxmlformats.org/drawingml/2006/main">
              <a:ext uri="{FF2B5EF4-FFF2-40B4-BE49-F238E27FC236}">
                <a16:creationId xmlns:a16="http://schemas.microsoft.com/office/drawing/2014/main" id="{8DE5D34D-4B39-4ED4-8842-041D6E77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8627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补充互动与创作机会</a:t>
            </a:r>
          </a:p>
        </p:txBody>
      </p:sp>
      <p:sp>
        <p:nvSpPr>
          <p:cNvPr id="24" name="rule-82-516">
            <a:extLst xmlns:a="http://schemas.openxmlformats.org/drawingml/2006/main">
              <a:ext uri="{FF2B5EF4-FFF2-40B4-BE49-F238E27FC236}">
                <a16:creationId xmlns:a16="http://schemas.microsoft.com/office/drawing/2014/main" id="{121607F1-D154-4BE9-BEE3-167C13B9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ll-group-4">
            <a:extLst xmlns:a="http://schemas.openxmlformats.org/drawingml/2006/main">
              <a:ext uri="{FF2B5EF4-FFF2-40B4-BE49-F238E27FC236}">
                <a16:creationId xmlns:a16="http://schemas.microsoft.com/office/drawing/2014/main" id="{4C2E0A0C-51B5-435B-8172-3CBDD193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沉睡</a:t>
            </a:r>
          </a:p>
        </p:txBody>
      </p:sp>
      <p:sp>
        <p:nvSpPr>
          <p:cNvPr id="26" name="all-rule-4">
            <a:extLst xmlns:a="http://schemas.openxmlformats.org/drawingml/2006/main">
              <a:ext uri="{FF2B5EF4-FFF2-40B4-BE49-F238E27FC236}">
                <a16:creationId xmlns:a16="http://schemas.microsoft.com/office/drawing/2014/main" id="{581DAAA1-07BA-49F3-A7FF-EF1B6C11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768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其余成员</a:t>
            </a:r>
          </a:p>
        </p:txBody>
      </p:sp>
      <p:sp>
        <p:nvSpPr>
          <p:cNvPr id="27" name="all-action-4">
            <a:extLst xmlns:a="http://schemas.openxmlformats.org/drawingml/2006/main">
              <a:ext uri="{FF2B5EF4-FFF2-40B4-BE49-F238E27FC236}">
                <a16:creationId xmlns:a16="http://schemas.microsoft.com/office/drawing/2014/main" id="{2A7D6A93-886C-4C44-A7BC-11E3D015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76825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确认触达是否合适，检查数据覆盖</a:t>
            </a:r>
          </a:p>
        </p:txBody>
      </p:sp>
      <p:sp>
        <p:nvSpPr>
          <p:cNvPr id="28" name="rule-82-578">
            <a:extLst xmlns:a="http://schemas.openxmlformats.org/drawingml/2006/main">
              <a:ext uri="{FF2B5EF4-FFF2-40B4-BE49-F238E27FC236}">
                <a16:creationId xmlns:a16="http://schemas.microsoft.com/office/drawing/2014/main" id="{49394CB3-2B9E-4CB0-ADEB-EFF2B06F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fm-all-caveat">
            <a:extLst xmlns:a="http://schemas.openxmlformats.org/drawingml/2006/main">
              <a:ext uri="{FF2B5EF4-FFF2-40B4-BE49-F238E27FC236}">
                <a16:creationId xmlns:a16="http://schemas.microsoft.com/office/drawing/2014/main" id="{38439CB1-EF3A-4E7B-B9F9-9564640D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M 是项目设定的参与分，不是人民币或个人价值。分层变化可能由全员分布改变造成，复盘要同时查看原始行为。</a:t>
            </a:r>
          </a:p>
        </p:txBody>
      </p:sp>
    </p:spTree>
    <p:extLst>
      <p:ext uri="{BB962C8B-B14F-4D97-AF65-F5344CB8AC3E}">
        <p14:creationId xmlns:p14="http://schemas.microsoft.com/office/powerpoint/2010/main" val="1168151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D029B9-4166-4B89-9F59-55849604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RFM 专题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3D457C-50D7-4022-BE6A-A02182F0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0F568E-7602-4B50-B0A8-83695FC4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本社区 RFM｜KOL 管理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4B9E05-BA4D-4EFD-A1E7-8A5E337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只在近 12 个月积分前 N 名名单内进行比较，不能和全员分层直接比较。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6C459DEF-8C93-43BD-990D-C7F9F41A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CFDB905-9283-4DB7-ACC4-24EDE353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7FC8FC7-3B11-40AA-9826-AE1E63D3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8" name="col-title-0">
            <a:extLst xmlns:a="http://schemas.openxmlformats.org/drawingml/2006/main">
              <a:ext uri="{FF2B5EF4-FFF2-40B4-BE49-F238E27FC236}">
                <a16:creationId xmlns:a16="http://schemas.microsoft.com/office/drawing/2014/main" id="{CBA1AE1E-56D4-45E0-861A-2B20D866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评分范围</a:t>
            </a:r>
          </a:p>
        </p:txBody>
      </p:sp>
      <p:sp>
        <p:nvSpPr>
          <p:cNvPr id="9" name="col-body-0">
            <a:extLst xmlns:a="http://schemas.openxmlformats.org/drawingml/2006/main">
              <a:ext uri="{FF2B5EF4-FFF2-40B4-BE49-F238E27FC236}">
                <a16:creationId xmlns:a16="http://schemas.microsoft.com/office/drawing/2014/main" id="{02414D8B-F2A0-43BF-A86F-291788F9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51435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R：距最近发帖、评论或登录的天数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F：近 90 天三类行为的次数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M：近 90 天主动积分 + 被动积分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分别按名单内相对位置给 1–5 分。</a:t>
            </a:r>
          </a:p>
        </p:txBody>
      </p:sp>
      <p:sp>
        <p:nvSpPr>
          <p:cNvPr id="10" name="col-title-1">
            <a:extLst xmlns:a="http://schemas.openxmlformats.org/drawingml/2006/main">
              <a:ext uri="{FF2B5EF4-FFF2-40B4-BE49-F238E27FC236}">
                <a16:creationId xmlns:a16="http://schemas.microsoft.com/office/drawing/2014/main" id="{41C7A4AA-0426-41A4-9E57-C16DBAD2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分层与行动</a:t>
            </a:r>
          </a:p>
        </p:txBody>
      </p:sp>
      <p:sp>
        <p:nvSpPr>
          <p:cNvPr id="11" name="col-body-1">
            <a:extLst xmlns:a="http://schemas.openxmlformats.org/drawingml/2006/main">
              <a:ext uri="{FF2B5EF4-FFF2-40B4-BE49-F238E27FC236}">
                <a16:creationId xmlns:a16="http://schemas.microsoft.com/office/drawing/2014/main" id="{7D02C987-6EDF-483A-BF09-4745514E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1435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明星 KOL：无预警，平均分 ≥ 4</a:t>
            </a:r>
          </a:p>
          <a:p xmlns:a="http://schemas.openxmlformats.org/drawingml/2006/main">
            <a: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维护持续分享和专业讨论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稳定贡献者：无预警，平均分 ≥ 3</a:t>
            </a:r>
          </a:p>
          <a:p xmlns:a="http://schemas.openxmlformats.org/drawingml/2006/main">
            <a: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保持现有节奏和议题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成长潜力新人：近期贡献上升</a:t>
            </a:r>
          </a:p>
          <a:p xmlns:a="http://schemas.openxmlformats.org/drawingml/2006/main">
            <a: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核实是否适合更多展示机会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流失预警：先看具体下滑项和基线。</a:t>
            </a:r>
          </a:p>
        </p:txBody>
      </p:sp>
      <p:sp>
        <p:nvSpPr>
          <p:cNvPr id="12" name="col-divider-1">
            <a:extLst xmlns:a="http://schemas.openxmlformats.org/drawingml/2006/main">
              <a:ext uri="{FF2B5EF4-FFF2-40B4-BE49-F238E27FC236}">
                <a16:creationId xmlns:a16="http://schemas.microsoft.com/office/drawing/2014/main" id="{A5CB0E27-3A73-4368-8595-96EF2DFA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9525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kol-alert-footnote">
            <a:extLst xmlns:a="http://schemas.openxmlformats.org/drawingml/2006/main">
              <a:ext uri="{FF2B5EF4-FFF2-40B4-BE49-F238E27FC236}">
                <a16:creationId xmlns:a16="http://schemas.microsoft.com/office/drawing/2014/main" id="{8769129C-47D8-4CB6-8139-379F1DB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预警默认比较最近 30 天与此前 90 天行为或积分日均；任一项下降超过 50% 可触发。实际阈值以运行配置为准。</a:t>
            </a:r>
          </a:p>
        </p:txBody>
      </p:sp>
    </p:spTree>
    <p:extLst>
      <p:ext uri="{BB962C8B-B14F-4D97-AF65-F5344CB8AC3E}">
        <p14:creationId xmlns:p14="http://schemas.microsoft.com/office/powerpoint/2010/main" val="1101488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0338E22-E631-4B95-95AE-723B1124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RFM 专题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FEA5A6-83C9-4002-95D2-BF8E6DD5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B3F07B-5D8E-4453-9DC1-51408D64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RFM 的价值与验证方式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2B9824-E0F5-46DA-9AB5-796E8D73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把“谁近期需要什么支持”变成可检查的行动假设，而不是永久标签。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8E802114-0A9A-4B9F-B628-53CC6E8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D333B03-CB79-4046-A81F-E918D4E6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B28BD54-E5F7-4358-AFB2-F0EDCA3A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8" name="col-title-0">
            <a:extLst xmlns:a="http://schemas.openxmlformats.org/drawingml/2006/main">
              <a:ext uri="{FF2B5EF4-FFF2-40B4-BE49-F238E27FC236}">
                <a16:creationId xmlns:a16="http://schemas.microsoft.com/office/drawing/2014/main" id="{88B4ED16-26F4-4566-898D-90C3CDED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500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看结构</a:t>
            </a:r>
          </a:p>
        </p:txBody>
      </p:sp>
      <p:sp>
        <p:nvSpPr>
          <p:cNvPr id="9" name="col-body-0">
            <a:extLst xmlns:a="http://schemas.openxmlformats.org/drawingml/2006/main">
              <a:ext uri="{FF2B5EF4-FFF2-40B4-BE49-F238E27FC236}">
                <a16:creationId xmlns:a16="http://schemas.microsoft.com/office/drawing/2014/main" id="{9C48C1AB-879C-479A-B59A-C28B8EA1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500313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追踪核心、活跃、待唤醒群体规模，明确值得进一步了解的变化。</a:t>
            </a:r>
          </a:p>
        </p:txBody>
      </p:sp>
      <p:sp>
        <p:nvSpPr>
          <p:cNvPr id="10" name="col-title-1">
            <a:extLst xmlns:a="http://schemas.openxmlformats.org/drawingml/2006/main">
              <a:ext uri="{FF2B5EF4-FFF2-40B4-BE49-F238E27FC236}">
                <a16:creationId xmlns:a16="http://schemas.microsoft.com/office/drawing/2014/main" id="{E2C691B2-D2B0-4325-9DE3-99CFBC29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190750"/>
            <a:ext cx="2500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找机会</a:t>
            </a:r>
          </a:p>
        </p:txBody>
      </p:sp>
      <p:sp>
        <p:nvSpPr>
          <p:cNvPr id="11" name="col-body-1">
            <a:extLst xmlns:a="http://schemas.openxmlformats.org/drawingml/2006/main">
              <a:ext uri="{FF2B5EF4-FFF2-40B4-BE49-F238E27FC236}">
                <a16:creationId xmlns:a16="http://schemas.microsoft.com/office/drawing/2014/main" id="{81C378C7-C572-42D4-8DB5-35FFDBB6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705100"/>
            <a:ext cx="2500313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对照浏览、互动与发帖，观察用户从消费内容走向讨论的路径。</a:t>
            </a:r>
          </a:p>
        </p:txBody>
      </p:sp>
      <p:sp>
        <p:nvSpPr>
          <p:cNvPr id="12" name="col-divider-1">
            <a:extLst xmlns:a="http://schemas.openxmlformats.org/drawingml/2006/main">
              <a:ext uri="{FF2B5EF4-FFF2-40B4-BE49-F238E27FC236}">
                <a16:creationId xmlns:a16="http://schemas.microsoft.com/office/drawing/2014/main" id="{C67BAB44-3B93-4570-9232-4AA3F5E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2209800"/>
            <a:ext cx="9525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l-title-2">
            <a:extLst xmlns:a="http://schemas.openxmlformats.org/drawingml/2006/main">
              <a:ext uri="{FF2B5EF4-FFF2-40B4-BE49-F238E27FC236}">
                <a16:creationId xmlns:a16="http://schemas.microsoft.com/office/drawing/2014/main" id="{CE005175-B8E7-4665-8230-DD814C68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90750"/>
            <a:ext cx="2500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配动作</a:t>
            </a:r>
          </a:p>
        </p:txBody>
      </p:sp>
      <p:sp>
        <p:nvSpPr>
          <p:cNvPr id="14" name="col-body-2">
            <a:extLst xmlns:a="http://schemas.openxmlformats.org/drawingml/2006/main">
              <a:ext uri="{FF2B5EF4-FFF2-40B4-BE49-F238E27FC236}">
                <a16:creationId xmlns:a16="http://schemas.microsoft.com/office/drawing/2014/main" id="{EFD7DAF0-C6DC-4549-8D5E-727DD541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05100"/>
            <a:ext cx="2500313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先核实 KOL 预警，再按专业领域邀请答疑、共创或交流。</a:t>
            </a:r>
          </a:p>
        </p:txBody>
      </p:sp>
      <p:sp>
        <p:nvSpPr>
          <p:cNvPr id="15" name="col-divider-2">
            <a:extLst xmlns:a="http://schemas.openxmlformats.org/drawingml/2006/main">
              <a:ext uri="{FF2B5EF4-FFF2-40B4-BE49-F238E27FC236}">
                <a16:creationId xmlns:a16="http://schemas.microsoft.com/office/drawing/2014/main" id="{873A3930-0C78-43C0-BA82-083E6002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9525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l-title-3">
            <a:extLst xmlns:a="http://schemas.openxmlformats.org/drawingml/2006/main">
              <a:ext uri="{FF2B5EF4-FFF2-40B4-BE49-F238E27FC236}">
                <a16:creationId xmlns:a16="http://schemas.microsoft.com/office/drawing/2014/main" id="{73061CCF-9B23-4A62-883C-A2A8C34F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190750"/>
            <a:ext cx="250031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做验证</a:t>
            </a:r>
          </a:p>
        </p:txBody>
      </p:sp>
      <p:sp>
        <p:nvSpPr>
          <p:cNvPr id="17" name="col-body-3">
            <a:extLst xmlns:a="http://schemas.openxmlformats.org/drawingml/2006/main">
              <a:ext uri="{FF2B5EF4-FFF2-40B4-BE49-F238E27FC236}">
                <a16:creationId xmlns:a16="http://schemas.microsoft.com/office/drawing/2014/main" id="{5F686272-91FA-4A9F-A070-43DE0D11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705100"/>
            <a:ext cx="2500313" cy="2771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固定统计日、分母和观察窗口；比较回访、互动、发帖与 PV。需要判断增量时，使用可比群体或随机试验。</a:t>
            </a:r>
          </a:p>
        </p:txBody>
      </p:sp>
      <p:sp>
        <p:nvSpPr>
          <p:cNvPr id="18" name="col-divider-3">
            <a:extLst xmlns:a="http://schemas.openxmlformats.org/drawingml/2006/main">
              <a:ext uri="{FF2B5EF4-FFF2-40B4-BE49-F238E27FC236}">
                <a16:creationId xmlns:a16="http://schemas.microsoft.com/office/drawing/2014/main" id="{DCA9320B-58B8-4861-A03C-F4C8EDAE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2209800"/>
            <a:ext cx="9525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fm-validity-caveat">
            <a:extLst xmlns:a="http://schemas.openxmlformats.org/drawingml/2006/main">
              <a:ext uri="{FF2B5EF4-FFF2-40B4-BE49-F238E27FC236}">
                <a16:creationId xmlns:a16="http://schemas.microsoft.com/office/drawing/2014/main" id="{39BD3F49-F437-42CF-8A46-F010A638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0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RFM 描述已记录的行为，不能单独解释原因或证明因果。</a:t>
            </a:r>
          </a:p>
        </p:txBody>
      </p:sp>
    </p:spTree>
    <p:extLst>
      <p:ext uri="{BB962C8B-B14F-4D97-AF65-F5344CB8AC3E}">
        <p14:creationId xmlns:p14="http://schemas.microsoft.com/office/powerpoint/2010/main" val="14303743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703F43B-9E10-4023-94BB-B7DBDF82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RFM 专题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C9C5EB-4A52-443A-BEC8-77381B3E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F45D3E-EF0F-4081-A0BF-1C0902C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零售行业与 RFM 应用场景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BB2C364-04C4-42D7-A661-BBAF10FE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以下公司用于说明可借鉴的会员运营场景，不代表其公开确认内部算法为 RFM。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F0F88B25-4151-4E71-AA30-1267EBC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CBDF1DA-6A22-4CD2-8624-3C17C8D8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0249CBE-0B96-40CF-8568-1CDEB056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8" name="domestic-heading">
            <a:extLst xmlns:a="http://schemas.openxmlformats.org/drawingml/2006/main">
              <a:ext uri="{FF2B5EF4-FFF2-40B4-BE49-F238E27FC236}">
                <a16:creationId xmlns:a16="http://schemas.microsoft.com/office/drawing/2014/main" id="{AE2611FF-2B96-45E0-95EA-B4738D5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国内零售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A0BF6-47E4-410C-A5C2-5D47F575CD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529ae5dd84806"/>
          <a:stretch xmlns:a="http://schemas.openxmlformats.org/drawingml/2006/main"/>
        </p:blipFill>
        <p:spPr>
          <a:xfrm xmlns:a="http://schemas.openxmlformats.org/drawingml/2006/main">
            <a:off x="704850" y="23336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0" name="domestic-name-0">
            <a:extLst xmlns:a="http://schemas.openxmlformats.org/drawingml/2006/main">
              <a:ext uri="{FF2B5EF4-FFF2-40B4-BE49-F238E27FC236}">
                <a16:creationId xmlns:a16="http://schemas.microsoft.com/office/drawing/2014/main" id="{1478F8FE-50E2-4FC3-9765-042C66AF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4391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瑞幸咖啡</a:t>
            </a:r>
          </a:p>
        </p:txBody>
      </p:sp>
      <p:sp>
        <p:nvSpPr>
          <p:cNvPr id="11" name="domestic-scenario-0">
            <a:extLst xmlns:a="http://schemas.openxmlformats.org/drawingml/2006/main">
              <a:ext uri="{FF2B5EF4-FFF2-40B4-BE49-F238E27FC236}">
                <a16:creationId xmlns:a16="http://schemas.microsoft.com/office/drawing/2014/main" id="{181AF7D4-57F8-4ED5-AE08-0FE51837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43175"/>
            <a:ext cx="4391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高频消费 · 新品复购 · 沉睡唤回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0C547-7809-4DD5-ACD0-5D4DA2858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0306aca3a4832"/>
          <a:stretch xmlns:a="http://schemas.openxmlformats.org/drawingml/2006/main"/>
        </p:blipFill>
        <p:spPr>
          <a:xfrm xmlns:a="http://schemas.openxmlformats.org/drawingml/2006/main">
            <a:off x="704850" y="28003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domestic-name-1">
            <a:extLst xmlns:a="http://schemas.openxmlformats.org/drawingml/2006/main">
              <a:ext uri="{FF2B5EF4-FFF2-40B4-BE49-F238E27FC236}">
                <a16:creationId xmlns:a16="http://schemas.microsoft.com/office/drawing/2014/main" id="{BFE690C8-9939-4B66-8653-61A6A8FF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4391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山姆会员商店</a:t>
            </a:r>
          </a:p>
        </p:txBody>
      </p:sp>
      <p:sp>
        <p:nvSpPr>
          <p:cNvPr id="14" name="domestic-scenario-1">
            <a:extLst xmlns:a="http://schemas.openxmlformats.org/drawingml/2006/main">
              <a:ext uri="{FF2B5EF4-FFF2-40B4-BE49-F238E27FC236}">
                <a16:creationId xmlns:a16="http://schemas.microsoft.com/office/drawing/2014/main" id="{23E49364-B2B4-4707-8B74-34E6D71A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4391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会员活跃 · 续费价值 · 流失信号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15327-4618-4F9A-AA75-C60EBD9EC7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b78881d974e18"/>
          <a:stretch xmlns:a="http://schemas.openxmlformats.org/drawingml/2006/main"/>
        </p:blipFill>
        <p:spPr>
          <a:xfrm xmlns:a="http://schemas.openxmlformats.org/drawingml/2006/main">
            <a:off x="704850" y="32670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6" name="domestic-name-2">
            <a:extLst xmlns:a="http://schemas.openxmlformats.org/drawingml/2006/main">
              <a:ext uri="{FF2B5EF4-FFF2-40B4-BE49-F238E27FC236}">
                <a16:creationId xmlns:a16="http://schemas.microsoft.com/office/drawing/2014/main" id="{51DF6A16-F32E-4E64-8A56-0B3D1E2A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67075"/>
            <a:ext cx="4391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淘宝</a:t>
            </a:r>
          </a:p>
        </p:txBody>
      </p:sp>
      <p:sp>
        <p:nvSpPr>
          <p:cNvPr id="17" name="domestic-scenario-2">
            <a:extLst xmlns:a="http://schemas.openxmlformats.org/drawingml/2006/main">
              <a:ext uri="{FF2B5EF4-FFF2-40B4-BE49-F238E27FC236}">
                <a16:creationId xmlns:a16="http://schemas.microsoft.com/office/drawing/2014/main" id="{7D0EA48D-D43C-4582-93A1-FC815EAB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4391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大规模分群 · 复购 · 会员权益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7A17B-0522-4C06-86C4-0DA5B3BE88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e64bf0d694d21"/>
          <a:stretch xmlns:a="http://schemas.openxmlformats.org/drawingml/2006/main"/>
        </p:blipFill>
        <p:spPr>
          <a:xfrm xmlns:a="http://schemas.openxmlformats.org/drawingml/2006/main">
            <a:off x="704850" y="3733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9" name="domestic-name-3">
            <a:extLst xmlns:a="http://schemas.openxmlformats.org/drawingml/2006/main">
              <a:ext uri="{FF2B5EF4-FFF2-40B4-BE49-F238E27FC236}">
                <a16:creationId xmlns:a16="http://schemas.microsoft.com/office/drawing/2014/main" id="{A9052CFE-B57C-4F28-88AD-32120FD3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4391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天猫</a:t>
            </a:r>
          </a:p>
        </p:txBody>
      </p:sp>
      <p:sp>
        <p:nvSpPr>
          <p:cNvPr id="20" name="domestic-scenario-3">
            <a:extLst xmlns:a="http://schemas.openxmlformats.org/drawingml/2006/main">
              <a:ext uri="{FF2B5EF4-FFF2-40B4-BE49-F238E27FC236}">
                <a16:creationId xmlns:a16="http://schemas.microsoft.com/office/drawing/2014/main" id="{9C8E9DFA-FE72-460C-A90D-AD8CC64F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4391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大规模分群 · 复购 · 会员权益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38EFB-E24E-4B62-9E8D-27F34CBF74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ee558ab774009"/>
          <a:stretch xmlns:a="http://schemas.openxmlformats.org/drawingml/2006/main"/>
        </p:blipFill>
        <p:spPr>
          <a:xfrm xmlns:a="http://schemas.openxmlformats.org/drawingml/2006/main">
            <a:off x="704850" y="42005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2" name="domestic-name-4">
            <a:extLst xmlns:a="http://schemas.openxmlformats.org/drawingml/2006/main">
              <a:ext uri="{FF2B5EF4-FFF2-40B4-BE49-F238E27FC236}">
                <a16:creationId xmlns:a16="http://schemas.microsoft.com/office/drawing/2014/main" id="{065F954C-00DB-429E-822F-8DE9D271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0525"/>
            <a:ext cx="4391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唯品会</a:t>
            </a:r>
          </a:p>
        </p:txBody>
      </p:sp>
      <p:sp>
        <p:nvSpPr>
          <p:cNvPr id="23" name="domestic-scenario-4">
            <a:extLst xmlns:a="http://schemas.openxmlformats.org/drawingml/2006/main">
              <a:ext uri="{FF2B5EF4-FFF2-40B4-BE49-F238E27FC236}">
                <a16:creationId xmlns:a16="http://schemas.microsoft.com/office/drawing/2014/main" id="{98C53837-3AB3-4AA7-9307-62F2EFF9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0075"/>
            <a:ext cx="4391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会员价值层级 · 促销与复购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0A35A-B5D4-4DFD-A0E1-23137B65A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23b90f2d54e3f"/>
          <a:stretch xmlns:a="http://schemas.openxmlformats.org/drawingml/2006/main"/>
        </p:blipFill>
        <p:spPr>
          <a:xfrm xmlns:a="http://schemas.openxmlformats.org/drawingml/2006/main">
            <a:off x="704850" y="46672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5" name="domestic-name-5">
            <a:extLst xmlns:a="http://schemas.openxmlformats.org/drawingml/2006/main">
              <a:ext uri="{FF2B5EF4-FFF2-40B4-BE49-F238E27FC236}">
                <a16:creationId xmlns:a16="http://schemas.microsoft.com/office/drawing/2014/main" id="{6D2A1678-D8D3-404F-BCBE-C15B69F6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4391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永辉超市</a:t>
            </a:r>
          </a:p>
        </p:txBody>
      </p:sp>
      <p:sp>
        <p:nvSpPr>
          <p:cNvPr id="26" name="domestic-scenario-5">
            <a:extLst xmlns:a="http://schemas.openxmlformats.org/drawingml/2006/main">
              <a:ext uri="{FF2B5EF4-FFF2-40B4-BE49-F238E27FC236}">
                <a16:creationId xmlns:a16="http://schemas.microsoft.com/office/drawing/2014/main" id="{AFD2EEDD-F489-4234-A623-334445A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4391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全渠道会员 · 到店与品类复购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A3A7A-193E-4FE1-9ACE-35F91B712A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bb87050934d68"/>
          <a:stretch xmlns:a="http://schemas.openxmlformats.org/drawingml/2006/main"/>
        </p:blipFill>
        <p:spPr>
          <a:xfrm xmlns:a="http://schemas.openxmlformats.org/drawingml/2006/main">
            <a:off x="704850" y="51339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8" name="domestic-name-6">
            <a:extLst xmlns:a="http://schemas.openxmlformats.org/drawingml/2006/main">
              <a:ext uri="{FF2B5EF4-FFF2-40B4-BE49-F238E27FC236}">
                <a16:creationId xmlns:a16="http://schemas.microsoft.com/office/drawing/2014/main" id="{AF3A5E44-C31D-401A-A45B-E1A43F5F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33975"/>
            <a:ext cx="4391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大润发</a:t>
            </a:r>
          </a:p>
        </p:txBody>
      </p:sp>
      <p:sp>
        <p:nvSpPr>
          <p:cNvPr id="29" name="domestic-scenario-6">
            <a:extLst xmlns:a="http://schemas.openxmlformats.org/drawingml/2006/main">
              <a:ext uri="{FF2B5EF4-FFF2-40B4-BE49-F238E27FC236}">
                <a16:creationId xmlns:a16="http://schemas.microsoft.com/office/drawing/2014/main" id="{B5C3BD89-72D8-4608-8DB0-DD636184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3525"/>
            <a:ext cx="4391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全渠道会员 · 到店与品类复购</a:t>
            </a: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962469-B227-41E1-9EDA-D91973F57B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cafdb4812435c"/>
          <a:stretch xmlns:a="http://schemas.openxmlformats.org/drawingml/2006/main"/>
        </p:blipFill>
        <p:spPr>
          <a:xfrm xmlns:a="http://schemas.openxmlformats.org/drawingml/2006/main">
            <a:off x="704850" y="56007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1" name="domestic-name-7">
            <a:extLst xmlns:a="http://schemas.openxmlformats.org/drawingml/2006/main">
              <a:ext uri="{FF2B5EF4-FFF2-40B4-BE49-F238E27FC236}">
                <a16:creationId xmlns:a16="http://schemas.microsoft.com/office/drawing/2014/main" id="{97F6D9EE-2C3E-41D5-A3BE-30F393F8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4391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名创优品</a:t>
            </a:r>
          </a:p>
        </p:txBody>
      </p:sp>
      <p:sp>
        <p:nvSpPr>
          <p:cNvPr id="32" name="domestic-scenario-7">
            <a:extLst xmlns:a="http://schemas.openxmlformats.org/drawingml/2006/main">
              <a:ext uri="{FF2B5EF4-FFF2-40B4-BE49-F238E27FC236}">
                <a16:creationId xmlns:a16="http://schemas.microsoft.com/office/drawing/2014/main" id="{596191E4-C774-4A59-B2C7-5A13A60F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4391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从一次体验到持续复购</a:t>
            </a:r>
          </a:p>
        </p:txBody>
      </p:sp>
      <p:sp>
        <p:nvSpPr>
          <p:cNvPr id="33" name="overseas-heading">
            <a:extLst xmlns:a="http://schemas.openxmlformats.org/drawingml/2006/main">
              <a:ext uri="{FF2B5EF4-FFF2-40B4-BE49-F238E27FC236}">
                <a16:creationId xmlns:a16="http://schemas.microsoft.com/office/drawing/2014/main" id="{701BB6DC-B7C8-4E45-AAE8-D7CB047F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海外零售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53833E-D7BC-45AB-BCD2-3CD5A2D39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c3106c6304757"/>
          <a:stretch xmlns:a="http://schemas.openxmlformats.org/drawingml/2006/main"/>
        </p:blipFill>
        <p:spPr>
          <a:xfrm xmlns:a="http://schemas.openxmlformats.org/drawingml/2006/main">
            <a:off x="6477000" y="23336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5" name="overseas-name-0">
            <a:extLst xmlns:a="http://schemas.openxmlformats.org/drawingml/2006/main">
              <a:ext uri="{FF2B5EF4-FFF2-40B4-BE49-F238E27FC236}">
                <a16:creationId xmlns:a16="http://schemas.microsoft.com/office/drawing/2014/main" id="{F8DC13CD-2B71-4ECB-93F8-69E3B8F9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33625"/>
            <a:ext cx="4486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H&amp;M</a:t>
            </a:r>
          </a:p>
        </p:txBody>
      </p:sp>
      <p:sp>
        <p:nvSpPr>
          <p:cNvPr id="36" name="overseas-scenario-0">
            <a:extLst xmlns:a="http://schemas.openxmlformats.org/drawingml/2006/main">
              <a:ext uri="{FF2B5EF4-FFF2-40B4-BE49-F238E27FC236}">
                <a16:creationId xmlns:a16="http://schemas.microsoft.com/office/drawing/2014/main" id="{FE79A43D-BB7C-4AC7-A106-F304A533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43175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生命周期分层 · 促销个性化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15F3FD-67C7-4BEA-A6A9-D980D3F59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14c9cff794fa1"/>
          <a:stretch xmlns:a="http://schemas.openxmlformats.org/drawingml/2006/main"/>
        </p:blipFill>
        <p:spPr>
          <a:xfrm xmlns:a="http://schemas.openxmlformats.org/drawingml/2006/main">
            <a:off x="6477000" y="28003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8" name="overseas-name-1">
            <a:extLst xmlns:a="http://schemas.openxmlformats.org/drawingml/2006/main">
              <a:ext uri="{FF2B5EF4-FFF2-40B4-BE49-F238E27FC236}">
                <a16:creationId xmlns:a16="http://schemas.microsoft.com/office/drawing/2014/main" id="{E1DD0777-A339-418C-8A3A-9C1E1200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00350"/>
            <a:ext cx="4486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SEPHORA 丝芙兰</a:t>
            </a:r>
          </a:p>
        </p:txBody>
      </p:sp>
      <p:sp>
        <p:nvSpPr>
          <p:cNvPr id="39" name="overseas-scenario-1">
            <a:extLst xmlns:a="http://schemas.openxmlformats.org/drawingml/2006/main">
              <a:ext uri="{FF2B5EF4-FFF2-40B4-BE49-F238E27FC236}">
                <a16:creationId xmlns:a16="http://schemas.microsoft.com/office/drawing/2014/main" id="{DFE71A9D-7D19-4C6A-A3BA-FDDE6236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会员等级 · 美妆品类复购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25AE3E-1A7E-4EB2-ADA0-399D5BDC7D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4341a76d344b6"/>
          <a:stretch xmlns:a="http://schemas.openxmlformats.org/drawingml/2006/main"/>
        </p:blipFill>
        <p:spPr>
          <a:xfrm xmlns:a="http://schemas.openxmlformats.org/drawingml/2006/main">
            <a:off x="6477000" y="32670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1" name="overseas-name-2">
            <a:extLst xmlns:a="http://schemas.openxmlformats.org/drawingml/2006/main">
              <a:ext uri="{FF2B5EF4-FFF2-40B4-BE49-F238E27FC236}">
                <a16:creationId xmlns:a16="http://schemas.microsoft.com/office/drawing/2014/main" id="{CC321851-593D-49A9-99E4-BE8E40DB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67075"/>
            <a:ext cx="4486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Amazon</a:t>
            </a:r>
          </a:p>
        </p:txBody>
      </p:sp>
      <p:sp>
        <p:nvSpPr>
          <p:cNvPr id="42" name="overseas-scenario-2">
            <a:extLst xmlns:a="http://schemas.openxmlformats.org/drawingml/2006/main">
              <a:ext uri="{FF2B5EF4-FFF2-40B4-BE49-F238E27FC236}">
                <a16:creationId xmlns:a16="http://schemas.microsoft.com/office/drawing/2014/main" id="{303C57C7-FE12-485B-85F3-7CF5091F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76625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复购、推荐与流失召回</a:t>
            </a:r>
          </a:p>
        </p:txBody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B42356-FA1F-4C29-91C2-33C0827D69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3826211324d9d"/>
          <a:stretch xmlns:a="http://schemas.openxmlformats.org/drawingml/2006/main"/>
        </p:blipFill>
        <p:spPr>
          <a:xfrm xmlns:a="http://schemas.openxmlformats.org/drawingml/2006/main">
            <a:off x="6477000" y="3733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4" name="overseas-name-3">
            <a:extLst xmlns:a="http://schemas.openxmlformats.org/drawingml/2006/main">
              <a:ext uri="{FF2B5EF4-FFF2-40B4-BE49-F238E27FC236}">
                <a16:creationId xmlns:a16="http://schemas.microsoft.com/office/drawing/2014/main" id="{58C86547-9F41-4963-BADD-1591350A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33800"/>
            <a:ext cx="4486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Under Armour 安德玛</a:t>
            </a:r>
          </a:p>
        </p:txBody>
      </p:sp>
      <p:sp>
        <p:nvSpPr>
          <p:cNvPr id="45" name="overseas-scenario-3">
            <a:extLst xmlns:a="http://schemas.openxmlformats.org/drawingml/2006/main">
              <a:ext uri="{FF2B5EF4-FFF2-40B4-BE49-F238E27FC236}">
                <a16:creationId xmlns:a16="http://schemas.microsoft.com/office/drawing/2014/main" id="{D8E27678-929A-48B3-9D7D-471E86FE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43350"/>
            <a:ext cx="4486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DTC 用户分层 · 休眠激活</a:t>
            </a:r>
          </a:p>
        </p:txBody>
      </p:sp>
      <p:sp>
        <p:nvSpPr>
          <p:cNvPr id="46" name="industry-rfm-caveat">
            <a:extLst xmlns:a="http://schemas.openxmlformats.org/drawingml/2006/main">
              <a:ext uri="{FF2B5EF4-FFF2-40B4-BE49-F238E27FC236}">
                <a16:creationId xmlns:a16="http://schemas.microsoft.com/office/drawing/2014/main" id="{68668614-55E9-4E16-9819-AC6046D9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便利店、茶饮、美妆、会员制商超、DTC 电商常用复购分层。模型可加入 T（周期）、C（品类）或毛利等业务变量。</a:t>
            </a:r>
          </a:p>
        </p:txBody>
      </p:sp>
    </p:spTree>
    <p:extLst>
      <p:ext uri="{BB962C8B-B14F-4D97-AF65-F5344CB8AC3E}">
        <p14:creationId xmlns:p14="http://schemas.microsoft.com/office/powerpoint/2010/main" val="8860162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BC7B009-E825-4E94-B1DA-BD6EA41A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0904A4-F27B-45D2-B6BA-C5CA894A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09FD7C-AEE0-479B-86CC-504F062A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KOL 管理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F95989-F309-42D1-A078-D4B712F4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看分层和预警，找到适合进一步支持与交流的专家。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D55524FF-747C-4A29-996F-2BCEA070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5D19448-A34F-480B-ADE8-EEC56BD5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043CB63-F0A2-4AA0-8C5A-DE2CCC9E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00EA1212-FC17-4D34-80D4-E24105A8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看群体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7AB279FF-5939-41A9-BFBC-33864C5C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明星、稳定贡献、成长潜力、流失预警等标签用于组织讨论。</a:t>
            </a:r>
          </a:p>
        </p:txBody>
      </p:sp>
      <p:sp>
        <p:nvSpPr>
          <p:cNvPr id="10" name="rule-898-336">
            <a:extLst xmlns:a="http://schemas.openxmlformats.org/drawingml/2006/main">
              <a:ext uri="{FF2B5EF4-FFF2-40B4-BE49-F238E27FC236}">
                <a16:creationId xmlns:a16="http://schemas.microsoft.com/office/drawing/2014/main" id="{46BB3168-2828-4E85-A546-EE6BD507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B73BE4AF-0D9C-40DB-AEA9-8A41C5F7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671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先核实预警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CB984290-8B33-4662-BC96-85BDB198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38575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检查原始行为、观察窗口和近期变化，再联系或支持。</a:t>
            </a:r>
          </a:p>
        </p:txBody>
      </p:sp>
      <p:sp>
        <p:nvSpPr>
          <p:cNvPr id="13" name="rule-898-488">
            <a:extLst xmlns:a="http://schemas.openxmlformats.org/drawingml/2006/main">
              <a:ext uri="{FF2B5EF4-FFF2-40B4-BE49-F238E27FC236}">
                <a16:creationId xmlns:a16="http://schemas.microsoft.com/office/drawing/2014/main" id="{FF56BE00-C03A-41AE-867E-772388F6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7AEEBEF4-CDCC-47C7-A6E9-E03C452A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149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促专业交流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089ADD4D-65DA-4B0B-A46E-29182BB7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86375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结合领域和内容，邀请答疑、共创或专题讨论。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5C5B8-D139-45CC-889E-DB8B372AA5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617430e0e4768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64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EE05A3F-BE62-4EFF-8967-4FFA8887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8C8842-AB97-40A5-A5E5-11B43C2C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A9CBC9-8E3B-42A9-9286-98A3DB8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积分排行榜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F933B2-1433-4630-A0A2-C6A6CF0A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主动积分与被动积分从不同角度反映参与和内容反馈。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C6ECF99C-6C01-4BB2-A5FB-BD1A069E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35EAA09-EDF1-4864-BBD6-C531FEB8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F6F21FC-F461-443B-8801-F0A9F9BC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5DFFDCA2-D242-45FF-8395-614C9F4C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主动积分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AC76C207-984B-4A85-B0E8-950816A5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来自成员自己的行为，帮助观察主动参与。</a:t>
            </a:r>
          </a:p>
        </p:txBody>
      </p:sp>
      <p:sp>
        <p:nvSpPr>
          <p:cNvPr id="10" name="rule-898-320">
            <a:extLst xmlns:a="http://schemas.openxmlformats.org/drawingml/2006/main">
              <a:ext uri="{FF2B5EF4-FFF2-40B4-BE49-F238E27FC236}">
                <a16:creationId xmlns:a16="http://schemas.microsoft.com/office/drawing/2014/main" id="{5E878795-DB5E-454F-9BED-5C96BBBA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480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2D7B259D-BDB4-409A-8FE9-E3A27DBE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14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被动积分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35C5123E-7FB7-4588-BAA2-1E90CD70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86175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来自内容或评论获得的反馈，可与浏览表现一起看。</a:t>
            </a:r>
          </a:p>
        </p:txBody>
      </p:sp>
      <p:sp>
        <p:nvSpPr>
          <p:cNvPr id="13" name="rule-898-466">
            <a:extLst xmlns:a="http://schemas.openxmlformats.org/drawingml/2006/main">
              <a:ext uri="{FF2B5EF4-FFF2-40B4-BE49-F238E27FC236}">
                <a16:creationId xmlns:a16="http://schemas.microsoft.com/office/drawing/2014/main" id="{33C6CDE7-C342-40EC-A0E9-CFDE505D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386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0AD6F25E-F513-4C47-985F-87043DE0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053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注意范围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38F5B094-3160-4791-A7F4-44294C21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76825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权重可配置；历史已入账积分不随规则调整自动重算。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0D045-6A7A-47A9-9487-E465FF1A3D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0d6a55bbc4c2c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3344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ECF9F0D-2EB9-4650-9BD9-46D0891E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3F0C75-4D19-48AF-A8F7-4C8A7C6F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C8F00E-A8F6-445C-B19C-79B15377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增长闭环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EF4451-3AF0-470B-B187-3AC36AAC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把告警、热点内容和部门渗透转成任务跟踪与复盘。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E23AF813-22A3-45B1-B71F-2855D515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6CEE647-6BA8-4C5C-817E-B37A72D7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07F72DC-65B5-480C-8972-AE1CAEBA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8C345319-84CF-4FB0-964B-EB8F0679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发现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E2150F7F-3A69-4EE3-B608-354EA9AA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核实告警指标、时间和样本，明确真正需要关注的问题。</a:t>
            </a:r>
          </a:p>
        </p:txBody>
      </p:sp>
      <p:sp>
        <p:nvSpPr>
          <p:cNvPr id="10" name="rule-898-330">
            <a:extLst xmlns:a="http://schemas.openxmlformats.org/drawingml/2006/main">
              <a:ext uri="{FF2B5EF4-FFF2-40B4-BE49-F238E27FC236}">
                <a16:creationId xmlns:a16="http://schemas.microsoft.com/office/drawing/2014/main" id="{A5A060F2-65C4-42DE-AD0F-60E000C0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3FFB2A5D-01E5-40C4-8E47-ED25B0E8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99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行动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657CB42F-CA27-471C-9DB8-9ED5607C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81425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明确对象、负责人、目标、基线和观察窗口。</a:t>
            </a:r>
          </a:p>
        </p:txBody>
      </p:sp>
      <p:sp>
        <p:nvSpPr>
          <p:cNvPr id="13" name="rule-898-480">
            <a:extLst xmlns:a="http://schemas.openxmlformats.org/drawingml/2006/main">
              <a:ext uri="{FF2B5EF4-FFF2-40B4-BE49-F238E27FC236}">
                <a16:creationId xmlns:a16="http://schemas.microsoft.com/office/drawing/2014/main" id="{1EAF370A-CD50-458F-B9A4-29462021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720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465C7B53-76B0-494D-88B3-F8B22DD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38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复盘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98821991-C30D-4F36-854C-05BAC9DF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10175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对照执行过程与其他变化，决定下一轮动作。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DEAF9-9CE8-47C2-BB92-BEEC654AEB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66464c5254259"/>
          <a:stretch xmlns:a="http://schemas.openxmlformats.org/drawingml/2006/main"/>
        </p:blipFill>
        <p:spPr>
          <a:xfrm xmlns:a="http://schemas.openxmlformats.org/drawingml/2006/main">
            <a:off x="666750" y="1953547"/>
            <a:ext cx="7524750" cy="2912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275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0D86128-C4D5-4BA9-9460-FC98A936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558874-3F60-4EB2-AC05-DD5DC395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862B7F-D446-4D2F-873D-5985ED0A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案例 01｜用同类频道比较发现差距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5541CAE-9721-4A9C-82D8-ADCE8028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对比分析｜统计期 2026-05-01 至 2026-10-27。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EA03A823-FE47-4207-9831-8E7D1DD4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530CAD8-67A8-47DC-B3F9-8143AE4E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711FD5F-B298-49E8-808F-F8866E12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E78BB7B0-BE02-46C8-BB94-E33AA79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观察到的差异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4F5846C7-BB3E-4DAE-8C8F-03518FFC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半导体频道 PV 1,681；交付服务频道 PV 6,067。</a:t>
            </a:r>
          </a:p>
        </p:txBody>
      </p:sp>
      <p:sp>
        <p:nvSpPr>
          <p:cNvPr id="10" name="rule-898-342">
            <a:extLst xmlns:a="http://schemas.openxmlformats.org/drawingml/2006/main">
              <a:ext uri="{FF2B5EF4-FFF2-40B4-BE49-F238E27FC236}">
                <a16:creationId xmlns:a16="http://schemas.microsoft.com/office/drawing/2014/main" id="{C80A6217-E80D-447E-9A37-85AA6C1E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248D732D-EEA4-4A60-AC1A-38911BC9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24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下一步提问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CD7A0FD7-C911-43EB-B4DA-3B2FDC14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95725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差异来自来源结构、内容供给、作者参与还是周期因素？</a:t>
            </a:r>
          </a:p>
        </p:txBody>
      </p:sp>
      <p:sp>
        <p:nvSpPr>
          <p:cNvPr id="13" name="rule-898-498">
            <a:extLst xmlns:a="http://schemas.openxmlformats.org/drawingml/2006/main">
              <a:ext uri="{FF2B5EF4-FFF2-40B4-BE49-F238E27FC236}">
                <a16:creationId xmlns:a16="http://schemas.microsoft.com/office/drawing/2014/main" id="{18350150-EAA4-4DC1-9C39-561EDF68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434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9C1D0197-9F6A-405D-AE43-E5E7CBD9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101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使用方式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79DF1CCA-F23F-400F-92B4-B0516015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81625"/>
            <a:ext cx="2971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让团队分享可复用做法，再进入频道详情查证。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0E153-4D27-47D3-9FFE-1A62DCF25E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4520e081c4c72"/>
          <a:stretch xmlns:a="http://schemas.openxmlformats.org/drawingml/2006/main"/>
        </p:blipFill>
        <p:spPr>
          <a:xfrm xmlns:a="http://schemas.openxmlformats.org/drawingml/2006/main">
            <a:off x="741201" y="1952625"/>
            <a:ext cx="7375849" cy="2914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499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6F3B1FE-1C66-4C67-AE8E-C66C4E2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E37726-A6C0-4BDC-966C-F125D952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E41E72-3F1E-47ED-BAB2-200E15F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案例 02｜从频道指标开始定位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AE04CA0-284E-405B-8DBC-130492BD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AI 学习频道｜统计期 2026-05-01 至 2026-10-27。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4B2B3A47-3E4B-41D1-9ED7-D491A8B4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C90C040-B714-42B5-8108-3DA6D93D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CD643B-6C29-4C6A-8594-BFD905F0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EC525143-0EF7-4FEF-9473-2FC49768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界面数据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A2264038-010A-409A-960D-7D7F05D2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PV 4,909，环比 -7.9%；互动 142 次，互动率 2.9%。</a:t>
            </a:r>
          </a:p>
        </p:txBody>
      </p:sp>
      <p:sp>
        <p:nvSpPr>
          <p:cNvPr id="10" name="rule-898-340">
            <a:extLst xmlns:a="http://schemas.openxmlformats.org/drawingml/2006/main">
              <a:ext uri="{FF2B5EF4-FFF2-40B4-BE49-F238E27FC236}">
                <a16:creationId xmlns:a16="http://schemas.microsoft.com/office/drawing/2014/main" id="{2877975D-D2BE-4723-953B-E2F8F966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657A37E9-EF4E-46F5-946B-D7988F6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05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分发线索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AE0C1088-8D30-4BDE-9E26-CB953A88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766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自主入口曝光 / 点击 / 点击率：996 / 119 / 11.9%。</a:t>
            </a:r>
          </a:p>
        </p:txBody>
      </p:sp>
      <p:sp>
        <p:nvSpPr>
          <p:cNvPr id="13" name="rule-898-502">
            <a:extLst xmlns:a="http://schemas.openxmlformats.org/drawingml/2006/main">
              <a:ext uri="{FF2B5EF4-FFF2-40B4-BE49-F238E27FC236}">
                <a16:creationId xmlns:a16="http://schemas.microsoft.com/office/drawing/2014/main" id="{97FF1531-63AA-41DF-9829-58CBB898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815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3CD24245-5506-4562-A76B-44C4846E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48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分析动作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DFCB5087-F9F8-44CB-B96B-381687E0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19725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从来源和内容列表检查主要变化对象，再核实读者反馈。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57029-F9FD-4716-8A95-B168767AA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5435ca19a45f5"/>
          <a:stretch xmlns:a="http://schemas.openxmlformats.org/drawingml/2006/main"/>
        </p:blipFill>
        <p:spPr>
          <a:xfrm xmlns:a="http://schemas.openxmlformats.org/drawingml/2006/main">
            <a:off x="666750" y="2317648"/>
            <a:ext cx="7524750" cy="21846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89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8CAA759-B9C2-4D6C-88DC-B3271FD3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D2FDFE-387F-4F50-B941-E829C800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E461AC-A19B-4D32-B5DD-CCFF9B1C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案例 02 续｜沿账号和内容继续下钻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CA6940-E618-4AAD-98A8-7E5D5B4B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以账号和内容明细定位贡献，再把线索转成运营讨论。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C350B082-9D47-431F-A6DB-0F1DFD47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D520204-26B1-4F46-91DD-ED425B4D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0AE4D1-67D3-4AC2-BB3A-69240E88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CAF7D-E508-4EDC-BD9E-77FE6D00E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bb86faf114ff0"/>
          <a:stretch xmlns:a="http://schemas.openxmlformats.org/drawingml/2006/main"/>
        </p:blipFill>
        <p:spPr>
          <a:xfrm xmlns:a="http://schemas.openxmlformats.org/drawingml/2006/main">
            <a:off x="670055" y="2000250"/>
            <a:ext cx="7327641" cy="14478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E2BAF-CC48-48B5-98D1-BA36937735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5fe7b4cf646a9"/>
          <a:stretch xmlns:a="http://schemas.openxmlformats.org/drawingml/2006/main"/>
        </p:blipFill>
        <p:spPr>
          <a:xfrm xmlns:a="http://schemas.openxmlformats.org/drawingml/2006/main">
            <a:off x="666750" y="3667202"/>
            <a:ext cx="7334250" cy="1123796"/>
          </a:xfrm>
          <a:prstGeom xmlns:a="http://schemas.openxmlformats.org/drawingml/2006/main" prst="rect">
            <a:avLst/>
          </a:prstGeom>
        </p:spPr>
      </p:pic>
      <p:sp>
        <p:nvSpPr>
          <p:cNvPr id="10" name="account-45">
            <a:extLst xmlns:a="http://schemas.openxmlformats.org/drawingml/2006/main">
              <a:ext uri="{FF2B5EF4-FFF2-40B4-BE49-F238E27FC236}">
                <a16:creationId xmlns:a16="http://schemas.microsoft.com/office/drawing/2014/main" id="{5A278C17-995C-4A8C-92C1-BAB29BC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个人账号-45</a:t>
            </a:r>
          </a:p>
        </p:txBody>
      </p:sp>
      <p:sp>
        <p:nvSpPr>
          <p:cNvPr id="11" name="account-45-value">
            <a:extLst xmlns:a="http://schemas.openxmlformats.org/drawingml/2006/main">
              <a:ext uri="{FF2B5EF4-FFF2-40B4-BE49-F238E27FC236}">
                <a16:creationId xmlns:a16="http://schemas.microsoft.com/office/drawing/2014/main" id="{CA574A3A-A6BE-4A4B-824A-D7F42609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PV 739</a:t>
            </a:r>
          </a:p>
        </p:txBody>
      </p:sp>
      <p:sp>
        <p:nvSpPr>
          <p:cNvPr id="12" name="rule-884-322">
            <a:extLst xmlns:a="http://schemas.openxmlformats.org/drawingml/2006/main">
              <a:ext uri="{FF2B5EF4-FFF2-40B4-BE49-F238E27FC236}">
                <a16:creationId xmlns:a16="http://schemas.microsoft.com/office/drawing/2014/main" id="{C71FA35C-A4F3-47EA-993E-D79EBA58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count-33">
            <a:extLst xmlns:a="http://schemas.openxmlformats.org/drawingml/2006/main">
              <a:ext uri="{FF2B5EF4-FFF2-40B4-BE49-F238E27FC236}">
                <a16:creationId xmlns:a16="http://schemas.microsoft.com/office/drawing/2014/main" id="{0A12FE87-ACB8-4F82-942C-3C5FBA3E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337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个人账号-33</a:t>
            </a:r>
          </a:p>
        </p:txBody>
      </p:sp>
      <p:sp>
        <p:nvSpPr>
          <p:cNvPr id="14" name="account-33-value">
            <a:extLst xmlns:a="http://schemas.openxmlformats.org/drawingml/2006/main">
              <a:ext uri="{FF2B5EF4-FFF2-40B4-BE49-F238E27FC236}">
                <a16:creationId xmlns:a16="http://schemas.microsoft.com/office/drawing/2014/main" id="{AD0EADF5-4EA4-4FC8-A128-AEDD955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PV 536</a:t>
            </a:r>
          </a:p>
        </p:txBody>
      </p:sp>
      <p:sp>
        <p:nvSpPr>
          <p:cNvPr id="15" name="accounts-next">
            <a:extLst xmlns:a="http://schemas.openxmlformats.org/drawingml/2006/main">
              <a:ext uri="{FF2B5EF4-FFF2-40B4-BE49-F238E27FC236}">
                <a16:creationId xmlns:a16="http://schemas.microsoft.com/office/drawing/2014/main" id="{8B0EFE84-6294-49BC-8FD1-88932B8A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434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继续查看内容表现与受众反馈，避免仅凭账号 PV 推断原因。</a:t>
            </a:r>
          </a:p>
        </p:txBody>
      </p:sp>
    </p:spTree>
    <p:extLst>
      <p:ext uri="{BB962C8B-B14F-4D97-AF65-F5344CB8AC3E}">
        <p14:creationId xmlns:p14="http://schemas.microsoft.com/office/powerpoint/2010/main" val="6786955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A65C00F-B917-44D2-95A9-04254868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29B453-A648-4332-9841-7C396AC3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A2CDD3-91C6-42F9-ABFE-C1AFB403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案例 03｜从新成员浏览走向参与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AEC679D-C53D-49A8-824F-86C17319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读者激活漏斗｜加入日期 2026-05-01 至 2026-10-27。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6114B2B2-EB93-4550-80BD-7991A429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DA78DB4-9119-45DC-949B-420BCB2A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F147741-07A8-4B85-A795-29F05F16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8" name="callout-label-0">
            <a:extLst xmlns:a="http://schemas.openxmlformats.org/drawingml/2006/main">
              <a:ext uri="{FF2B5EF4-FFF2-40B4-BE49-F238E27FC236}">
                <a16:creationId xmlns:a16="http://schemas.microsoft.com/office/drawing/2014/main" id="{4C81FBEB-B57B-4AFE-AE3D-869B912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加入社区</a:t>
            </a:r>
          </a:p>
        </p:txBody>
      </p:sp>
      <p:sp>
        <p:nvSpPr>
          <p:cNvPr id="9" name="callout-body-0">
            <a:extLst xmlns:a="http://schemas.openxmlformats.org/drawingml/2006/main">
              <a:ext uri="{FF2B5EF4-FFF2-40B4-BE49-F238E27FC236}">
                <a16:creationId xmlns:a16="http://schemas.microsoft.com/office/drawing/2014/main" id="{B32CC844-ED4C-4F19-8AE8-2BF38372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89 人作为本次统计的加入成员。</a:t>
            </a:r>
          </a:p>
        </p:txBody>
      </p:sp>
      <p:sp>
        <p:nvSpPr>
          <p:cNvPr id="10" name="rule-898-320">
            <a:extLst xmlns:a="http://schemas.openxmlformats.org/drawingml/2006/main">
              <a:ext uri="{FF2B5EF4-FFF2-40B4-BE49-F238E27FC236}">
                <a16:creationId xmlns:a16="http://schemas.microsoft.com/office/drawing/2014/main" id="{87D5733C-A8EB-4AF3-B143-C3B8DF6D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480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E2CDAE6C-5A2F-4751-BF63-0D159FE5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14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7 天内首次浏览</a:t>
            </a:r>
          </a:p>
        </p:txBody>
      </p:sp>
      <p:sp>
        <p:nvSpPr>
          <p:cNvPr id="12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99D08218-C402-4D16-A1BF-FC4EF28E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86175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54 人，占加入人数 60.7%。</a:t>
            </a:r>
          </a:p>
        </p:txBody>
      </p:sp>
      <p:sp>
        <p:nvSpPr>
          <p:cNvPr id="13" name="rule-898-464">
            <a:extLst xmlns:a="http://schemas.openxmlformats.org/drawingml/2006/main">
              <a:ext uri="{FF2B5EF4-FFF2-40B4-BE49-F238E27FC236}">
                <a16:creationId xmlns:a16="http://schemas.microsoft.com/office/drawing/2014/main" id="{BA92989C-EA86-4253-9728-DAAC60BC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1960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0E5C0934-6555-46F8-81CE-F079D96E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863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如何解读</a:t>
            </a:r>
          </a:p>
        </p:txBody>
      </p:sp>
      <p:sp>
        <p:nvSpPr>
          <p:cNvPr id="15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B5627A6A-1F4D-4E9F-B47D-A60B721B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57775"/>
            <a:ext cx="297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7 天首次互动 6 人；30 天首次发帖 14 人；第 2 周活跃 55 人。每一步独立统计，不是严格逐层转化。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45EE8-454E-484A-B759-9C86AA2F71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5a00e22754c57"/>
          <a:stretch xmlns:a="http://schemas.openxmlformats.org/drawingml/2006/main"/>
        </p:blipFill>
        <p:spPr>
          <a:xfrm xmlns:a="http://schemas.openxmlformats.org/drawingml/2006/main">
            <a:off x="1230748" y="1952625"/>
            <a:ext cx="6396754" cy="2914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448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40A4DD7-B095-4E41-B186-346C026F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8CBC1B-6EBE-4EFF-B770-0B74CD6A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29CE9E-C6EA-4D5F-A40F-DEDC653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案例 04｜结合创作者表现与 KOL 预警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CEE87C-2920-4BB9-A52B-F2A14A65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创作者排行和 KOL 管理使用不同时间窗口，作为互补线索。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8ED0A03D-275D-46FE-9F1C-2C20A6FF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609FEB7-9FAD-4D22-ACBB-D0199380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F40AA3-CA69-4068-BCCC-655857FD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4C152-41C1-420D-BEB9-888F7B36DF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f65e062f14c1e"/>
          <a:stretch xmlns:a="http://schemas.openxmlformats.org/drawingml/2006/main"/>
        </p:blipFill>
        <p:spPr>
          <a:xfrm xmlns:a="http://schemas.openxmlformats.org/drawingml/2006/main">
            <a:off x="666750" y="2044994"/>
            <a:ext cx="7524750" cy="1244011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A20F8-9A66-479A-90BC-A262EC25D3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eb8c1f7d94894"/>
          <a:stretch xmlns:a="http://schemas.openxmlformats.org/drawingml/2006/main"/>
        </p:blipFill>
        <p:spPr>
          <a:xfrm xmlns:a="http://schemas.openxmlformats.org/drawingml/2006/main">
            <a:off x="677396" y="3562350"/>
            <a:ext cx="7503459" cy="1028700"/>
          </a:xfrm>
          <a:prstGeom xmlns:a="http://schemas.openxmlformats.org/drawingml/2006/main" prst="rect">
            <a:avLst/>
          </a:prstGeom>
        </p:spPr>
      </p:pic>
      <p:sp>
        <p:nvSpPr>
          <p:cNvPr id="10" name="creator-case-label">
            <a:extLst xmlns:a="http://schemas.openxmlformats.org/drawingml/2006/main">
              <a:ext uri="{FF2B5EF4-FFF2-40B4-BE49-F238E27FC236}">
                <a16:creationId xmlns:a16="http://schemas.microsoft.com/office/drawing/2014/main" id="{6A3E367F-0ECA-4542-A4A1-670A2985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创作者排行</a:t>
            </a:r>
          </a:p>
        </p:txBody>
      </p:sp>
      <p:sp>
        <p:nvSpPr>
          <p:cNvPr id="11" name="creator-case-value">
            <a:extLst xmlns:a="http://schemas.openxmlformats.org/drawingml/2006/main">
              <a:ext uri="{FF2B5EF4-FFF2-40B4-BE49-F238E27FC236}">
                <a16:creationId xmlns:a16="http://schemas.microsoft.com/office/drawing/2014/main" id="{FD22B5D4-8D7C-46F4-8901-C1555BC0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员工-836</a:t>
            </a:r>
          </a:p>
          <a:p xmlns:a="http://schemas.openxmlformats.org/drawingml/2006/main">
            <a:pPr algn="l">
              <a:def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PV 3,524 · 互动 97</a:t>
            </a:r>
          </a:p>
        </p:txBody>
      </p:sp>
      <p:sp>
        <p:nvSpPr>
          <p:cNvPr id="12" name="rule-898-355">
            <a:extLst xmlns:a="http://schemas.openxmlformats.org/drawingml/2006/main">
              <a:ext uri="{FF2B5EF4-FFF2-40B4-BE49-F238E27FC236}">
                <a16:creationId xmlns:a16="http://schemas.microsoft.com/office/drawing/2014/main" id="{DCAA9D53-6B53-48F4-A4F3-6B2AB148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81375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kol-case-label">
            <a:extLst xmlns:a="http://schemas.openxmlformats.org/drawingml/2006/main">
              <a:ext uri="{FF2B5EF4-FFF2-40B4-BE49-F238E27FC236}">
                <a16:creationId xmlns:a16="http://schemas.microsoft.com/office/drawing/2014/main" id="{CDA2D1C2-5E2A-411F-8373-BF065341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9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KOL 预警</a:t>
            </a:r>
          </a:p>
        </p:txBody>
      </p:sp>
      <p:sp>
        <p:nvSpPr>
          <p:cNvPr id="14" name="kol-case-value">
            <a:extLst xmlns:a="http://schemas.openxmlformats.org/drawingml/2006/main">
              <a:ext uri="{FF2B5EF4-FFF2-40B4-BE49-F238E27FC236}">
                <a16:creationId xmlns:a16="http://schemas.microsoft.com/office/drawing/2014/main" id="{34BDFCCE-0D32-42EB-AE2E-AC2805F6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结合 R/F/M 与近 12 月积分，先看行为下降项，再核对原始数据。</a:t>
            </a:r>
          </a:p>
        </p:txBody>
      </p:sp>
    </p:spTree>
    <p:extLst>
      <p:ext uri="{BB962C8B-B14F-4D97-AF65-F5344CB8AC3E}">
        <p14:creationId xmlns:p14="http://schemas.microsoft.com/office/powerpoint/2010/main" val="180810496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38E94BD-4BD6-4424-B343-872A6ED1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指标字典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B6AC0D-EE83-4417-B3F5-85AC30B3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374F52-80F9-451B-B6ED-7A823F23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常用指标速查｜浏览与入口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BA3BBF-0C24-4AF0-9562-375B6575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指标同名也可能使用不同分母，比较前先核对口径。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2995F304-0941-42A6-8149-8685B7BD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2C01FBD-63AC-464E-B9F1-CA8D1979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DC74C64-0569-4219-B230-070396D2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8" name="glossary-name-0">
            <a:extLst xmlns:a="http://schemas.openxmlformats.org/drawingml/2006/main">
              <a:ext uri="{FF2B5EF4-FFF2-40B4-BE49-F238E27FC236}">
                <a16:creationId xmlns:a16="http://schemas.microsoft.com/office/drawing/2014/main" id="{4DB390FF-E774-409F-8FC2-CAC9A36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PV / UV</a:t>
            </a:r>
          </a:p>
        </p:txBody>
      </p:sp>
      <p:sp>
        <p:nvSpPr>
          <p:cNvPr id="9" name="glossary-def-0">
            <a:extLst xmlns:a="http://schemas.openxmlformats.org/drawingml/2006/main">
              <a:ext uri="{FF2B5EF4-FFF2-40B4-BE49-F238E27FC236}">
                <a16:creationId xmlns:a16="http://schemas.microsoft.com/office/drawing/2014/main" id="{DC64731A-1B21-4BBE-BAB0-D19E9E05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4953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PV 是浏览次数；UV 是去重浏览人数。</a:t>
            </a:r>
          </a:p>
        </p:txBody>
      </p:sp>
      <p:sp>
        <p:nvSpPr>
          <p:cNvPr id="10" name="glossary-caveat-0">
            <a:extLst xmlns:a="http://schemas.openxmlformats.org/drawingml/2006/main">
              <a:ext uri="{FF2B5EF4-FFF2-40B4-BE49-F238E27FC236}">
                <a16:creationId xmlns:a16="http://schemas.microsoft.com/office/drawing/2014/main" id="{5678990D-D47C-494F-99AF-0E441AC2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同一人多次浏览会增加 PV。</a:t>
            </a:r>
          </a:p>
        </p:txBody>
      </p:sp>
      <p:sp>
        <p:nvSpPr>
          <p:cNvPr id="11" name="rule-78-286">
            <a:extLst xmlns:a="http://schemas.openxmlformats.org/drawingml/2006/main">
              <a:ext uri="{FF2B5EF4-FFF2-40B4-BE49-F238E27FC236}">
                <a16:creationId xmlns:a16="http://schemas.microsoft.com/office/drawing/2014/main" id="{AE395FFC-E44D-4A01-9329-A7DCF6C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lossary-name-1">
            <a:extLst xmlns:a="http://schemas.openxmlformats.org/drawingml/2006/main">
              <a:ext uri="{FF2B5EF4-FFF2-40B4-BE49-F238E27FC236}">
                <a16:creationId xmlns:a16="http://schemas.microsoft.com/office/drawing/2014/main" id="{614F569C-5A8D-4FCD-8BE2-1043877D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入口曝光 / 点击率</a:t>
            </a:r>
          </a:p>
        </p:txBody>
      </p:sp>
      <p:sp>
        <p:nvSpPr>
          <p:cNvPr id="13" name="glossary-def-1">
            <a:extLst xmlns:a="http://schemas.openxmlformats.org/drawingml/2006/main">
              <a:ext uri="{FF2B5EF4-FFF2-40B4-BE49-F238E27FC236}">
                <a16:creationId xmlns:a16="http://schemas.microsoft.com/office/drawing/2014/main" id="{1005109F-5189-413F-B372-052C66B7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4953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点击率 = 入口点击 ÷ 入口曝光。</a:t>
            </a:r>
          </a:p>
        </p:txBody>
      </p:sp>
      <p:sp>
        <p:nvSpPr>
          <p:cNvPr id="14" name="glossary-caveat-1">
            <a:extLst xmlns:a="http://schemas.openxmlformats.org/drawingml/2006/main">
              <a:ext uri="{FF2B5EF4-FFF2-40B4-BE49-F238E27FC236}">
                <a16:creationId xmlns:a16="http://schemas.microsoft.com/office/drawing/2014/main" id="{A54DF5FE-1477-476A-B4C9-5447C3D9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无曝光时比例为空；不同入口口径不同。</a:t>
            </a:r>
          </a:p>
        </p:txBody>
      </p:sp>
      <p:sp>
        <p:nvSpPr>
          <p:cNvPr id="15" name="rule-78-388">
            <a:extLst xmlns:a="http://schemas.openxmlformats.org/drawingml/2006/main">
              <a:ext uri="{FF2B5EF4-FFF2-40B4-BE49-F238E27FC236}">
                <a16:creationId xmlns:a16="http://schemas.microsoft.com/office/drawing/2014/main" id="{0209F1A0-D4FD-4455-82E7-C2D6B98A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lossary-name-2">
            <a:extLst xmlns:a="http://schemas.openxmlformats.org/drawingml/2006/main">
              <a:ext uri="{FF2B5EF4-FFF2-40B4-BE49-F238E27FC236}">
                <a16:creationId xmlns:a16="http://schemas.microsoft.com/office/drawing/2014/main" id="{444955C3-8153-48D6-97B5-559B9961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内容点击率</a:t>
            </a:r>
          </a:p>
        </p:txBody>
      </p:sp>
      <p:sp>
        <p:nvSpPr>
          <p:cNvPr id="17" name="glossary-def-2">
            <a:extLst xmlns:a="http://schemas.openxmlformats.org/drawingml/2006/main">
              <a:ext uri="{FF2B5EF4-FFF2-40B4-BE49-F238E27FC236}">
                <a16:creationId xmlns:a16="http://schemas.microsoft.com/office/drawing/2014/main" id="{A3648F8A-C977-4F1E-A2F7-83789C6B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81450"/>
            <a:ext cx="4953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内容在频道入口的点击 ÷ 这些入口曝光。</a:t>
            </a:r>
          </a:p>
        </p:txBody>
      </p:sp>
      <p:sp>
        <p:nvSpPr>
          <p:cNvPr id="18" name="glossary-caveat-2">
            <a:extLst xmlns:a="http://schemas.openxmlformats.org/drawingml/2006/main">
              <a:ext uri="{FF2B5EF4-FFF2-40B4-BE49-F238E27FC236}">
                <a16:creationId xmlns:a16="http://schemas.microsoft.com/office/drawing/2014/main" id="{12F0E76C-92E0-4A52-B839-69456616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搜索、分享浏览不计入入口曝光。</a:t>
            </a:r>
          </a:p>
        </p:txBody>
      </p:sp>
      <p:sp>
        <p:nvSpPr>
          <p:cNvPr id="19" name="rule-78-490">
            <a:extLst xmlns:a="http://schemas.openxmlformats.org/drawingml/2006/main">
              <a:ext uri="{FF2B5EF4-FFF2-40B4-BE49-F238E27FC236}">
                <a16:creationId xmlns:a16="http://schemas.microsoft.com/office/drawing/2014/main" id="{C4AC0706-4465-46BD-85D8-B2BFF84E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lossary-name-3">
            <a:extLst xmlns:a="http://schemas.openxmlformats.org/drawingml/2006/main">
              <a:ext uri="{FF2B5EF4-FFF2-40B4-BE49-F238E27FC236}">
                <a16:creationId xmlns:a16="http://schemas.microsoft.com/office/drawing/2014/main" id="{3F92B29E-53C1-4230-9925-F14DC213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互动率</a:t>
            </a:r>
          </a:p>
        </p:txBody>
      </p:sp>
      <p:sp>
        <p:nvSpPr>
          <p:cNvPr id="21" name="glossary-def-3">
            <a:extLst xmlns:a="http://schemas.openxmlformats.org/drawingml/2006/main">
              <a:ext uri="{FF2B5EF4-FFF2-40B4-BE49-F238E27FC236}">
                <a16:creationId xmlns:a16="http://schemas.microsoft.com/office/drawing/2014/main" id="{FEFE9CE6-4C30-4393-BD31-77FD6FB9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53000"/>
            <a:ext cx="4953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点赞、评论、收藏、转发次数 ÷ 内容 PV。</a:t>
            </a:r>
          </a:p>
        </p:txBody>
      </p:sp>
      <p:sp>
        <p:nvSpPr>
          <p:cNvPr id="22" name="glossary-caveat-3">
            <a:extLst xmlns:a="http://schemas.openxmlformats.org/drawingml/2006/main">
              <a:ext uri="{FF2B5EF4-FFF2-40B4-BE49-F238E27FC236}">
                <a16:creationId xmlns:a16="http://schemas.microsoft.com/office/drawing/2014/main" id="{1CF11E22-9D34-45C5-890F-74FC6723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互动与浏览按发生日期汇总，并非逐次配对。</a:t>
            </a:r>
          </a:p>
        </p:txBody>
      </p:sp>
      <p:sp>
        <p:nvSpPr>
          <p:cNvPr id="23" name="rule-78-592">
            <a:extLst xmlns:a="http://schemas.openxmlformats.org/drawingml/2006/main">
              <a:ext uri="{FF2B5EF4-FFF2-40B4-BE49-F238E27FC236}">
                <a16:creationId xmlns:a16="http://schemas.microsoft.com/office/drawing/2014/main" id="{76C13039-8586-4A3A-A0EA-FE743F25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085860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462EF27-94BD-4638-8CC0-1F4729C9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指标字典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E0DF4A-A766-480E-B41E-CB7EC171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E506D9-6FDA-44E5-B1E6-52816E88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常用指标速查｜来源与集中度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C852CB-6A67-447B-A26D-9B2313D9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比例用于理解结构；需要结合绝对量、统计对象和样本范围。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D3F8B7D6-E73F-4B6D-84A7-005BD055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D488F17-FED6-4D2C-85C3-8460587F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A4C8E9C-D377-463E-83EE-38E21B17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  <p:sp>
        <p:nvSpPr>
          <p:cNvPr id="8" name="glossary2-name-0">
            <a:extLst xmlns:a="http://schemas.openxmlformats.org/drawingml/2006/main">
              <a:ext uri="{FF2B5EF4-FFF2-40B4-BE49-F238E27FC236}">
                <a16:creationId xmlns:a16="http://schemas.microsoft.com/office/drawing/2014/main" id="{C9920A12-2EF9-4029-A1E9-4511F50C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自主分发占比</a:t>
            </a:r>
          </a:p>
        </p:txBody>
      </p:sp>
      <p:sp>
        <p:nvSpPr>
          <p:cNvPr id="9" name="glossary2-def-0">
            <a:extLst xmlns:a="http://schemas.openxmlformats.org/drawingml/2006/main">
              <a:ext uri="{FF2B5EF4-FFF2-40B4-BE49-F238E27FC236}">
                <a16:creationId xmlns:a16="http://schemas.microsoft.com/office/drawing/2014/main" id="{ECCC2E67-EC2C-4EF3-9489-B98C40D4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领域自主入口 PV ÷ 领域内容全部 PV。</a:t>
            </a:r>
          </a:p>
        </p:txBody>
      </p:sp>
      <p:sp>
        <p:nvSpPr>
          <p:cNvPr id="10" name="glossary2-caveat-0">
            <a:extLst xmlns:a="http://schemas.openxmlformats.org/drawingml/2006/main">
              <a:ext uri="{FF2B5EF4-FFF2-40B4-BE49-F238E27FC236}">
                <a16:creationId xmlns:a16="http://schemas.microsoft.com/office/drawing/2014/main" id="{70750640-D03C-4C08-A0B2-03988EAB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是 PV 来源占比，不是点击率。</a:t>
            </a:r>
          </a:p>
        </p:txBody>
      </p:sp>
      <p:sp>
        <p:nvSpPr>
          <p:cNvPr id="11" name="rule-78-286">
            <a:extLst xmlns:a="http://schemas.openxmlformats.org/drawingml/2006/main">
              <a:ext uri="{FF2B5EF4-FFF2-40B4-BE49-F238E27FC236}">
                <a16:creationId xmlns:a16="http://schemas.microsoft.com/office/drawing/2014/main" id="{493C9611-94BD-4872-A93D-9C31F775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lossary2-name-1">
            <a:extLst xmlns:a="http://schemas.openxmlformats.org/drawingml/2006/main">
              <a:ext uri="{FF2B5EF4-FFF2-40B4-BE49-F238E27FC236}">
                <a16:creationId xmlns:a16="http://schemas.microsoft.com/office/drawing/2014/main" id="{D33FABB4-F4D8-4CE0-9F68-AC4B0F30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综合依赖度</a:t>
            </a:r>
          </a:p>
        </p:txBody>
      </p:sp>
      <p:sp>
        <p:nvSpPr>
          <p:cNvPr id="13" name="glossary2-def-1">
            <a:extLst xmlns:a="http://schemas.openxmlformats.org/drawingml/2006/main">
              <a:ext uri="{FF2B5EF4-FFF2-40B4-BE49-F238E27FC236}">
                <a16:creationId xmlns:a16="http://schemas.microsoft.com/office/drawing/2014/main" id="{11DA9EB5-F38E-4623-8AB3-A68A1E62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综合入口带来的领域内容 PV ÷ 领域内容全部 PV。</a:t>
            </a:r>
          </a:p>
        </p:txBody>
      </p:sp>
      <p:sp>
        <p:nvSpPr>
          <p:cNvPr id="14" name="glossary2-caveat-1">
            <a:extLst xmlns:a="http://schemas.openxmlformats.org/drawingml/2006/main">
              <a:ext uri="{FF2B5EF4-FFF2-40B4-BE49-F238E27FC236}">
                <a16:creationId xmlns:a16="http://schemas.microsoft.com/office/drawing/2014/main" id="{5C47603C-E75D-40AB-A1D3-7DA4D70E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高低本身不代表好坏。</a:t>
            </a:r>
          </a:p>
        </p:txBody>
      </p:sp>
      <p:sp>
        <p:nvSpPr>
          <p:cNvPr id="15" name="rule-78-388">
            <a:extLst xmlns:a="http://schemas.openxmlformats.org/drawingml/2006/main">
              <a:ext uri="{FF2B5EF4-FFF2-40B4-BE49-F238E27FC236}">
                <a16:creationId xmlns:a16="http://schemas.microsoft.com/office/drawing/2014/main" id="{B1E42DC6-76DF-46B1-BA98-210271E0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lossary2-name-2">
            <a:extLst xmlns:a="http://schemas.openxmlformats.org/drawingml/2006/main">
              <a:ext uri="{FF2B5EF4-FFF2-40B4-BE49-F238E27FC236}">
                <a16:creationId xmlns:a16="http://schemas.microsoft.com/office/drawing/2014/main" id="{75036752-1D30-43AB-9714-7E823BDF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头部集中度</a:t>
            </a:r>
          </a:p>
        </p:txBody>
      </p:sp>
      <p:sp>
        <p:nvSpPr>
          <p:cNvPr id="17" name="glossary2-def-2">
            <a:extLst xmlns:a="http://schemas.openxmlformats.org/drawingml/2006/main">
              <a:ext uri="{FF2B5EF4-FFF2-40B4-BE49-F238E27FC236}">
                <a16:creationId xmlns:a16="http://schemas.microsoft.com/office/drawing/2014/main" id="{5568BAD6-28B7-4BEA-9F17-B39EECA8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81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PV 最高单篇内容 PV ÷ 所属对象总 PV。</a:t>
            </a:r>
          </a:p>
        </p:txBody>
      </p:sp>
      <p:sp>
        <p:nvSpPr>
          <p:cNvPr id="18" name="glossary2-caveat-2">
            <a:extLst xmlns:a="http://schemas.openxmlformats.org/drawingml/2006/main">
              <a:ext uri="{FF2B5EF4-FFF2-40B4-BE49-F238E27FC236}">
                <a16:creationId xmlns:a16="http://schemas.microsoft.com/office/drawing/2014/main" id="{0E5B20C9-E15D-46A5-9300-FE5E902C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不是创作者贡献的基尼系数。</a:t>
            </a:r>
          </a:p>
        </p:txBody>
      </p:sp>
      <p:sp>
        <p:nvSpPr>
          <p:cNvPr id="19" name="rule-78-490">
            <a:extLst xmlns:a="http://schemas.openxmlformats.org/drawingml/2006/main">
              <a:ext uri="{FF2B5EF4-FFF2-40B4-BE49-F238E27FC236}">
                <a16:creationId xmlns:a16="http://schemas.microsoft.com/office/drawing/2014/main" id="{9C2E0670-C160-417B-B2AA-323B8258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lossary2-name-3">
            <a:extLst xmlns:a="http://schemas.openxmlformats.org/drawingml/2006/main">
              <a:ext uri="{FF2B5EF4-FFF2-40B4-BE49-F238E27FC236}">
                <a16:creationId xmlns:a16="http://schemas.microsoft.com/office/drawing/2014/main" id="{08F8DABD-DCEF-438F-B285-7AF068E7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基尼系数</a:t>
            </a:r>
          </a:p>
        </p:txBody>
      </p:sp>
      <p:sp>
        <p:nvSpPr>
          <p:cNvPr id="21" name="glossary2-def-3">
            <a:extLst xmlns:a="http://schemas.openxmlformats.org/drawingml/2006/main">
              <a:ext uri="{FF2B5EF4-FFF2-40B4-BE49-F238E27FC236}">
                <a16:creationId xmlns:a16="http://schemas.microsoft.com/office/drawing/2014/main" id="{F62C21E5-56EB-41DF-BD8D-70BA42E0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9530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衡量创作者 PV 分布的不均衡程度。</a:t>
            </a:r>
          </a:p>
        </p:txBody>
      </p:sp>
      <p:sp>
        <p:nvSpPr>
          <p:cNvPr id="22" name="glossary2-caveat-3">
            <a:extLst xmlns:a="http://schemas.openxmlformats.org/drawingml/2006/main">
              <a:ext uri="{FF2B5EF4-FFF2-40B4-BE49-F238E27FC236}">
                <a16:creationId xmlns:a16="http://schemas.microsoft.com/office/drawing/2014/main" id="{FB74A8AC-CEEF-45D1-AF66-DFEEB377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越接近 1 越集中；结合头部作者数一起看。</a:t>
            </a:r>
          </a:p>
        </p:txBody>
      </p:sp>
      <p:sp>
        <p:nvSpPr>
          <p:cNvPr id="23" name="rule-78-592">
            <a:extLst xmlns:a="http://schemas.openxmlformats.org/drawingml/2006/main">
              <a:ext uri="{FF2B5EF4-FFF2-40B4-BE49-F238E27FC236}">
                <a16:creationId xmlns:a16="http://schemas.microsoft.com/office/drawing/2014/main" id="{1E6853D5-FF0D-4E45-A868-498BFDED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46597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E0F06C3-9A0C-4CC9-8DE1-BC630E8C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运营分析平台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D6EE1A-D451-43D5-B695-7AD0576D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709364-C46B-4223-AFEF-2ED16E48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落地前要补齐的数据与协作机制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5E9DA36-AD7E-438D-9048-6EFEA3EA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项目是模拟与验证参考环境，不是生产数据接入。</a:t>
            </a:r>
          </a:p>
        </p:txBody>
      </p:sp>
      <p:sp>
        <p:nvSpPr>
          <p:cNvPr id="5" name="rule-70-170">
            <a:extLst xmlns:a="http://schemas.openxmlformats.org/drawingml/2006/main">
              <a:ext uri="{FF2B5EF4-FFF2-40B4-BE49-F238E27FC236}">
                <a16:creationId xmlns:a16="http://schemas.microsoft.com/office/drawing/2014/main" id="{A5C1190A-B091-4582-B0C5-76F2C12D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D97C927-4010-4191-8854-A26FBA76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稼先社区  /  运营分析平台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05C76C-DD60-47FF-9F7F-D8FFE038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B9299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  <p:sp>
        <p:nvSpPr>
          <p:cNvPr id="8" name="limit-num-0">
            <a:extLst xmlns:a="http://schemas.openxmlformats.org/drawingml/2006/main">
              <a:ext uri="{FF2B5EF4-FFF2-40B4-BE49-F238E27FC236}">
                <a16:creationId xmlns:a16="http://schemas.microsoft.com/office/drawing/2014/main" id="{1314E510-25D9-470C-AB8F-FAAD4AF5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limit-title-0">
            <a:extLst xmlns:a="http://schemas.openxmlformats.org/drawingml/2006/main">
              <a:ext uri="{FF2B5EF4-FFF2-40B4-BE49-F238E27FC236}">
                <a16:creationId xmlns:a16="http://schemas.microsoft.com/office/drawing/2014/main" id="{AE47DE37-B566-407C-A20B-9818A5A6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812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核对数据与范围</a:t>
            </a:r>
          </a:p>
        </p:txBody>
      </p:sp>
      <p:sp>
        <p:nvSpPr>
          <p:cNvPr id="10" name="limit-body-0">
            <a:extLst xmlns:a="http://schemas.openxmlformats.org/drawingml/2006/main">
              <a:ext uri="{FF2B5EF4-FFF2-40B4-BE49-F238E27FC236}">
                <a16:creationId xmlns:a16="http://schemas.microsoft.com/office/drawing/2014/main" id="{88E913FD-FF4D-40AB-9254-3849D278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81200"/>
            <a:ext cx="706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模拟完成标记不等于真实埋点。</a:t>
            </a:r>
          </a:p>
        </p:txBody>
      </p:sp>
      <p:sp>
        <p:nvSpPr>
          <p:cNvPr id="11" name="rule-80-266">
            <a:extLst xmlns:a="http://schemas.openxmlformats.org/drawingml/2006/main">
              <a:ext uri="{FF2B5EF4-FFF2-40B4-BE49-F238E27FC236}">
                <a16:creationId xmlns:a16="http://schemas.microsoft.com/office/drawing/2014/main" id="{E65BDE4D-4B27-43FB-9F95-88D07E5F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imit-num-1">
            <a:extLst xmlns:a="http://schemas.openxmlformats.org/drawingml/2006/main">
              <a:ext uri="{FF2B5EF4-FFF2-40B4-BE49-F238E27FC236}">
                <a16:creationId xmlns:a16="http://schemas.microsoft.com/office/drawing/2014/main" id="{E483FCFB-3997-4444-B159-04802C7A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limit-title-1">
            <a:extLst xmlns:a="http://schemas.openxmlformats.org/drawingml/2006/main">
              <a:ext uri="{FF2B5EF4-FFF2-40B4-BE49-F238E27FC236}">
                <a16:creationId xmlns:a16="http://schemas.microsoft.com/office/drawing/2014/main" id="{08481C52-E29D-4778-86C4-4A7CDDFB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建立指标字典</a:t>
            </a:r>
          </a:p>
        </p:txBody>
      </p:sp>
      <p:sp>
        <p:nvSpPr>
          <p:cNvPr id="14" name="limit-body-1">
            <a:extLst xmlns:a="http://schemas.openxmlformats.org/drawingml/2006/main">
              <a:ext uri="{FF2B5EF4-FFF2-40B4-BE49-F238E27FC236}">
                <a16:creationId xmlns:a16="http://schemas.microsoft.com/office/drawing/2014/main" id="{D9B11F6C-52D3-4021-A35D-A72A1EE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62250"/>
            <a:ext cx="706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明确入口、内容、频道、人员、窗口和分母。</a:t>
            </a:r>
          </a:p>
        </p:txBody>
      </p:sp>
      <p:sp>
        <p:nvSpPr>
          <p:cNvPr id="15" name="rule-80-348">
            <a:extLst xmlns:a="http://schemas.openxmlformats.org/drawingml/2006/main">
              <a:ext uri="{FF2B5EF4-FFF2-40B4-BE49-F238E27FC236}">
                <a16:creationId xmlns:a16="http://schemas.microsoft.com/office/drawing/2014/main" id="{973D3103-27EF-4447-ACC7-B940D39F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imit-num-2">
            <a:extLst xmlns:a="http://schemas.openxmlformats.org/drawingml/2006/main">
              <a:ext uri="{FF2B5EF4-FFF2-40B4-BE49-F238E27FC236}">
                <a16:creationId xmlns:a16="http://schemas.microsoft.com/office/drawing/2014/main" id="{176F5C56-FA90-4900-B7CC-F781CC45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limit-title-2">
            <a:extLst xmlns:a="http://schemas.openxmlformats.org/drawingml/2006/main">
              <a:ext uri="{FF2B5EF4-FFF2-40B4-BE49-F238E27FC236}">
                <a16:creationId xmlns:a16="http://schemas.microsoft.com/office/drawing/2014/main" id="{CA900DB6-C25C-48D8-9D1B-53BF88F6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433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补齐真实访问路径</a:t>
            </a:r>
          </a:p>
        </p:txBody>
      </p:sp>
      <p:sp>
        <p:nvSpPr>
          <p:cNvPr id="18" name="limit-body-2">
            <a:extLst xmlns:a="http://schemas.openxmlformats.org/drawingml/2006/main">
              <a:ext uri="{FF2B5EF4-FFF2-40B4-BE49-F238E27FC236}">
                <a16:creationId xmlns:a16="http://schemas.microsoft.com/office/drawing/2014/main" id="{161DF292-D939-4F00-9738-516BF80C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706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需要外部来源、会话标识及事件顺序；30 分钟规则尚未接入。</a:t>
            </a:r>
          </a:p>
        </p:txBody>
      </p:sp>
      <p:sp>
        <p:nvSpPr>
          <p:cNvPr id="19" name="rule-80-430">
            <a:extLst xmlns:a="http://schemas.openxmlformats.org/drawingml/2006/main">
              <a:ext uri="{FF2B5EF4-FFF2-40B4-BE49-F238E27FC236}">
                <a16:creationId xmlns:a16="http://schemas.microsoft.com/office/drawing/2014/main" id="{1E8D5CC1-56D2-46F6-8654-DB5A9349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imit-num-3">
            <a:extLst xmlns:a="http://schemas.openxmlformats.org/drawingml/2006/main">
              <a:ext uri="{FF2B5EF4-FFF2-40B4-BE49-F238E27FC236}">
                <a16:creationId xmlns:a16="http://schemas.microsoft.com/office/drawing/2014/main" id="{BC393312-49D9-411A-91FA-BBB767C0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limit-title-3">
            <a:extLst xmlns:a="http://schemas.openxmlformats.org/drawingml/2006/main">
              <a:ext uri="{FF2B5EF4-FFF2-40B4-BE49-F238E27FC236}">
                <a16:creationId xmlns:a16="http://schemas.microsoft.com/office/drawing/2014/main" id="{0DB2C8F1-EF19-4D4C-8620-134D7B49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建立共同复盘</a:t>
            </a:r>
          </a:p>
        </p:txBody>
      </p:sp>
      <p:sp>
        <p:nvSpPr>
          <p:cNvPr id="22" name="limit-body-3">
            <a:extLst xmlns:a="http://schemas.openxmlformats.org/drawingml/2006/main">
              <a:ext uri="{FF2B5EF4-FFF2-40B4-BE49-F238E27FC236}">
                <a16:creationId xmlns:a16="http://schemas.microsoft.com/office/drawing/2014/main" id="{5B8F7B63-9B20-4D22-ACD9-9AA358E8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24350"/>
            <a:ext cx="706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全站、综合频道、领域频道与专家运营共同提出假设和行动。</a:t>
            </a:r>
          </a:p>
        </p:txBody>
      </p:sp>
      <p:sp>
        <p:nvSpPr>
          <p:cNvPr id="23" name="rule-80-512">
            <a:extLst xmlns:a="http://schemas.openxmlformats.org/drawingml/2006/main">
              <a:ext uri="{FF2B5EF4-FFF2-40B4-BE49-F238E27FC236}">
                <a16:creationId xmlns:a16="http://schemas.microsoft.com/office/drawing/2014/main" id="{E5AB112C-40A6-4D88-A1EA-91D97925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imit-num-4">
            <a:extLst xmlns:a="http://schemas.openxmlformats.org/drawingml/2006/main">
              <a:ext uri="{FF2B5EF4-FFF2-40B4-BE49-F238E27FC236}">
                <a16:creationId xmlns:a16="http://schemas.microsoft.com/office/drawing/2014/main" id="{6744D1D8-0801-4E33-881C-8E8E41F9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85C3E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5" name="limit-title-4">
            <a:extLst xmlns:a="http://schemas.openxmlformats.org/drawingml/2006/main">
              <a:ext uri="{FF2B5EF4-FFF2-40B4-BE49-F238E27FC236}">
                <a16:creationId xmlns:a16="http://schemas.microsoft.com/office/drawing/2014/main" id="{22A2E2FF-6F5A-46EF-A6AF-5F2101BF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054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02B3A"/>
                </a:solidFill>
                <a:latin typeface="PingFang SC"/>
                <a:ea typeface="PingFang SC"/>
                <a:cs typeface="PingFang SC"/>
              </a:rPr>
              <a:t>尊重业务背景</a:t>
            </a:r>
          </a:p>
        </p:txBody>
      </p:sp>
      <p:sp>
        <p:nvSpPr>
          <p:cNvPr id="26" name="limit-body-4">
            <a:extLst xmlns:a="http://schemas.openxmlformats.org/drawingml/2006/main">
              <a:ext uri="{FF2B5EF4-FFF2-40B4-BE49-F238E27FC236}">
                <a16:creationId xmlns:a16="http://schemas.microsoft.com/office/drawing/2014/main" id="{01E47C07-17F6-44EC-8C2E-DA19543C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05400"/>
            <a:ext cx="7067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17083"/>
                </a:solidFill>
                <a:latin typeface="PingFang SC"/>
                <a:ea typeface="PingFang SC"/>
                <a:cs typeface="PingFang SC"/>
              </a:rPr>
              <a:t>排名、预警和行动前后变化都不能单独证明原因。</a:t>
            </a:r>
          </a:p>
        </p:txBody>
      </p:sp>
      <p:sp>
        <p:nvSpPr>
          <p:cNvPr id="27" name="rule-80-594">
            <a:extLst xmlns:a="http://schemas.openxmlformats.org/drawingml/2006/main">
              <a:ext uri="{FF2B5EF4-FFF2-40B4-BE49-F238E27FC236}">
                <a16:creationId xmlns:a16="http://schemas.microsoft.com/office/drawing/2014/main" id="{68022D0B-EEF4-4E6E-B338-7910F9AB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ose-line">
            <a:extLst xmlns:a="http://schemas.openxmlformats.org/drawingml/2006/main">
              <a:ext uri="{FF2B5EF4-FFF2-40B4-BE49-F238E27FC236}">
                <a16:creationId xmlns:a16="http://schemas.microsoft.com/office/drawing/2014/main" id="{AB7E0009-9A94-43C5-86D8-B92E56B8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83432F"/>
                </a:solidFill>
                <a:latin typeface="PingFang SC"/>
                <a:ea typeface="PingFang SC"/>
                <a:cs typeface="PingFang SC"/>
              </a:rPr>
              <a:t>用数据支持交流与改进，让优质内容更容易被发现，让专家愿意持续分享和讨论。</a:t>
            </a:r>
          </a:p>
        </p:txBody>
      </p:sp>
    </p:spTree>
    <p:extLst>
      <p:ext uri="{BB962C8B-B14F-4D97-AF65-F5344CB8AC3E}">
        <p14:creationId xmlns:p14="http://schemas.microsoft.com/office/powerpoint/2010/main" val="2122211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2026-10-30T03:00:42.3110000Z</dcterms:created>
  <dcterms:modified xsi:type="dcterms:W3CDTF">2026-10-30T03:00:42.3110000Z</dcterms:modified>
</coreProperties>
</file>
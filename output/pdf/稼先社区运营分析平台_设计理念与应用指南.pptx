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0693400" cy="7556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5" Type="http://schemas.openxmlformats.org/officeDocument/2006/relationships/viewProps" Target="viewProps.xml"/><Relationship Id="rId34" Type="http://schemas.openxmlformats.org/officeDocument/2006/relationships/tableStyles" Target="tableStyles.xml"/><Relationship Id="rId33" Type="http://schemas.openxmlformats.org/officeDocument/2006/relationships/presProps" Target="presProps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laviyo.com/customers/case-studies/gourmet-gift-baskets" TargetMode="External"/><Relationship Id="rId2" Type="http://schemas.openxmlformats.org/officeDocument/2006/relationships/hyperlink" Target="GourmetGiftBaskets.com&#65306;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opify.com/blog/rfm-analysis" TargetMode="External"/><Relationship Id="rId2" Type="http://schemas.openxmlformats.org/officeDocument/2006/relationships/hyperlink" Target="https://learn.microsoft.com/en-us/dynamics365/commerce/set-up-rfm-analysis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0693400" cy="7556500"/>
          </a:xfrm>
          <a:prstGeom prst="rect">
            <a:avLst/>
          </a:prstGeom>
          <a:solidFill>
            <a:srgbClr val="17274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302500" y="0"/>
            <a:ext cx="3390900" cy="3746500"/>
            <a:chOff x="0" y="0"/>
            <a:chExt cx="3390900" cy="3746500"/>
          </a:xfrm>
        </p:grpSpPr>
        <p:sp>
          <p:nvSpPr>
            <p:cNvPr id="4" name="path 4"/>
            <p:cNvSpPr/>
            <p:nvPr/>
          </p:nvSpPr>
          <p:spPr>
            <a:xfrm>
              <a:off x="0" y="0"/>
              <a:ext cx="3390900" cy="3746500"/>
            </a:xfrm>
            <a:custGeom>
              <a:avLst/>
              <a:gdLst/>
              <a:ahLst/>
              <a:cxnLst/>
              <a:rect l="0" t="0" r="0" b="0"/>
              <a:pathLst>
                <a:path w="5340" h="5900">
                  <a:moveTo>
                    <a:pt x="6400" y="2700"/>
                  </a:moveTo>
                  <a:cubicBezTo>
                    <a:pt x="6400" y="932"/>
                    <a:pt x="4967" y="-500"/>
                    <a:pt x="3200" y="-500"/>
                  </a:cubicBezTo>
                  <a:cubicBezTo>
                    <a:pt x="1432" y="-500"/>
                    <a:pt x="0" y="932"/>
                    <a:pt x="0" y="2700"/>
                  </a:cubicBezTo>
                  <a:cubicBezTo>
                    <a:pt x="0" y="4467"/>
                    <a:pt x="1432" y="5900"/>
                    <a:pt x="3200" y="5900"/>
                  </a:cubicBezTo>
                  <a:cubicBezTo>
                    <a:pt x="4967" y="5900"/>
                    <a:pt x="6400" y="4467"/>
                    <a:pt x="6400" y="2700"/>
                  </a:cubicBezTo>
                </a:path>
              </a:pathLst>
            </a:custGeom>
            <a:solidFill>
              <a:srgbClr val="24477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" name="path 6"/>
            <p:cNvSpPr/>
            <p:nvPr/>
          </p:nvSpPr>
          <p:spPr>
            <a:xfrm>
              <a:off x="876300" y="317500"/>
              <a:ext cx="2514600" cy="2540000"/>
            </a:xfrm>
            <a:custGeom>
              <a:avLst/>
              <a:gdLst/>
              <a:ahLst/>
              <a:cxnLst/>
              <a:rect l="0" t="0" r="0" b="0"/>
              <a:pathLst>
                <a:path w="3960" h="4000">
                  <a:moveTo>
                    <a:pt x="4000" y="2000"/>
                  </a:moveTo>
                  <a:cubicBezTo>
                    <a:pt x="4000" y="895"/>
                    <a:pt x="3104" y="0"/>
                    <a:pt x="2000" y="0"/>
                  </a:cubicBezTo>
                  <a:cubicBezTo>
                    <a:pt x="895" y="0"/>
                    <a:pt x="0" y="895"/>
                    <a:pt x="0" y="2000"/>
                  </a:cubicBezTo>
                  <a:cubicBezTo>
                    <a:pt x="0" y="3104"/>
                    <a:pt x="895" y="4000"/>
                    <a:pt x="2000" y="4000"/>
                  </a:cubicBezTo>
                  <a:cubicBezTo>
                    <a:pt x="3104" y="4000"/>
                    <a:pt x="4000" y="3104"/>
                    <a:pt x="4000" y="2000"/>
                  </a:cubicBezTo>
                </a:path>
              </a:pathLst>
            </a:custGeom>
            <a:solidFill>
              <a:srgbClr val="2F6F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" name="textbox 8"/>
          <p:cNvSpPr/>
          <p:nvPr/>
        </p:nvSpPr>
        <p:spPr>
          <a:xfrm>
            <a:off x="602691" y="672083"/>
            <a:ext cx="3474084" cy="284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kern="0" spc="-10" dirty="0">
                <a:solidFill>
                  <a:srgbClr val="C4D7F5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</a:t>
            </a:r>
            <a:r>
              <a:rPr sz="1200" kern="0" spc="380" dirty="0">
                <a:solidFill>
                  <a:srgbClr val="C4D7F5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kern="0" spc="-10" dirty="0">
                <a:solidFill>
                  <a:srgbClr val="C4D7F5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/  运营分析平台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86000"/>
              </a:lnSpc>
              <a:spcBef>
                <a:spcPts val="1024"/>
              </a:spcBef>
              <a:tabLst/>
            </a:pPr>
            <a:r>
              <a:rPr sz="3400" kern="0" spc="-40" dirty="0">
                <a:solidFill>
                  <a:srgbClr val="FFFFFF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让差距被看见</a:t>
            </a:r>
            <a:endParaRPr sz="3400" dirty="0">
              <a:latin typeface="Arial Unicode MS"/>
              <a:ea typeface="Arial Unicode MS"/>
              <a:cs typeface="Arial Unicode MS"/>
            </a:endParaRPr>
          </a:p>
          <a:p>
            <a:pPr marL="34925" algn="l" rtl="0" eaLnBrk="0">
              <a:lnSpc>
                <a:spcPct val="87000"/>
              </a:lnSpc>
              <a:spcBef>
                <a:spcPts val="1683"/>
              </a:spcBef>
              <a:tabLst/>
            </a:pPr>
            <a:r>
              <a:rPr sz="3400" kern="0" spc="-30" dirty="0">
                <a:solidFill>
                  <a:srgbClr val="FFFFFF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让运营行动有依据</a:t>
            </a:r>
            <a:endParaRPr sz="34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3180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600" kern="0" spc="-10" dirty="0">
                <a:solidFill>
                  <a:srgbClr val="D7E5FA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设计理念与运营应用指南</a:t>
            </a:r>
            <a:endParaRPr sz="16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622300" y="4064000"/>
            <a:ext cx="5080000" cy="533400"/>
          </a:xfrm>
          <a:prstGeom prst="rect">
            <a:avLst/>
          </a:prstGeom>
          <a:solidFill>
            <a:srgbClr val="6B9E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0820" algn="l" rtl="0" eaLnBrk="0">
              <a:lnSpc>
                <a:spcPct val="86000"/>
              </a:lnSpc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提升全站</a:t>
            </a:r>
            <a:r>
              <a:rPr sz="1300" kern="0" spc="110" dirty="0">
                <a:solidFill>
                  <a:srgbClr val="FFFFFF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  ·  激发专家讨论与交流</a:t>
            </a:r>
            <a:endParaRPr sz="13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616331" y="6432804"/>
            <a:ext cx="2499995" cy="160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tabLst/>
            </a:pPr>
            <a:r>
              <a:rPr sz="1000" kern="0" spc="-10" dirty="0">
                <a:solidFill>
                  <a:srgbClr val="AFC2DE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管理者与社区运营人员参考  |  2026</a:t>
            </a:r>
            <a:r>
              <a:rPr sz="1000" kern="0" spc="70" dirty="0">
                <a:solidFill>
                  <a:srgbClr val="AFC2DE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AFC2DE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年</a:t>
            </a:r>
            <a:r>
              <a:rPr sz="1000" kern="0" spc="110" dirty="0">
                <a:solidFill>
                  <a:srgbClr val="AFC2DE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AFC2DE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</a:t>
            </a:r>
            <a:r>
              <a:rPr sz="1000" kern="0" spc="-20" dirty="0">
                <a:solidFill>
                  <a:srgbClr val="AFC2DE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</a:t>
            </a:r>
            <a:r>
              <a:rPr sz="1000" kern="0" spc="80" dirty="0">
                <a:solidFill>
                  <a:srgbClr val="AFC2DE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20" dirty="0">
                <a:solidFill>
                  <a:srgbClr val="AFC2DE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月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/>
          <p:nvPr/>
        </p:nvSpPr>
        <p:spPr>
          <a:xfrm>
            <a:off x="526063" y="3178403"/>
            <a:ext cx="4528820" cy="2496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6000"/>
              </a:lnSpc>
              <a:tabLst/>
            </a:pPr>
            <a:r>
              <a:rPr sz="1400" kern="0" spc="-1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本指南的四个使用原则</a:t>
            </a:r>
            <a:endParaRPr sz="1400" dirty="0">
              <a:latin typeface="Arial Unicode MS"/>
              <a:ea typeface="Arial Unicode MS"/>
              <a:cs typeface="Arial Unicode MS"/>
            </a:endParaRPr>
          </a:p>
          <a:p>
            <a:pPr marL="13334" algn="l" rtl="0" eaLnBrk="0">
              <a:lnSpc>
                <a:spcPct val="87000"/>
              </a:lnSpc>
              <a:spcBef>
                <a:spcPts val="1365"/>
              </a:spcBef>
              <a:tabLst/>
            </a:pP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01 结果与过程一起看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7145" algn="l" rtl="0" eaLnBrk="0">
              <a:lnSpc>
                <a:spcPct val="88000"/>
              </a:lnSpc>
              <a:spcBef>
                <a:spcPts val="646"/>
              </a:spcBef>
              <a:tabLst/>
            </a:pP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用于观察浏览规模；曝光、点击、互动、留存和创作帮助解释可能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的过程。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spcBef>
                <a:spcPts val="339"/>
              </a:spcBef>
              <a:tabLst/>
            </a:pP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02</a:t>
            </a:r>
            <a:r>
              <a:rPr sz="1100" kern="0" spc="1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晾晒用于发现和交流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22225" algn="l" rtl="0" eaLnBrk="0">
              <a:lnSpc>
                <a:spcPct val="88000"/>
              </a:lnSpc>
              <a:spcBef>
                <a:spcPts val="653"/>
              </a:spcBef>
              <a:tabLst/>
            </a:pP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同类比较为改进提供线索，不把排名或单一分数直接当作部门绩效结论。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spcBef>
                <a:spcPts val="331"/>
              </a:spcBef>
              <a:tabLst/>
            </a:pPr>
            <a:r>
              <a:rPr sz="1100" kern="0" spc="4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03 任何行动都需</a:t>
            </a: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要复盘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8415" algn="l" rtl="0" eaLnBrk="0">
              <a:lnSpc>
                <a:spcPct val="89000"/>
              </a:lnSpc>
              <a:spcBef>
                <a:spcPts val="638"/>
              </a:spcBef>
              <a:tabLst/>
            </a:pPr>
            <a:r>
              <a:rPr sz="1000" kern="0" spc="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先确定基线、目标和观察窗口，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再结合外部因素判断后续变化。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spcBef>
                <a:spcPts val="330"/>
              </a:spcBef>
              <a:tabLst/>
            </a:pPr>
            <a:r>
              <a:rPr sz="1100" kern="0" spc="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04</a:t>
            </a:r>
            <a:r>
              <a:rPr sz="1100" kern="0" spc="17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00" kern="0" spc="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先认清数据边界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本项目是模拟与验证参考环境；截图和案例均不能作为真实社区运营结果。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482600" y="1727200"/>
            <a:ext cx="3175000" cy="1041400"/>
          </a:xfrm>
          <a:prstGeom prst="rect">
            <a:avLst/>
          </a:prstGeom>
          <a:solidFill>
            <a:srgbClr val="F1F5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0655" algn="l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13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管理者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72085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了解整体目标、部门协同和可观察的结果。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3759200" y="1727200"/>
            <a:ext cx="3175000" cy="1041400"/>
          </a:xfrm>
          <a:prstGeom prst="rect">
            <a:avLst/>
          </a:prstGeom>
          <a:solidFill>
            <a:srgbClr val="F1F5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1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0655" algn="l" rtl="0" eaLnBrk="0">
              <a:lnSpc>
                <a:spcPct val="87000"/>
              </a:lnSpc>
              <a:tabLst/>
            </a:pPr>
            <a:r>
              <a:rPr sz="13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频道负责人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58750" algn="l" rtl="0" eaLnBrk="0">
              <a:lnSpc>
                <a:spcPct val="88000"/>
              </a:lnSpc>
              <a:tabLst/>
            </a:pP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比较同类对象，定位内容和分发的差距。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7035800" y="1727200"/>
            <a:ext cx="3175000" cy="1041400"/>
          </a:xfrm>
          <a:prstGeom prst="rect">
            <a:avLst/>
          </a:prstGeom>
          <a:solidFill>
            <a:srgbClr val="F1F5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450" algn="l" rtl="0" eaLnBrk="0">
              <a:lnSpc>
                <a:spcPct val="85000"/>
              </a:lnSpc>
              <a:spcBef>
                <a:spcPts val="5"/>
              </a:spcBef>
              <a:tabLst/>
            </a:pPr>
            <a:r>
              <a:rPr sz="1300" kern="0" spc="-4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网站运营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6845" algn="l" rtl="0" eaLnBrk="0">
              <a:lnSpc>
                <a:spcPct val="88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跨频道追踪用户、作者、内容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与运营任务。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493903" y="731901"/>
            <a:ext cx="3046095" cy="551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10" algn="l" rtl="0" eaLnBrk="0">
              <a:lnSpc>
                <a:spcPct val="85000"/>
              </a:lnSpc>
              <a:tabLst/>
            </a:pPr>
            <a:r>
              <a:rPr sz="2200" kern="0" spc="-5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阅读指南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先看目标与方法，再按自己负责的业务进入相应板块。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02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475691" y="7203237"/>
            <a:ext cx="9138285" cy="132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给管理者和运营人员的共同语言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8" name="path 28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" name="path 30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ath 32"/>
          <p:cNvSpPr/>
          <p:nvPr/>
        </p:nvSpPr>
        <p:spPr>
          <a:xfrm>
            <a:off x="482600" y="1752600"/>
            <a:ext cx="9728200" cy="1244600"/>
          </a:xfrm>
          <a:custGeom>
            <a:avLst/>
            <a:gdLst/>
            <a:ahLst/>
            <a:cxnLst/>
            <a:rect l="0" t="0" r="0" b="0"/>
            <a:pathLst>
              <a:path w="15320" h="1960">
                <a:moveTo>
                  <a:pt x="160" y="1960"/>
                </a:moveTo>
                <a:moveTo>
                  <a:pt x="160" y="1960"/>
                </a:moveTo>
                <a:lnTo>
                  <a:pt x="2744" y="1960"/>
                </a:lnTo>
                <a:cubicBezTo>
                  <a:pt x="2832" y="1960"/>
                  <a:pt x="2904" y="1888"/>
                  <a:pt x="2904" y="1800"/>
                </a:cubicBezTo>
                <a:lnTo>
                  <a:pt x="2904" y="160"/>
                </a:lnTo>
                <a:cubicBezTo>
                  <a:pt x="2904" y="71"/>
                  <a:pt x="2832" y="0"/>
                  <a:pt x="2744" y="0"/>
                </a:cubicBezTo>
                <a:lnTo>
                  <a:pt x="160" y="0"/>
                </a:lnTo>
                <a:cubicBezTo>
                  <a:pt x="71" y="0"/>
                  <a:pt x="0" y="71"/>
                  <a:pt x="0" y="160"/>
                </a:cubicBezTo>
                <a:lnTo>
                  <a:pt x="0" y="1800"/>
                </a:lnTo>
                <a:cubicBezTo>
                  <a:pt x="0" y="1888"/>
                  <a:pt x="71" y="1960"/>
                  <a:pt x="160" y="1960"/>
                </a:cubicBezTo>
              </a:path>
              <a:path w="15320" h="1960">
                <a:moveTo>
                  <a:pt x="3264" y="1960"/>
                </a:moveTo>
                <a:moveTo>
                  <a:pt x="3264" y="1960"/>
                </a:moveTo>
                <a:lnTo>
                  <a:pt x="5848" y="1960"/>
                </a:lnTo>
                <a:cubicBezTo>
                  <a:pt x="5936" y="1960"/>
                  <a:pt x="6008" y="1888"/>
                  <a:pt x="6008" y="1800"/>
                </a:cubicBezTo>
                <a:lnTo>
                  <a:pt x="6008" y="160"/>
                </a:lnTo>
                <a:cubicBezTo>
                  <a:pt x="6008" y="71"/>
                  <a:pt x="5936" y="0"/>
                  <a:pt x="5848" y="0"/>
                </a:cubicBezTo>
                <a:lnTo>
                  <a:pt x="3264" y="0"/>
                </a:lnTo>
                <a:cubicBezTo>
                  <a:pt x="3175" y="0"/>
                  <a:pt x="3104" y="71"/>
                  <a:pt x="3104" y="160"/>
                </a:cubicBezTo>
                <a:lnTo>
                  <a:pt x="3104" y="1800"/>
                </a:lnTo>
                <a:cubicBezTo>
                  <a:pt x="3104" y="1888"/>
                  <a:pt x="3175" y="1960"/>
                  <a:pt x="3264" y="1960"/>
                </a:cubicBezTo>
              </a:path>
              <a:path w="15320" h="1960">
                <a:moveTo>
                  <a:pt x="6368" y="1960"/>
                </a:moveTo>
                <a:moveTo>
                  <a:pt x="6368" y="1960"/>
                </a:moveTo>
                <a:lnTo>
                  <a:pt x="8952" y="1960"/>
                </a:lnTo>
                <a:cubicBezTo>
                  <a:pt x="9040" y="1960"/>
                  <a:pt x="9112" y="1888"/>
                  <a:pt x="9112" y="1800"/>
                </a:cubicBezTo>
                <a:lnTo>
                  <a:pt x="9112" y="160"/>
                </a:lnTo>
                <a:cubicBezTo>
                  <a:pt x="9112" y="71"/>
                  <a:pt x="9040" y="0"/>
                  <a:pt x="8952" y="0"/>
                </a:cubicBezTo>
                <a:lnTo>
                  <a:pt x="6368" y="0"/>
                </a:lnTo>
                <a:cubicBezTo>
                  <a:pt x="6279" y="0"/>
                  <a:pt x="6208" y="71"/>
                  <a:pt x="6208" y="160"/>
                </a:cubicBezTo>
                <a:lnTo>
                  <a:pt x="6208" y="1800"/>
                </a:lnTo>
                <a:cubicBezTo>
                  <a:pt x="6208" y="1888"/>
                  <a:pt x="6279" y="1960"/>
                  <a:pt x="6368" y="1960"/>
                </a:cubicBezTo>
              </a:path>
              <a:path w="15320" h="1960">
                <a:moveTo>
                  <a:pt x="9472" y="1960"/>
                </a:moveTo>
                <a:moveTo>
                  <a:pt x="9472" y="1960"/>
                </a:moveTo>
                <a:lnTo>
                  <a:pt x="12056" y="1960"/>
                </a:lnTo>
                <a:cubicBezTo>
                  <a:pt x="12144" y="1960"/>
                  <a:pt x="12216" y="1888"/>
                  <a:pt x="12216" y="1800"/>
                </a:cubicBezTo>
                <a:lnTo>
                  <a:pt x="12216" y="160"/>
                </a:lnTo>
                <a:cubicBezTo>
                  <a:pt x="12216" y="71"/>
                  <a:pt x="12144" y="0"/>
                  <a:pt x="12056" y="0"/>
                </a:cubicBezTo>
                <a:lnTo>
                  <a:pt x="9472" y="0"/>
                </a:lnTo>
                <a:cubicBezTo>
                  <a:pt x="9383" y="0"/>
                  <a:pt x="9312" y="71"/>
                  <a:pt x="9312" y="160"/>
                </a:cubicBezTo>
                <a:lnTo>
                  <a:pt x="9312" y="1800"/>
                </a:lnTo>
                <a:cubicBezTo>
                  <a:pt x="9312" y="1888"/>
                  <a:pt x="9383" y="1960"/>
                  <a:pt x="9472" y="1960"/>
                </a:cubicBezTo>
              </a:path>
              <a:path w="15320" h="1960">
                <a:moveTo>
                  <a:pt x="12576" y="1960"/>
                </a:moveTo>
                <a:moveTo>
                  <a:pt x="12576" y="1960"/>
                </a:moveTo>
                <a:lnTo>
                  <a:pt x="15160" y="1960"/>
                </a:lnTo>
                <a:cubicBezTo>
                  <a:pt x="15248" y="1960"/>
                  <a:pt x="15320" y="1888"/>
                  <a:pt x="15320" y="1800"/>
                </a:cubicBezTo>
                <a:lnTo>
                  <a:pt x="15320" y="160"/>
                </a:lnTo>
                <a:cubicBezTo>
                  <a:pt x="15320" y="71"/>
                  <a:pt x="15248" y="0"/>
                  <a:pt x="15160" y="0"/>
                </a:cubicBezTo>
                <a:lnTo>
                  <a:pt x="12576" y="0"/>
                </a:lnTo>
                <a:cubicBezTo>
                  <a:pt x="12487" y="0"/>
                  <a:pt x="12416" y="71"/>
                  <a:pt x="12416" y="160"/>
                </a:cubicBezTo>
                <a:lnTo>
                  <a:pt x="12416" y="1800"/>
                </a:lnTo>
                <a:cubicBezTo>
                  <a:pt x="12416" y="1888"/>
                  <a:pt x="12487" y="1960"/>
                  <a:pt x="12576" y="1960"/>
                </a:cubicBezTo>
              </a:path>
            </a:pathLst>
          </a:custGeom>
          <a:solidFill>
            <a:srgbClr val="F3F7F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" name="textbox 34"/>
          <p:cNvSpPr/>
          <p:nvPr/>
        </p:nvSpPr>
        <p:spPr>
          <a:xfrm>
            <a:off x="523328" y="3496437"/>
            <a:ext cx="5186045" cy="1911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355" algn="l" rtl="0" eaLnBrk="0">
              <a:lnSpc>
                <a:spcPct val="86000"/>
              </a:lnSpc>
              <a:tabLst/>
            </a:pPr>
            <a:r>
              <a:rPr sz="1400" kern="0" spc="-6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目标与衡量</a:t>
            </a:r>
            <a:endParaRPr sz="1400" dirty="0">
              <a:latin typeface="Arial Unicode MS"/>
              <a:ea typeface="Arial Unicode MS"/>
              <a:cs typeface="Arial Unicode MS"/>
            </a:endParaRPr>
          </a:p>
          <a:p>
            <a:pPr marL="23495" algn="l" rtl="0" eaLnBrk="0">
              <a:lnSpc>
                <a:spcPct val="86000"/>
              </a:lnSpc>
              <a:spcBef>
                <a:spcPts val="1370"/>
              </a:spcBef>
              <a:tabLst/>
            </a:pP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直接目标：提升全站</a:t>
            </a:r>
            <a:r>
              <a:rPr sz="1100" kern="0" spc="1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00" kern="0" spc="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6510" algn="l" rtl="0" eaLnBrk="0">
              <a:lnSpc>
                <a:spcPct val="89000"/>
              </a:lnSpc>
              <a:spcBef>
                <a:spcPts val="644"/>
              </a:spcBef>
              <a:tabLst/>
            </a:pP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增加有价值内容的浏览， 并观察来自不同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入口和频道的变化。</a:t>
            </a:r>
            <a:r>
              <a:rPr sz="1000" kern="0" spc="-17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1000" kern="0" spc="7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是浏览次数，不是人数。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341"/>
              </a:spcBef>
              <a:tabLst/>
            </a:pPr>
            <a:r>
              <a:rPr sz="1100" kern="0" spc="4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长期目标：激发专家讨论和交流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8415" algn="l" rtl="0" eaLnBrk="0">
              <a:lnSpc>
                <a:spcPct val="89000"/>
              </a:lnSpc>
              <a:spcBef>
                <a:spcPts val="634"/>
              </a:spcBef>
              <a:tabLst/>
            </a:pP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结合互动、</a:t>
            </a:r>
            <a:r>
              <a:rPr sz="1000" kern="0" spc="-6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回访、创作者留存和专业内容供给，观察社区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是否形成持续交流。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33"/>
              </a:spcBef>
              <a:tabLst/>
            </a:pPr>
            <a:r>
              <a:rPr sz="1100" kern="0" spc="4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从差距到改进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9000"/>
              </a:lnSpc>
              <a:spcBef>
                <a:spcPts val="5"/>
              </a:spcBef>
              <a:tabLst/>
            </a:pP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先在合理范围内比较，再沿频道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、</a:t>
            </a:r>
            <a:r>
              <a:rPr sz="1000" kern="0" spc="-16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账号、人员与内容下钻，用运营行动验证假设。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490982" y="730504"/>
            <a:ext cx="3430270" cy="553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6000"/>
              </a:lnSpc>
              <a:tabLst/>
            </a:pPr>
            <a:r>
              <a:rPr sz="2200" kern="0" spc="-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为什么建设这个平台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让运营团队共同回答：</a:t>
            </a: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浏览量如何提升，专业交流如何持续。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03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617943" y="1927555"/>
            <a:ext cx="1776729" cy="560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130" algn="l" rtl="0" eaLnBrk="0">
              <a:lnSpc>
                <a:spcPct val="87000"/>
              </a:lnSpc>
              <a:tabLst/>
            </a:pPr>
            <a:r>
              <a:rPr sz="1200" kern="0" spc="-4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内容供给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marL="12700" algn="l" rtl="0" eaLnBrk="0">
              <a:lnSpc>
                <a:spcPct val="86000"/>
              </a:lnSpc>
              <a:spcBef>
                <a:spcPts val="917"/>
              </a:spcBef>
              <a:tabLst/>
            </a:pPr>
            <a:r>
              <a:rPr sz="900" kern="0" spc="-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专家持续分享文章和视频。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r" rtl="0" eaLnBrk="0">
              <a:lnSpc>
                <a:spcPts val="957"/>
              </a:lnSpc>
              <a:spcBef>
                <a:spcPts val="154"/>
              </a:spcBef>
              <a:tabLst/>
            </a:pPr>
            <a:r>
              <a:rPr sz="16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›</a:t>
            </a:r>
            <a:endParaRPr sz="16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4284878" y="1929688"/>
            <a:ext cx="1764029" cy="558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7655" algn="l" rtl="0" eaLnBrk="0">
              <a:lnSpc>
                <a:spcPct val="86000"/>
              </a:lnSpc>
              <a:tabLst/>
            </a:pPr>
            <a:r>
              <a:rPr sz="12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浏览消费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marL="285115" algn="l" rtl="0" eaLnBrk="0">
              <a:lnSpc>
                <a:spcPct val="87000"/>
              </a:lnSpc>
              <a:spcBef>
                <a:spcPts val="900"/>
              </a:spcBef>
              <a:tabLst/>
            </a:pPr>
            <a:r>
              <a:rPr sz="900" kern="0" spc="-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用户点击、阅读并继续探索。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marL="12700" algn="l" rtl="0" eaLnBrk="0">
              <a:lnSpc>
                <a:spcPts val="957"/>
              </a:lnSpc>
              <a:spcBef>
                <a:spcPts val="156"/>
              </a:spcBef>
              <a:tabLst/>
            </a:pPr>
            <a:r>
              <a:rPr sz="16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›</a:t>
            </a:r>
            <a:endParaRPr sz="16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471728" y="7203948"/>
            <a:ext cx="9142730" cy="13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从目标出发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2586698" y="1930298"/>
            <a:ext cx="1505585" cy="577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035" algn="l" rtl="0" eaLnBrk="0">
              <a:lnSpc>
                <a:spcPct val="86000"/>
              </a:lnSpc>
              <a:tabLst/>
            </a:pPr>
            <a:r>
              <a:rPr sz="1200" kern="0" spc="-4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内容分发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marL="12700" algn="l" rtl="0" eaLnBrk="0">
              <a:lnSpc>
                <a:spcPct val="78000"/>
              </a:lnSpc>
              <a:spcBef>
                <a:spcPts val="891"/>
              </a:spcBef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综合与领域入口让内容被发现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marL="15875" algn="l" rtl="0" eaLnBrk="0">
              <a:lnSpc>
                <a:spcPts val="1382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8498904" y="1929079"/>
            <a:ext cx="1492250" cy="417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6000"/>
              </a:lnSpc>
              <a:tabLst/>
            </a:pPr>
            <a:r>
              <a:rPr sz="12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再次贡献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900" kern="0" spc="-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有价值的反馈带来持</a:t>
            </a:r>
            <a:r>
              <a:rPr sz="900" kern="0" spc="-4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续创作。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6528435" y="2202116"/>
            <a:ext cx="1505585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点赞、评论、分享与观点碰撞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3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10" algn="l" rtl="0" eaLnBrk="0">
              <a:lnSpc>
                <a:spcPts val="292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2" name="path 52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" name="path 54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textbox 56"/>
          <p:cNvSpPr/>
          <p:nvPr/>
        </p:nvSpPr>
        <p:spPr>
          <a:xfrm>
            <a:off x="6534150" y="1930908"/>
            <a:ext cx="623570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讨论交流</a:t>
            </a:r>
            <a:endParaRPr sz="12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6255918" y="2340660"/>
            <a:ext cx="80645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57"/>
              </a:lnSpc>
              <a:tabLst/>
            </a:pPr>
            <a:r>
              <a:rPr sz="16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›</a:t>
            </a:r>
            <a:endParaRPr sz="16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8226958" y="2340660"/>
            <a:ext cx="80645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57"/>
              </a:lnSpc>
              <a:tabLst/>
            </a:pPr>
            <a:r>
              <a:rPr sz="16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›</a:t>
            </a:r>
            <a:endParaRPr sz="1600" dirty="0">
              <a:latin typeface="Arial Unicode MS"/>
              <a:ea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ath 62"/>
          <p:cNvSpPr/>
          <p:nvPr/>
        </p:nvSpPr>
        <p:spPr>
          <a:xfrm>
            <a:off x="482600" y="1803400"/>
            <a:ext cx="9728200" cy="1244600"/>
          </a:xfrm>
          <a:custGeom>
            <a:avLst/>
            <a:gdLst/>
            <a:ahLst/>
            <a:cxnLst/>
            <a:rect l="0" t="0" r="0" b="0"/>
            <a:pathLst>
              <a:path w="15320" h="1960">
                <a:moveTo>
                  <a:pt x="160" y="1960"/>
                </a:moveTo>
                <a:moveTo>
                  <a:pt x="160" y="1960"/>
                </a:moveTo>
                <a:lnTo>
                  <a:pt x="2744" y="1960"/>
                </a:lnTo>
                <a:cubicBezTo>
                  <a:pt x="2832" y="1960"/>
                  <a:pt x="2904" y="1888"/>
                  <a:pt x="2904" y="1800"/>
                </a:cubicBezTo>
                <a:lnTo>
                  <a:pt x="2904" y="160"/>
                </a:lnTo>
                <a:cubicBezTo>
                  <a:pt x="2904" y="71"/>
                  <a:pt x="2832" y="0"/>
                  <a:pt x="2744" y="0"/>
                </a:cubicBezTo>
                <a:lnTo>
                  <a:pt x="160" y="0"/>
                </a:lnTo>
                <a:cubicBezTo>
                  <a:pt x="71" y="0"/>
                  <a:pt x="0" y="71"/>
                  <a:pt x="0" y="160"/>
                </a:cubicBezTo>
                <a:lnTo>
                  <a:pt x="0" y="1800"/>
                </a:lnTo>
                <a:cubicBezTo>
                  <a:pt x="0" y="1888"/>
                  <a:pt x="71" y="1960"/>
                  <a:pt x="160" y="1960"/>
                </a:cubicBezTo>
              </a:path>
              <a:path w="15320" h="1960">
                <a:moveTo>
                  <a:pt x="3264" y="1960"/>
                </a:moveTo>
                <a:moveTo>
                  <a:pt x="3264" y="1960"/>
                </a:moveTo>
                <a:lnTo>
                  <a:pt x="5848" y="1960"/>
                </a:lnTo>
                <a:cubicBezTo>
                  <a:pt x="5936" y="1960"/>
                  <a:pt x="6008" y="1888"/>
                  <a:pt x="6008" y="1800"/>
                </a:cubicBezTo>
                <a:lnTo>
                  <a:pt x="6008" y="160"/>
                </a:lnTo>
                <a:cubicBezTo>
                  <a:pt x="6008" y="71"/>
                  <a:pt x="5936" y="0"/>
                  <a:pt x="5848" y="0"/>
                </a:cubicBezTo>
                <a:lnTo>
                  <a:pt x="3264" y="0"/>
                </a:lnTo>
                <a:cubicBezTo>
                  <a:pt x="3175" y="0"/>
                  <a:pt x="3104" y="71"/>
                  <a:pt x="3104" y="160"/>
                </a:cubicBezTo>
                <a:lnTo>
                  <a:pt x="3104" y="1800"/>
                </a:lnTo>
                <a:cubicBezTo>
                  <a:pt x="3104" y="1888"/>
                  <a:pt x="3175" y="1960"/>
                  <a:pt x="3264" y="1960"/>
                </a:cubicBezTo>
              </a:path>
              <a:path w="15320" h="1960">
                <a:moveTo>
                  <a:pt x="6368" y="1960"/>
                </a:moveTo>
                <a:moveTo>
                  <a:pt x="6368" y="1960"/>
                </a:moveTo>
                <a:lnTo>
                  <a:pt x="8952" y="1960"/>
                </a:lnTo>
                <a:cubicBezTo>
                  <a:pt x="9040" y="1960"/>
                  <a:pt x="9112" y="1888"/>
                  <a:pt x="9112" y="1800"/>
                </a:cubicBezTo>
                <a:lnTo>
                  <a:pt x="9112" y="160"/>
                </a:lnTo>
                <a:cubicBezTo>
                  <a:pt x="9112" y="71"/>
                  <a:pt x="9040" y="0"/>
                  <a:pt x="8952" y="0"/>
                </a:cubicBezTo>
                <a:lnTo>
                  <a:pt x="6368" y="0"/>
                </a:lnTo>
                <a:cubicBezTo>
                  <a:pt x="6279" y="0"/>
                  <a:pt x="6208" y="71"/>
                  <a:pt x="6208" y="160"/>
                </a:cubicBezTo>
                <a:lnTo>
                  <a:pt x="6208" y="1800"/>
                </a:lnTo>
                <a:cubicBezTo>
                  <a:pt x="6208" y="1888"/>
                  <a:pt x="6279" y="1960"/>
                  <a:pt x="6368" y="1960"/>
                </a:cubicBezTo>
              </a:path>
              <a:path w="15320" h="1960">
                <a:moveTo>
                  <a:pt x="9472" y="1960"/>
                </a:moveTo>
                <a:moveTo>
                  <a:pt x="9472" y="1960"/>
                </a:moveTo>
                <a:lnTo>
                  <a:pt x="12056" y="1960"/>
                </a:lnTo>
                <a:cubicBezTo>
                  <a:pt x="12144" y="1960"/>
                  <a:pt x="12216" y="1888"/>
                  <a:pt x="12216" y="1800"/>
                </a:cubicBezTo>
                <a:lnTo>
                  <a:pt x="12216" y="160"/>
                </a:lnTo>
                <a:cubicBezTo>
                  <a:pt x="12216" y="71"/>
                  <a:pt x="12144" y="0"/>
                  <a:pt x="12056" y="0"/>
                </a:cubicBezTo>
                <a:lnTo>
                  <a:pt x="9472" y="0"/>
                </a:lnTo>
                <a:cubicBezTo>
                  <a:pt x="9383" y="0"/>
                  <a:pt x="9312" y="71"/>
                  <a:pt x="9312" y="160"/>
                </a:cubicBezTo>
                <a:lnTo>
                  <a:pt x="9312" y="1800"/>
                </a:lnTo>
                <a:cubicBezTo>
                  <a:pt x="9312" y="1888"/>
                  <a:pt x="9383" y="1960"/>
                  <a:pt x="9472" y="1960"/>
                </a:cubicBezTo>
              </a:path>
              <a:path w="15320" h="1960">
                <a:moveTo>
                  <a:pt x="12576" y="1960"/>
                </a:moveTo>
                <a:moveTo>
                  <a:pt x="12576" y="1960"/>
                </a:moveTo>
                <a:lnTo>
                  <a:pt x="15160" y="1960"/>
                </a:lnTo>
                <a:cubicBezTo>
                  <a:pt x="15248" y="1960"/>
                  <a:pt x="15320" y="1888"/>
                  <a:pt x="15320" y="1800"/>
                </a:cubicBezTo>
                <a:lnTo>
                  <a:pt x="15320" y="160"/>
                </a:lnTo>
                <a:cubicBezTo>
                  <a:pt x="15320" y="71"/>
                  <a:pt x="15248" y="0"/>
                  <a:pt x="15160" y="0"/>
                </a:cubicBezTo>
                <a:lnTo>
                  <a:pt x="12576" y="0"/>
                </a:lnTo>
                <a:cubicBezTo>
                  <a:pt x="12487" y="0"/>
                  <a:pt x="12416" y="71"/>
                  <a:pt x="12416" y="160"/>
                </a:cubicBezTo>
                <a:lnTo>
                  <a:pt x="12416" y="1800"/>
                </a:lnTo>
                <a:cubicBezTo>
                  <a:pt x="12416" y="1888"/>
                  <a:pt x="12487" y="1960"/>
                  <a:pt x="12576" y="1960"/>
                </a:cubicBezTo>
              </a:path>
            </a:pathLst>
          </a:custGeom>
          <a:solidFill>
            <a:srgbClr val="F3F7F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textbox 64"/>
          <p:cNvSpPr/>
          <p:nvPr/>
        </p:nvSpPr>
        <p:spPr>
          <a:xfrm>
            <a:off x="523054" y="3546348"/>
            <a:ext cx="5106670" cy="1912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940" algn="l" rtl="0" eaLnBrk="0">
              <a:lnSpc>
                <a:spcPct val="86000"/>
              </a:lnSpc>
              <a:tabLst/>
            </a:pPr>
            <a:r>
              <a:rPr sz="14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三个设计重点</a:t>
            </a:r>
            <a:endParaRPr sz="1400" dirty="0">
              <a:latin typeface="Arial Unicode MS"/>
              <a:ea typeface="Arial Unicode MS"/>
              <a:cs typeface="Arial Unicode MS"/>
            </a:endParaRPr>
          </a:p>
          <a:p>
            <a:pPr marL="18415" algn="l" rtl="0" eaLnBrk="0">
              <a:lnSpc>
                <a:spcPct val="86000"/>
              </a:lnSpc>
              <a:spcBef>
                <a:spcPts val="1376"/>
              </a:spcBef>
              <a:tabLst/>
            </a:pP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统一范围再比较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r" rtl="0" eaLnBrk="0">
              <a:lnSpc>
                <a:spcPct val="87000"/>
              </a:lnSpc>
              <a:spcBef>
                <a:spcPts val="654"/>
              </a:spcBef>
              <a:tabLst/>
            </a:pP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核对时间、对象类型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、指标分母以及是否为同类频道。比较时同时展示比例和绝对数量。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6000"/>
              </a:lnSpc>
              <a:spcBef>
                <a:spcPts val="334"/>
              </a:spcBef>
              <a:tabLst/>
            </a:pPr>
            <a:r>
              <a:rPr sz="1100" kern="0" spc="4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把汇总连接到明细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2700" algn="l" rtl="0" eaLnBrk="0">
              <a:lnSpc>
                <a:spcPct val="88000"/>
              </a:lnSpc>
              <a:spcBef>
                <a:spcPts val="653"/>
              </a:spcBef>
              <a:tabLst/>
            </a:pPr>
            <a:r>
              <a:rPr sz="1000" kern="0" spc="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从全站</a:t>
            </a:r>
            <a:r>
              <a:rPr sz="1000" kern="0" spc="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1000" kern="0" spc="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找到频道，再看账号、作者及文章和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视频，避免在总量上猜原因。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035" algn="l" rtl="0" eaLnBrk="0">
              <a:lnSpc>
                <a:spcPct val="87000"/>
              </a:lnSpc>
              <a:spcBef>
                <a:spcPts val="331"/>
              </a:spcBef>
              <a:tabLst/>
            </a:pP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围绕运营问题组织协作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9000"/>
              </a:lnSpc>
              <a:spcBef>
                <a:spcPts val="3"/>
              </a:spcBef>
              <a:tabLst/>
            </a:pPr>
            <a:r>
              <a:rPr sz="1000" kern="0" spc="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综合入口、领域内容、作者支持和用户运营各有职责，通过共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同口径讨论改进机会。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489737" y="730224"/>
            <a:ext cx="3177540" cy="553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200" kern="0" spc="-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平台的设计主线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7"/>
              </a:spcBef>
              <a:tabLst/>
            </a:pP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不是只给出一个排名，而是提供从观察到行动的工具箱。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04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482193" y="7203948"/>
            <a:ext cx="9131935" cy="13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一套可反复使用的运营闭环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614172" y="1979879"/>
            <a:ext cx="1506855" cy="600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6000"/>
              </a:lnSpc>
              <a:tabLst/>
            </a:pPr>
            <a:r>
              <a:rPr sz="12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01</a:t>
            </a:r>
            <a:r>
              <a:rPr sz="1200" kern="0" spc="10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晾晒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8415" indent="-5715" algn="l" rtl="0" eaLnBrk="0">
              <a:lnSpc>
                <a:spcPct val="132000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全站、频道与同类对象并排展</a:t>
            </a:r>
            <a:r>
              <a:rPr sz="900" kern="0" spc="-6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示。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6525920" y="1979421"/>
            <a:ext cx="1508125" cy="579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6000"/>
              </a:lnSpc>
              <a:tabLst/>
            </a:pPr>
            <a:r>
              <a:rPr sz="12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04</a:t>
            </a:r>
            <a:r>
              <a:rPr sz="1200" kern="0" spc="8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行动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marL="12700" algn="l" rtl="0" eaLnBrk="0">
              <a:lnSpc>
                <a:spcPct val="78000"/>
              </a:lnSpc>
              <a:spcBef>
                <a:spcPts val="910"/>
              </a:spcBef>
              <a:tabLst/>
            </a:pP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选题、推荐、活动或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支持作者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marL="19050" algn="l" rtl="0" eaLnBrk="0">
              <a:lnSpc>
                <a:spcPts val="1371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8499018" y="1981555"/>
            <a:ext cx="1506220" cy="577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5000"/>
              </a:lnSpc>
              <a:tabLst/>
            </a:pPr>
            <a:r>
              <a:rPr sz="12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05</a:t>
            </a:r>
            <a:r>
              <a:rPr sz="1200" kern="0" spc="8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复盘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marL="12700" algn="l" rtl="0" eaLnBrk="0">
              <a:lnSpc>
                <a:spcPct val="77000"/>
              </a:lnSpc>
              <a:spcBef>
                <a:spcPts val="922"/>
              </a:spcBef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跟踪目标、变化与必要的对照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marL="17145" algn="l" rtl="0" eaLnBrk="0">
              <a:lnSpc>
                <a:spcPts val="1371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4558538" y="1981098"/>
            <a:ext cx="1504950" cy="577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03</a:t>
            </a:r>
            <a:r>
              <a:rPr sz="1200" kern="0" spc="7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理解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marL="13334" algn="l" rtl="0" eaLnBrk="0">
              <a:lnSpc>
                <a:spcPct val="79000"/>
              </a:lnSpc>
              <a:spcBef>
                <a:spcPts val="895"/>
              </a:spcBef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结合用户、专家、互动与供给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marL="15240" algn="l" rtl="0" eaLnBrk="0">
              <a:lnSpc>
                <a:spcPts val="1371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2587498" y="1982165"/>
            <a:ext cx="1504950" cy="577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02</a:t>
            </a:r>
            <a:r>
              <a:rPr sz="1200" kern="0" spc="7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定位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marL="12700" algn="l" rtl="0" eaLnBrk="0">
              <a:lnSpc>
                <a:spcPct val="78000"/>
              </a:lnSpc>
              <a:spcBef>
                <a:spcPts val="909"/>
              </a:spcBef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分解来源、频道、账号和内容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marL="15240" algn="l" rtl="0" eaLnBrk="0">
              <a:lnSpc>
                <a:spcPts val="1371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82" name="path 82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path 84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" name="textbox 86"/>
          <p:cNvSpPr/>
          <p:nvPr/>
        </p:nvSpPr>
        <p:spPr>
          <a:xfrm>
            <a:off x="2313838" y="2391460"/>
            <a:ext cx="80645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57"/>
              </a:lnSpc>
              <a:tabLst/>
            </a:pPr>
            <a:r>
              <a:rPr sz="16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›</a:t>
            </a:r>
            <a:endParaRPr sz="16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4284878" y="2391460"/>
            <a:ext cx="80645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57"/>
              </a:lnSpc>
              <a:tabLst/>
            </a:pPr>
            <a:r>
              <a:rPr sz="16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›</a:t>
            </a:r>
            <a:endParaRPr sz="16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6255918" y="2391460"/>
            <a:ext cx="80645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57"/>
              </a:lnSpc>
              <a:tabLst/>
            </a:pPr>
            <a:r>
              <a:rPr sz="16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›</a:t>
            </a:r>
            <a:endParaRPr sz="16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8226958" y="2391460"/>
            <a:ext cx="80645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57"/>
              </a:lnSpc>
              <a:tabLst/>
            </a:pPr>
            <a:r>
              <a:rPr sz="16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›</a:t>
            </a:r>
            <a:endParaRPr sz="1600" dirty="0">
              <a:latin typeface="Arial Unicode MS"/>
              <a:ea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ath 94"/>
          <p:cNvSpPr/>
          <p:nvPr/>
        </p:nvSpPr>
        <p:spPr>
          <a:xfrm>
            <a:off x="10128250" y="1543050"/>
            <a:ext cx="76200" cy="3695700"/>
          </a:xfrm>
          <a:custGeom>
            <a:avLst/>
            <a:gdLst/>
            <a:ahLst/>
            <a:cxnLst/>
            <a:rect l="0" t="0" r="0" b="0"/>
            <a:pathLst>
              <a:path w="120" h="5820">
                <a:moveTo>
                  <a:pt x="10" y="5810"/>
                </a:moveTo>
                <a:cubicBezTo>
                  <a:pt x="65" y="5810"/>
                  <a:pt x="110" y="5765"/>
                  <a:pt x="110" y="5710"/>
                </a:cubicBezTo>
                <a:lnTo>
                  <a:pt x="110" y="110"/>
                </a:lnTo>
                <a:cubicBezTo>
                  <a:pt x="110" y="54"/>
                  <a:pt x="65" y="10"/>
                  <a:pt x="10" y="10"/>
                </a:cubicBez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6" name="picture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8000" y="1543050"/>
            <a:ext cx="9677400" cy="3695700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4953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9860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100" kern="0" spc="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看什么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9860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先核对筛选范围，再看</a:t>
            </a:r>
            <a:r>
              <a:rPr sz="900" kern="0" spc="15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900" kern="0" spc="9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的规模、趋势和环比。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37719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795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100" kern="0" spc="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怎么分析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4145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定位变化明显的时间段，再到频道、账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号与内容查证。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70485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414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100" kern="0" spc="1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价值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9225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为网站整体复盘提供共同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的结果视图。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487502" y="730783"/>
            <a:ext cx="3081655" cy="551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总览看板：先看全站结</a:t>
            </a:r>
            <a:r>
              <a:rPr sz="2200" kern="0" spc="-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果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全站运营的起点：规模、趋势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和周期变化。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05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511994" y="5319738"/>
            <a:ext cx="226250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项目页面截图  |  模拟数据，截取于 2026-10-28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2" name="path 112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" name="path 114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ath 116"/>
          <p:cNvSpPr/>
          <p:nvPr/>
        </p:nvSpPr>
        <p:spPr>
          <a:xfrm>
            <a:off x="10128250" y="1543050"/>
            <a:ext cx="76200" cy="3695700"/>
          </a:xfrm>
          <a:custGeom>
            <a:avLst/>
            <a:gdLst/>
            <a:ahLst/>
            <a:cxnLst/>
            <a:rect l="0" t="0" r="0" b="0"/>
            <a:pathLst>
              <a:path w="120" h="5820">
                <a:moveTo>
                  <a:pt x="10" y="5810"/>
                </a:moveTo>
                <a:cubicBezTo>
                  <a:pt x="65" y="5810"/>
                  <a:pt x="110" y="5765"/>
                  <a:pt x="110" y="5710"/>
                </a:cubicBezTo>
                <a:lnTo>
                  <a:pt x="110" y="110"/>
                </a:lnTo>
                <a:cubicBezTo>
                  <a:pt x="110" y="54"/>
                  <a:pt x="65" y="10"/>
                  <a:pt x="10" y="10"/>
                </a:cubicBez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8000" y="1543050"/>
            <a:ext cx="9677400" cy="3695700"/>
          </a:xfrm>
          <a:prstGeom prst="rect">
            <a:avLst/>
          </a:prstGeom>
        </p:spPr>
      </p:pic>
      <p:sp>
        <p:nvSpPr>
          <p:cNvPr id="120" name="textbox 120"/>
          <p:cNvSpPr/>
          <p:nvPr/>
        </p:nvSpPr>
        <p:spPr>
          <a:xfrm>
            <a:off x="4953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9860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100" kern="0" spc="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看什么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7320" algn="l" rtl="0" eaLnBrk="0">
              <a:lnSpc>
                <a:spcPct val="88000"/>
              </a:lnSpc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以访问为单位，观察入口及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后续步骤的示意分支。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37719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7955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100" kern="0" spc="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怎么分析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478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切换入口并展开路径，区分继续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访问与结束访问。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70485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7480" algn="l" rtl="0" eaLnBrk="0">
              <a:lnSpc>
                <a:spcPct val="88000"/>
              </a:lnSpc>
              <a:tabLst/>
            </a:pPr>
            <a:r>
              <a:rPr sz="1100" kern="0" spc="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当前边界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7955" algn="l" rtl="0" eaLnBrk="0">
              <a:lnSpc>
                <a:spcPct val="89000"/>
              </a:lnSpc>
              <a:spcBef>
                <a:spcPts val="2"/>
              </a:spcBef>
              <a:tabLst/>
            </a:pP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站内路径是合成示例；</a:t>
            </a:r>
            <a:r>
              <a:rPr sz="900" kern="0" spc="-14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真实入口和会话尚未关联。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488442" y="728548"/>
            <a:ext cx="3639184" cy="554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9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访问流向：看入口与</a:t>
            </a:r>
            <a:r>
              <a:rPr sz="2200" kern="0" spc="-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站内去向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0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展示入口后的汇总路径，下钻在同一张流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向图内展开。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06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511994" y="5319738"/>
            <a:ext cx="226250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项目页面截图  |  模拟数据，截取于 2026-10-28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34" name="path 134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6" name="path 136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8"/>
          <p:cNvSpPr/>
          <p:nvPr/>
        </p:nvSpPr>
        <p:spPr>
          <a:xfrm>
            <a:off x="508000" y="1651000"/>
            <a:ext cx="4381500" cy="2603500"/>
          </a:xfrm>
          <a:prstGeom prst="rect">
            <a:avLst/>
          </a:prstGeom>
          <a:solidFill>
            <a:srgbClr val="EDF4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3359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16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综合频道：入口分发</a:t>
            </a:r>
            <a:endParaRPr sz="16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0820" indent="-2540" algn="l" rtl="0" eaLnBrk="0">
              <a:lnSpc>
                <a:spcPct val="135000"/>
              </a:lnSpc>
              <a:tabLst/>
            </a:pPr>
            <a:r>
              <a:rPr sz="11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关注、推荐、热点、视频、</a:t>
            </a:r>
            <a:r>
              <a:rPr sz="1100" kern="0" spc="-2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直播等入口负责让内容获得展示机会</a:t>
            </a:r>
            <a:r>
              <a:rPr sz="11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</a:t>
            </a:r>
            <a:r>
              <a:rPr sz="11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。重点观察曝光、点击、点击率、触达，以及</a:t>
            </a:r>
            <a:r>
              <a:rPr sz="11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点击内容的领域分</a:t>
            </a:r>
            <a:r>
              <a:rPr sz="11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</a:t>
            </a:r>
            <a:r>
              <a:rPr sz="1100" kern="0" spc="-4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布。</a:t>
            </a:r>
            <a:endParaRPr sz="11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5803900" y="1651000"/>
            <a:ext cx="4381500" cy="2603500"/>
          </a:xfrm>
          <a:prstGeom prst="rect">
            <a:avLst/>
          </a:prstGeom>
          <a:solidFill>
            <a:srgbClr val="EEF9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3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0184" algn="l" rtl="0" eaLnBrk="0">
              <a:lnSpc>
                <a:spcPct val="87000"/>
              </a:lnSpc>
              <a:tabLst/>
            </a:pPr>
            <a:r>
              <a:rPr sz="1600" kern="0" spc="-30" dirty="0">
                <a:solidFill>
                  <a:srgbClr val="10998E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领域频道：</a:t>
            </a:r>
            <a:r>
              <a:rPr sz="1600" kern="0" spc="-230" dirty="0">
                <a:solidFill>
                  <a:srgbClr val="10998E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600" kern="0" spc="-30" dirty="0">
                <a:solidFill>
                  <a:srgbClr val="10998E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内容与来源</a:t>
            </a:r>
            <a:endParaRPr sz="16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7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50" indent="-1905" algn="l" rtl="0" eaLnBrk="0">
              <a:lnSpc>
                <a:spcPct val="133000"/>
              </a:lnSpc>
              <a:tabLst/>
            </a:pPr>
            <a:r>
              <a:rPr sz="11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领域频道观察所属内容在各来</a:t>
            </a:r>
            <a:r>
              <a:rPr sz="11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源获得的</a:t>
            </a:r>
            <a:r>
              <a:rPr sz="1100" kern="0" spc="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PV、互动与供给，同时</a:t>
            </a:r>
            <a:r>
              <a:rPr sz="11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</a:t>
            </a:r>
            <a:r>
              <a:rPr sz="11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查看自主入口分发、综合依赖度及作者、账号和内容。</a:t>
            </a:r>
            <a:endParaRPr sz="11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527632" y="4599203"/>
            <a:ext cx="5479415" cy="1330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7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7000"/>
              </a:lnSpc>
              <a:tabLst/>
            </a:pPr>
            <a:r>
              <a:rPr sz="14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协作的关键</a:t>
            </a:r>
            <a:endParaRPr sz="1400" dirty="0">
              <a:latin typeface="Arial Unicode MS"/>
              <a:ea typeface="Arial Unicode MS"/>
              <a:cs typeface="Arial Unicode MS"/>
            </a:endParaRPr>
          </a:p>
          <a:p>
            <a:pPr marL="13334" algn="l" rtl="0" eaLnBrk="0">
              <a:lnSpc>
                <a:spcPct val="87000"/>
              </a:lnSpc>
              <a:spcBef>
                <a:spcPts val="1363"/>
              </a:spcBef>
              <a:tabLst/>
            </a:pPr>
            <a:r>
              <a:rPr sz="1100" kern="0" spc="4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用同一份证据讨论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2700" algn="l" rtl="0" eaLnBrk="0">
              <a:lnSpc>
                <a:spcPct val="89000"/>
              </a:lnSpc>
              <a:spcBef>
                <a:spcPts val="633"/>
              </a:spcBef>
              <a:tabLst/>
            </a:pP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综合入口可反馈哪些内容被展示、被点击； 领域团队可结合内容供给与受众反馈讨论选题。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spcBef>
                <a:spcPts val="339"/>
              </a:spcBef>
              <a:tabLst/>
            </a:pP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不要混淆统计对象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6510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入口曝光和点击按展示入口统计；领域内容</a:t>
            </a:r>
            <a:r>
              <a:rPr sz="1000" kern="0" spc="15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按内容归属统计，</a:t>
            </a:r>
            <a:r>
              <a:rPr sz="1000" kern="0" spc="-16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两者不能直接当成同一指标。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484708" y="725195"/>
            <a:ext cx="3922395" cy="558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综合频道与领域频道：分工协作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一个关注入口分发，</a:t>
            </a:r>
            <a:r>
              <a:rPr sz="1000" kern="0" spc="-16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一个关注领域内容供给及其全部来源表现</a:t>
            </a: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07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475691" y="7203948"/>
            <a:ext cx="9138285" cy="132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统一目标，不同职责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50" name="path 150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" name="path 152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" name="textbox 154"/>
          <p:cNvSpPr/>
          <p:nvPr/>
        </p:nvSpPr>
        <p:spPr>
          <a:xfrm>
            <a:off x="5128260" y="2968752"/>
            <a:ext cx="196215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600" kern="0" spc="90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↔</a:t>
            </a:r>
            <a:endParaRPr sz="600" dirty="0">
              <a:latin typeface="Arial Unicode MS"/>
              <a:ea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56"/>
          <p:cNvSpPr/>
          <p:nvPr/>
        </p:nvSpPr>
        <p:spPr>
          <a:xfrm>
            <a:off x="482600" y="1536700"/>
            <a:ext cx="9728200" cy="3708400"/>
          </a:xfrm>
          <a:prstGeom prst="roundRect">
            <a:avLst>
              <a:gd name="adj" fmla="val 2061"/>
            </a:avLst>
          </a:prstGeom>
          <a:noFill/>
          <a:ln w="12700" cap="flat">
            <a:solidFill>
              <a:srgbClr val="DBE4EF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endParaRPr/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8000" y="1562100"/>
            <a:ext cx="9677400" cy="3657600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4953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7320" algn="l" rtl="0" eaLnBrk="0">
              <a:lnSpc>
                <a:spcPct val="89000"/>
              </a:lnSpc>
              <a:spcBef>
                <a:spcPts val="3"/>
              </a:spcBef>
              <a:tabLst/>
            </a:pPr>
            <a:r>
              <a:rPr sz="1100" kern="0" spc="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综合入口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44145" indent="5715" algn="l" rtl="0" eaLnBrk="0">
              <a:lnSpc>
                <a:spcPct val="127000"/>
              </a:lnSpc>
              <a:spcBef>
                <a:spcPts val="2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先看曝光和点击绝对量，再结合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点击率、触达与领域覆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</a:t>
            </a:r>
            <a:r>
              <a:rPr sz="900" kern="0" spc="-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盖。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37719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4780" algn="l" rtl="0" eaLnBrk="0">
              <a:lnSpc>
                <a:spcPct val="86000"/>
              </a:lnSpc>
              <a:tabLst/>
            </a:pPr>
            <a:r>
              <a:rPr sz="1100" kern="0" spc="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领域内容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47955" algn="l" rtl="0" eaLnBrk="0">
              <a:lnSpc>
                <a:spcPct val="85000"/>
              </a:lnSpc>
              <a:spcBef>
                <a:spcPts val="828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</a:t>
            </a:r>
            <a:r>
              <a:rPr sz="900" kern="0" spc="7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、来源、自主分发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、互动和内容供给，理解变化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marL="149225" algn="l" rtl="0" eaLnBrk="0">
              <a:lnSpc>
                <a:spcPts val="1319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70485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6685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100" kern="0" spc="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行动方向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2240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对异常变化进入频道详情，核对内容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和账号贡献。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484149" y="728548"/>
            <a:ext cx="4481830" cy="555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1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频道驾驶舱：把分发与内容放在一起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10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分别查看综合入口与领域内容，再从变化明显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的对象进入详情。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08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511994" y="5319738"/>
            <a:ext cx="226250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项目页面截图  |  模拟数据，截取于 2026-10-28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74" name="path 174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6" name="path 176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ath 178"/>
          <p:cNvSpPr/>
          <p:nvPr/>
        </p:nvSpPr>
        <p:spPr>
          <a:xfrm>
            <a:off x="10128250" y="1543050"/>
            <a:ext cx="76200" cy="3695700"/>
          </a:xfrm>
          <a:custGeom>
            <a:avLst/>
            <a:gdLst/>
            <a:ahLst/>
            <a:cxnLst/>
            <a:rect l="0" t="0" r="0" b="0"/>
            <a:pathLst>
              <a:path w="120" h="5820">
                <a:moveTo>
                  <a:pt x="10" y="5810"/>
                </a:moveTo>
                <a:cubicBezTo>
                  <a:pt x="65" y="5810"/>
                  <a:pt x="110" y="5765"/>
                  <a:pt x="110" y="5710"/>
                </a:cubicBezTo>
                <a:lnTo>
                  <a:pt x="110" y="110"/>
                </a:lnTo>
                <a:cubicBezTo>
                  <a:pt x="110" y="54"/>
                  <a:pt x="65" y="10"/>
                  <a:pt x="10" y="10"/>
                </a:cubicBez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495300" y="1543050"/>
            <a:ext cx="9702800" cy="5302250"/>
            <a:chOff x="0" y="0"/>
            <a:chExt cx="9702800" cy="5302250"/>
          </a:xfrm>
        </p:grpSpPr>
        <p:pic>
          <p:nvPicPr>
            <p:cNvPr id="180" name="picture 1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702800" cy="5302250"/>
            </a:xfrm>
            <a:prstGeom prst="rect">
              <a:avLst/>
            </a:prstGeom>
          </p:spPr>
        </p:pic>
        <p:sp>
          <p:nvSpPr>
            <p:cNvPr id="182" name="textbox 182"/>
            <p:cNvSpPr/>
            <p:nvPr/>
          </p:nvSpPr>
          <p:spPr>
            <a:xfrm>
              <a:off x="16694" y="3776688"/>
              <a:ext cx="2940050" cy="10071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2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2000"/>
                </a:lnSpc>
                <a:tabLst/>
              </a:pPr>
              <a:r>
                <a:rPr sz="800" kern="0" spc="30" dirty="0">
                  <a:solidFill>
                    <a:srgbClr val="64748B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项目页面截图  |  模拟数据，截取于 2026-10-28</a:t>
              </a:r>
              <a:endParaRPr sz="800" dirty="0">
                <a:latin typeface="Arial Unicode MS"/>
                <a:ea typeface="Arial Unicode MS"/>
                <a:cs typeface="Arial Unicode MS"/>
              </a:endParaRPr>
            </a:p>
            <a:p>
              <a:pPr algn="l" rtl="0" eaLnBrk="0">
                <a:lnSpc>
                  <a:spcPct val="17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8270" algn="l" rtl="0" eaLnBrk="0">
                <a:lnSpc>
                  <a:spcPct val="85000"/>
                </a:lnSpc>
                <a:spcBef>
                  <a:spcPts val="338"/>
                </a:spcBef>
                <a:tabLst/>
              </a:pPr>
              <a:r>
                <a:rPr sz="1100" kern="0" spc="10" dirty="0">
                  <a:solidFill>
                    <a:srgbClr val="246BE8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发现</a:t>
              </a:r>
              <a:endParaRPr sz="1100" dirty="0">
                <a:latin typeface="Arial Unicode MS"/>
                <a:ea typeface="Arial Unicode MS"/>
                <a:cs typeface="Arial Unicode MS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6365" indent="3175" algn="l" rtl="0" eaLnBrk="0">
                <a:lnSpc>
                  <a:spcPct val="127000"/>
                </a:lnSpc>
                <a:spcBef>
                  <a:spcPts val="3"/>
                </a:spcBef>
                <a:tabLst/>
              </a:pPr>
              <a:r>
                <a:rPr sz="900" kern="0" spc="20" dirty="0">
                  <a:solidFill>
                    <a:srgbClr val="23334D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比较排名、名次变化及各维度表现，确</a:t>
              </a:r>
              <a:r>
                <a:rPr sz="900" kern="0" spc="10" dirty="0">
                  <a:solidFill>
                    <a:srgbClr val="23334D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定需要关注的频</a:t>
              </a:r>
              <a:r>
                <a:rPr sz="900" kern="0" spc="-10" dirty="0">
                  <a:solidFill>
                    <a:srgbClr val="23334D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道。</a:t>
              </a:r>
              <a:endParaRPr sz="900" dirty="0">
                <a:latin typeface="Arial Unicode MS"/>
                <a:ea typeface="Arial Unicode MS"/>
                <a:cs typeface="Arial Unicode MS"/>
              </a:endParaRPr>
            </a:p>
          </p:txBody>
        </p:sp>
        <p:sp>
          <p:nvSpPr>
            <p:cNvPr id="184" name="textbox 184"/>
            <p:cNvSpPr/>
            <p:nvPr/>
          </p:nvSpPr>
          <p:spPr>
            <a:xfrm>
              <a:off x="3408377" y="4203893"/>
              <a:ext cx="2692400" cy="3968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45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5000"/>
                </a:lnSpc>
                <a:tabLst/>
              </a:pPr>
              <a:r>
                <a:rPr sz="1100" kern="0" spc="10" dirty="0">
                  <a:solidFill>
                    <a:srgbClr val="246BE8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核实</a:t>
              </a:r>
              <a:endParaRPr sz="1100" dirty="0">
                <a:latin typeface="Arial Unicode MS"/>
                <a:ea typeface="Arial Unicode MS"/>
                <a:cs typeface="Arial Unicode MS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9000"/>
                </a:lnSpc>
                <a:spcBef>
                  <a:spcPts val="7"/>
                </a:spcBef>
                <a:tabLst/>
              </a:pPr>
              <a:r>
                <a:rPr sz="900" kern="0" spc="-10" dirty="0">
                  <a:solidFill>
                    <a:srgbClr val="23334D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健康分是榜内相对结果，结合实际业务规模和周期。</a:t>
              </a:r>
              <a:endParaRPr sz="900" dirty="0">
                <a:latin typeface="Arial Unicode MS"/>
                <a:ea typeface="Arial Unicode MS"/>
                <a:cs typeface="Arial Unicode MS"/>
              </a:endParaRPr>
            </a:p>
          </p:txBody>
        </p:sp>
        <p:sp>
          <p:nvSpPr>
            <p:cNvPr id="186" name="textbox 186"/>
            <p:cNvSpPr/>
            <p:nvPr/>
          </p:nvSpPr>
          <p:spPr>
            <a:xfrm>
              <a:off x="6687327" y="4204472"/>
              <a:ext cx="2456180" cy="3943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10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86000"/>
                </a:lnSpc>
                <a:tabLst/>
              </a:pPr>
              <a:r>
                <a:rPr sz="1100" kern="0" spc="-10" dirty="0">
                  <a:solidFill>
                    <a:srgbClr val="246BE8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讨论</a:t>
              </a:r>
              <a:endParaRPr sz="1100" dirty="0">
                <a:latin typeface="Arial Unicode MS"/>
                <a:ea typeface="Arial Unicode MS"/>
                <a:cs typeface="Arial Unicode MS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900" kern="0" spc="-10" dirty="0">
                  <a:solidFill>
                    <a:srgbClr val="23334D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请表现突出的团队分享选题、分发或运营经</a:t>
              </a:r>
              <a:r>
                <a:rPr sz="900" kern="0" spc="-20" dirty="0">
                  <a:solidFill>
                    <a:srgbClr val="23334D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验。</a:t>
              </a:r>
              <a:endParaRPr sz="900" dirty="0">
                <a:latin typeface="Arial Unicode MS"/>
                <a:ea typeface="Arial Unicode MS"/>
                <a:cs typeface="Arial Unicode MS"/>
              </a:endParaRPr>
            </a:p>
          </p:txBody>
        </p:sp>
      </p:grpSp>
      <p:sp>
        <p:nvSpPr>
          <p:cNvPr id="188" name="textbox 188"/>
          <p:cNvSpPr/>
          <p:nvPr/>
        </p:nvSpPr>
        <p:spPr>
          <a:xfrm>
            <a:off x="484149" y="728548"/>
            <a:ext cx="3923030" cy="555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9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频道竞赛榜：通过晾晒发现差距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9000"/>
              </a:lnSpc>
              <a:spcBef>
                <a:spcPts val="6"/>
              </a:spcBef>
              <a:tabLst/>
            </a:pP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领域榜与综合榜分开计算，帮助同类对象相互交流。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09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94" name="path 194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6" name="path 196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ath 198"/>
          <p:cNvSpPr/>
          <p:nvPr/>
        </p:nvSpPr>
        <p:spPr>
          <a:xfrm>
            <a:off x="10128250" y="1543050"/>
            <a:ext cx="76200" cy="3695700"/>
          </a:xfrm>
          <a:custGeom>
            <a:avLst/>
            <a:gdLst/>
            <a:ahLst/>
            <a:cxnLst/>
            <a:rect l="0" t="0" r="0" b="0"/>
            <a:pathLst>
              <a:path w="120" h="5820">
                <a:moveTo>
                  <a:pt x="10" y="5810"/>
                </a:moveTo>
                <a:cubicBezTo>
                  <a:pt x="65" y="5810"/>
                  <a:pt x="110" y="5765"/>
                  <a:pt x="110" y="5710"/>
                </a:cubicBezTo>
                <a:lnTo>
                  <a:pt x="110" y="110"/>
                </a:lnTo>
                <a:cubicBezTo>
                  <a:pt x="110" y="54"/>
                  <a:pt x="65" y="10"/>
                  <a:pt x="10" y="10"/>
                </a:cubicBez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8000" y="1543050"/>
            <a:ext cx="9677400" cy="3695700"/>
          </a:xfrm>
          <a:prstGeom prst="rect">
            <a:avLst/>
          </a:prstGeom>
        </p:spPr>
      </p:pic>
      <p:sp>
        <p:nvSpPr>
          <p:cNvPr id="202" name="textbox 202"/>
          <p:cNvSpPr/>
          <p:nvPr/>
        </p:nvSpPr>
        <p:spPr>
          <a:xfrm>
            <a:off x="4953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100" kern="0" spc="1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先统一范围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3510" algn="l" rtl="0" eaLnBrk="0">
              <a:lnSpc>
                <a:spcPct val="87000"/>
              </a:lnSpc>
              <a:spcBef>
                <a:spcPts val="7"/>
              </a:spcBef>
              <a:tabLst/>
            </a:pP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核对同类对象、</a:t>
            </a:r>
            <a:r>
              <a:rPr sz="900" kern="0" spc="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日期以及各指标的统计口径。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37719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9225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100" kern="0" spc="1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再找差异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303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同时比较</a:t>
            </a:r>
            <a:r>
              <a:rPr sz="900" kern="0" spc="7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PV、UV、互动率、来源占比与内容供</a:t>
            </a:r>
            <a:r>
              <a:rPr sz="900" kern="0" spc="-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给。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70485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7955" algn="l" rtl="0" eaLnBrk="0">
              <a:lnSpc>
                <a:spcPct val="86000"/>
              </a:lnSpc>
              <a:tabLst/>
            </a:pPr>
            <a:r>
              <a:rPr sz="1100" kern="0" spc="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注意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2875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绿色表示规则下的最优值，并不自动代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表业务结论。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476605" y="729945"/>
            <a:ext cx="3930650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3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对比分析：把差异放到同一张表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10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选择 2–5 个同类型对象，逐项看规模、结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构和变化。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10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511994" y="5319738"/>
            <a:ext cx="226250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项目页面截图  |  模拟数据，截取于 2026-10-28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16" name="path 216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8" name="path 218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box 220"/>
          <p:cNvSpPr/>
          <p:nvPr/>
        </p:nvSpPr>
        <p:spPr>
          <a:xfrm>
            <a:off x="523839" y="3545636"/>
            <a:ext cx="5367020" cy="2498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tabLst/>
            </a:pPr>
            <a:r>
              <a:rPr sz="14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推荐分析顺序</a:t>
            </a:r>
            <a:endParaRPr sz="1400" dirty="0">
              <a:latin typeface="Arial Unicode MS"/>
              <a:ea typeface="Arial Unicode MS"/>
              <a:cs typeface="Arial Unicode MS"/>
            </a:endParaRPr>
          </a:p>
          <a:p>
            <a:pPr marL="18415" algn="l" rtl="0" eaLnBrk="0">
              <a:lnSpc>
                <a:spcPct val="86000"/>
              </a:lnSpc>
              <a:spcBef>
                <a:spcPts val="1369"/>
              </a:spcBef>
              <a:tabLst/>
            </a:pPr>
            <a:r>
              <a:rPr sz="1100" kern="0" spc="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第一步：</a:t>
            </a:r>
            <a:r>
              <a:rPr sz="1100" kern="0" spc="-5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00" kern="0" spc="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先分解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5875" algn="l" rtl="0" eaLnBrk="0">
              <a:lnSpc>
                <a:spcPct val="88000"/>
              </a:lnSpc>
              <a:spcBef>
                <a:spcPts val="644"/>
              </a:spcBef>
              <a:tabLst/>
            </a:pP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频道</a:t>
            </a:r>
            <a:r>
              <a:rPr sz="1000" kern="0" spc="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1000" kern="0" spc="1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的变化来自综合入口、自主入口、搜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索、分享还是其他来源？</a:t>
            </a:r>
            <a:r>
              <a:rPr sz="1000" kern="0" spc="1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同时看数量与占比。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6000"/>
              </a:lnSpc>
              <a:spcBef>
                <a:spcPts val="335"/>
              </a:spcBef>
              <a:tabLst/>
            </a:pPr>
            <a:r>
              <a:rPr sz="1100" kern="0" spc="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第二步：</a:t>
            </a:r>
            <a:r>
              <a:rPr sz="1100" kern="0" spc="-5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00" kern="0" spc="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再定位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23495" algn="l" rtl="0" eaLnBrk="0">
              <a:lnSpc>
                <a:spcPct val="88000"/>
              </a:lnSpc>
              <a:spcBef>
                <a:spcPts val="646"/>
              </a:spcBef>
              <a:tabLst/>
            </a:pPr>
            <a:r>
              <a:rPr sz="1000" kern="0" spc="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哪些账号、作者或单篇内容贡献了主要变化？注意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合著内容在作者视角可能重复归属。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6000"/>
              </a:lnSpc>
              <a:spcBef>
                <a:spcPts val="336"/>
              </a:spcBef>
              <a:tabLst/>
            </a:pP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第三步：形成假设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7780" algn="l" rtl="0" eaLnBrk="0">
              <a:lnSpc>
                <a:spcPct val="89000"/>
              </a:lnSpc>
              <a:spcBef>
                <a:spcPts val="640"/>
              </a:spcBef>
              <a:tabLst/>
            </a:pP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结合内容类型、发布节奏、曝光、点击、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停留和互动，</a:t>
            </a:r>
            <a:r>
              <a:rPr sz="1000" kern="0" spc="-7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形成待验证的原因，而不是立即定论。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340"/>
              </a:spcBef>
              <a:tabLst/>
            </a:pPr>
            <a:r>
              <a:rPr sz="1100" kern="0" spc="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第四步：</a:t>
            </a:r>
            <a:r>
              <a:rPr sz="1100" kern="0" spc="-16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00" kern="0" spc="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对应行动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对内容供给、入口呈现和作者支持分别设计行动，</a:t>
            </a:r>
            <a:r>
              <a:rPr sz="1000" kern="0" spc="-5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并设置观察窗口。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482600" y="1841500"/>
            <a:ext cx="2391765" cy="1244600"/>
            <a:chOff x="0" y="0"/>
            <a:chExt cx="2391765" cy="1244600"/>
          </a:xfrm>
        </p:grpSpPr>
        <p:sp>
          <p:nvSpPr>
            <p:cNvPr id="222" name="rect 222"/>
            <p:cNvSpPr/>
            <p:nvPr/>
          </p:nvSpPr>
          <p:spPr>
            <a:xfrm>
              <a:off x="0" y="0"/>
              <a:ext cx="2336800" cy="1244600"/>
            </a:xfrm>
            <a:prstGeom prst="rect">
              <a:avLst/>
            </a:prstGeom>
            <a:solidFill>
              <a:srgbClr val="F3F7F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4" name="textbox 224"/>
            <p:cNvSpPr/>
            <p:nvPr/>
          </p:nvSpPr>
          <p:spPr>
            <a:xfrm>
              <a:off x="-12700" y="-12700"/>
              <a:ext cx="2417445" cy="13011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1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0020" algn="l" rtl="0" eaLnBrk="0">
                <a:lnSpc>
                  <a:spcPct val="87000"/>
                </a:lnSpc>
                <a:tabLst/>
              </a:pPr>
              <a:r>
                <a:rPr sz="1200" kern="0" spc="-30" dirty="0">
                  <a:solidFill>
                    <a:srgbClr val="246BE8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频道</a:t>
              </a:r>
              <a:endParaRPr sz="1200" dirty="0">
                <a:latin typeface="Arial Unicode MS"/>
                <a:ea typeface="Arial Unicode MS"/>
                <a:cs typeface="Arial Unicode MS"/>
              </a:endParaRPr>
            </a:p>
            <a:p>
              <a:pPr marL="160655" algn="l" rtl="0" eaLnBrk="0">
                <a:lnSpc>
                  <a:spcPct val="87000"/>
                </a:lnSpc>
                <a:spcBef>
                  <a:spcPts val="906"/>
                </a:spcBef>
                <a:tabLst/>
              </a:pPr>
              <a:r>
                <a:rPr sz="900" kern="0" spc="-50" dirty="0">
                  <a:solidFill>
                    <a:srgbClr val="23334D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PV</a:t>
              </a:r>
              <a:r>
                <a:rPr sz="900" kern="0" spc="60" dirty="0">
                  <a:solidFill>
                    <a:srgbClr val="23334D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 </a:t>
              </a:r>
              <a:r>
                <a:rPr sz="900" kern="0" spc="-50" dirty="0">
                  <a:solidFill>
                    <a:srgbClr val="23334D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与来源、供给、</a:t>
              </a:r>
              <a:r>
                <a:rPr sz="900" kern="0" spc="-60" dirty="0">
                  <a:solidFill>
                    <a:srgbClr val="23334D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互动。</a:t>
              </a:r>
              <a:endParaRPr sz="900" dirty="0">
                <a:latin typeface="Arial Unicode MS"/>
                <a:ea typeface="Arial Unicode MS"/>
                <a:cs typeface="Arial Unicode MS"/>
              </a:endParaRPr>
            </a:p>
            <a:p>
              <a:pPr algn="r" rtl="0" eaLnBrk="0">
                <a:lnSpc>
                  <a:spcPts val="957"/>
                </a:lnSpc>
                <a:spcBef>
                  <a:spcPts val="153"/>
                </a:spcBef>
                <a:tabLst/>
              </a:pPr>
              <a:r>
                <a:rPr sz="1600" kern="0" spc="-20" dirty="0">
                  <a:solidFill>
                    <a:srgbClr val="246BE8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›</a:t>
              </a:r>
              <a:endParaRPr sz="1600" dirty="0">
                <a:latin typeface="Arial Unicode MS"/>
                <a:ea typeface="Arial Unicode MS"/>
                <a:cs typeface="Arial Unicode M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2946400" y="1841500"/>
            <a:ext cx="2391765" cy="1244600"/>
            <a:chOff x="0" y="0"/>
            <a:chExt cx="2391765" cy="1244600"/>
          </a:xfrm>
        </p:grpSpPr>
        <p:sp>
          <p:nvSpPr>
            <p:cNvPr id="226" name="rect 226"/>
            <p:cNvSpPr/>
            <p:nvPr/>
          </p:nvSpPr>
          <p:spPr>
            <a:xfrm>
              <a:off x="0" y="0"/>
              <a:ext cx="2336800" cy="1244600"/>
            </a:xfrm>
            <a:prstGeom prst="rect">
              <a:avLst/>
            </a:prstGeom>
            <a:solidFill>
              <a:srgbClr val="F3F7F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8" name="textbox 228"/>
            <p:cNvSpPr/>
            <p:nvPr/>
          </p:nvSpPr>
          <p:spPr>
            <a:xfrm>
              <a:off x="-12700" y="-12700"/>
              <a:ext cx="2417445" cy="13011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6845" algn="l" rtl="0" eaLnBrk="0">
                <a:lnSpc>
                  <a:spcPct val="83000"/>
                </a:lnSpc>
                <a:spcBef>
                  <a:spcPts val="4"/>
                </a:spcBef>
                <a:tabLst/>
              </a:pPr>
              <a:r>
                <a:rPr sz="1200" kern="0" spc="-20" dirty="0">
                  <a:solidFill>
                    <a:srgbClr val="246BE8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账号</a:t>
              </a:r>
              <a:endParaRPr sz="1200" dirty="0">
                <a:latin typeface="Arial Unicode MS"/>
                <a:ea typeface="Arial Unicode MS"/>
                <a:cs typeface="Arial Unicode MS"/>
              </a:endParaRPr>
            </a:p>
            <a:p>
              <a:pPr marL="156845" algn="l" rtl="0" eaLnBrk="0">
                <a:lnSpc>
                  <a:spcPct val="86000"/>
                </a:lnSpc>
                <a:spcBef>
                  <a:spcPts val="923"/>
                </a:spcBef>
                <a:tabLst/>
              </a:pPr>
              <a:r>
                <a:rPr sz="900" kern="0" spc="-10" dirty="0">
                  <a:solidFill>
                    <a:srgbClr val="23334D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所属内容及作者分布。</a:t>
              </a:r>
              <a:endParaRPr sz="900" dirty="0">
                <a:latin typeface="Arial Unicode MS"/>
                <a:ea typeface="Arial Unicode MS"/>
                <a:cs typeface="Arial Unicode MS"/>
              </a:endParaRPr>
            </a:p>
            <a:p>
              <a:pPr algn="r" rtl="0" eaLnBrk="0">
                <a:lnSpc>
                  <a:spcPts val="957"/>
                </a:lnSpc>
                <a:spcBef>
                  <a:spcPts val="160"/>
                </a:spcBef>
                <a:tabLst/>
              </a:pPr>
              <a:r>
                <a:rPr sz="1600" kern="0" spc="-20" dirty="0">
                  <a:solidFill>
                    <a:srgbClr val="246BE8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›</a:t>
              </a:r>
              <a:endParaRPr sz="1600" dirty="0">
                <a:latin typeface="Arial Unicode MS"/>
                <a:ea typeface="Arial Unicode MS"/>
                <a:cs typeface="Arial Unicode M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5410200" y="1841500"/>
            <a:ext cx="2391765" cy="1244600"/>
            <a:chOff x="0" y="0"/>
            <a:chExt cx="2391765" cy="1244600"/>
          </a:xfrm>
        </p:grpSpPr>
        <p:sp>
          <p:nvSpPr>
            <p:cNvPr id="230" name="rect 230"/>
            <p:cNvSpPr/>
            <p:nvPr/>
          </p:nvSpPr>
          <p:spPr>
            <a:xfrm>
              <a:off x="0" y="0"/>
              <a:ext cx="2336800" cy="1244600"/>
            </a:xfrm>
            <a:prstGeom prst="rect">
              <a:avLst/>
            </a:prstGeom>
            <a:solidFill>
              <a:srgbClr val="F3F7F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2" name="textbox 232"/>
            <p:cNvSpPr/>
            <p:nvPr/>
          </p:nvSpPr>
          <p:spPr>
            <a:xfrm>
              <a:off x="-12700" y="-12700"/>
              <a:ext cx="2417445" cy="13011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1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7480" algn="l" rtl="0" eaLnBrk="0">
                <a:lnSpc>
                  <a:spcPct val="87000"/>
                </a:lnSpc>
                <a:tabLst/>
              </a:pPr>
              <a:r>
                <a:rPr sz="1200" kern="0" spc="-20" dirty="0">
                  <a:solidFill>
                    <a:srgbClr val="246BE8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作者</a:t>
              </a:r>
              <a:endParaRPr sz="1200" dirty="0">
                <a:latin typeface="Arial Unicode MS"/>
                <a:ea typeface="Arial Unicode MS"/>
                <a:cs typeface="Arial Unicode MS"/>
              </a:endParaRPr>
            </a:p>
            <a:p>
              <a:pPr marL="156210" algn="l" rtl="0" eaLnBrk="0">
                <a:lnSpc>
                  <a:spcPct val="87000"/>
                </a:lnSpc>
                <a:spcBef>
                  <a:spcPts val="906"/>
                </a:spcBef>
                <a:tabLst/>
              </a:pPr>
              <a:r>
                <a:rPr sz="900" kern="0" spc="-10" dirty="0">
                  <a:solidFill>
                    <a:srgbClr val="23334D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发帖、浏览和互动贡献。</a:t>
              </a:r>
              <a:endParaRPr sz="900" dirty="0">
                <a:latin typeface="Arial Unicode MS"/>
                <a:ea typeface="Arial Unicode MS"/>
                <a:cs typeface="Arial Unicode MS"/>
              </a:endParaRPr>
            </a:p>
            <a:p>
              <a:pPr algn="r" rtl="0" eaLnBrk="0">
                <a:lnSpc>
                  <a:spcPts val="957"/>
                </a:lnSpc>
                <a:spcBef>
                  <a:spcPts val="153"/>
                </a:spcBef>
                <a:tabLst/>
              </a:pPr>
              <a:r>
                <a:rPr sz="1600" kern="0" spc="-20" dirty="0">
                  <a:solidFill>
                    <a:srgbClr val="246BE8">
                      <a:alpha val="100000"/>
                    </a:srgbClr>
                  </a:solidFill>
                  <a:latin typeface="Arial Unicode MS"/>
                  <a:ea typeface="Arial Unicode MS"/>
                  <a:cs typeface="Arial Unicode MS"/>
                </a:rPr>
                <a:t>›</a:t>
              </a:r>
              <a:endParaRPr sz="1600" dirty="0">
                <a:latin typeface="Arial Unicode MS"/>
                <a:ea typeface="Arial Unicode MS"/>
                <a:cs typeface="Arial Unicode MS"/>
              </a:endParaRPr>
            </a:p>
          </p:txBody>
        </p:sp>
      </p:grpSp>
      <p:sp>
        <p:nvSpPr>
          <p:cNvPr id="234" name="textbox 234"/>
          <p:cNvSpPr/>
          <p:nvPr/>
        </p:nvSpPr>
        <p:spPr>
          <a:xfrm>
            <a:off x="7874000" y="1841500"/>
            <a:ext cx="2336800" cy="1244600"/>
          </a:xfrm>
          <a:prstGeom prst="rect">
            <a:avLst/>
          </a:prstGeom>
          <a:solidFill>
            <a:srgbClr val="F3F7F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9385" algn="l" rtl="0" eaLnBrk="0">
              <a:lnSpc>
                <a:spcPct val="85000"/>
              </a:lnSpc>
              <a:spcBef>
                <a:spcPts val="6"/>
              </a:spcBef>
              <a:tabLst/>
            </a:pPr>
            <a:r>
              <a:rPr sz="1200" kern="0" spc="-5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内容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685" algn="l" rtl="0" eaLnBrk="0">
              <a:lnSpc>
                <a:spcPct val="86000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文章、视频的曝光、点击与消费。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474929" y="728548"/>
            <a:ext cx="5050155" cy="555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200" kern="0" spc="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从频道下钻：把差距定位到可</a:t>
            </a: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行动的对象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89000"/>
              </a:lnSpc>
              <a:spcBef>
                <a:spcPts val="5"/>
              </a:spcBef>
              <a:tabLst/>
            </a:pP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先找到贡献变化的对象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，再结合内容与受众反馈提出假设。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11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475081" y="7203745"/>
            <a:ext cx="9138920" cy="13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频道、账号、人员和内容四个维度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42" name="path 242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4" name="path 244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ath 246"/>
          <p:cNvSpPr/>
          <p:nvPr/>
        </p:nvSpPr>
        <p:spPr>
          <a:xfrm>
            <a:off x="10128250" y="1543050"/>
            <a:ext cx="76200" cy="3695700"/>
          </a:xfrm>
          <a:custGeom>
            <a:avLst/>
            <a:gdLst/>
            <a:ahLst/>
            <a:cxnLst/>
            <a:rect l="0" t="0" r="0" b="0"/>
            <a:pathLst>
              <a:path w="120" h="5820">
                <a:moveTo>
                  <a:pt x="10" y="5810"/>
                </a:moveTo>
                <a:cubicBezTo>
                  <a:pt x="65" y="5810"/>
                  <a:pt x="110" y="5765"/>
                  <a:pt x="110" y="5710"/>
                </a:cubicBezTo>
                <a:lnTo>
                  <a:pt x="110" y="110"/>
                </a:lnTo>
                <a:cubicBezTo>
                  <a:pt x="110" y="54"/>
                  <a:pt x="65" y="10"/>
                  <a:pt x="10" y="10"/>
                </a:cubicBez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48" name="picture 2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8950" y="1543050"/>
            <a:ext cx="9696450" cy="3695700"/>
          </a:xfrm>
          <a:prstGeom prst="rect">
            <a:avLst/>
          </a:prstGeom>
        </p:spPr>
      </p:pic>
      <p:sp>
        <p:nvSpPr>
          <p:cNvPr id="250" name="textbox 250"/>
          <p:cNvSpPr/>
          <p:nvPr/>
        </p:nvSpPr>
        <p:spPr>
          <a:xfrm>
            <a:off x="4953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621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100" kern="0" spc="-1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同期群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50" algn="l" rtl="0" eaLnBrk="0">
              <a:lnSpc>
                <a:spcPct val="88000"/>
              </a:lnSpc>
              <a:spcBef>
                <a:spcPts val="7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按加入周或月分组，横看同批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成员后续是否活跃。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37719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5415" algn="l" rtl="0" eaLnBrk="0">
              <a:lnSpc>
                <a:spcPct val="86000"/>
              </a:lnSpc>
              <a:spcBef>
                <a:spcPts val="5"/>
              </a:spcBef>
              <a:tabLst/>
            </a:pPr>
            <a:r>
              <a:rPr sz="1100" kern="0" spc="1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激活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46050" algn="l" rtl="0" eaLnBrk="0">
              <a:lnSpc>
                <a:spcPct val="80000"/>
              </a:lnSpc>
              <a:spcBef>
                <a:spcPts val="834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浏览、互动、发帖及第二周活跃各自以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加入人数为分母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marL="149225" algn="l" rtl="0" eaLnBrk="0">
              <a:lnSpc>
                <a:spcPts val="1370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70485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8590" algn="l" rtl="0" eaLnBrk="0">
              <a:lnSpc>
                <a:spcPct val="85000"/>
              </a:lnSpc>
              <a:spcBef>
                <a:spcPts val="1"/>
              </a:spcBef>
              <a:tabLst/>
            </a:pPr>
            <a:r>
              <a:rPr sz="1100" kern="0" spc="1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分析边界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6050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各周期和漏斗步骤独立；观察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期未满不能当作零。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485546" y="729945"/>
            <a:ext cx="3362959" cy="553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读者分析：看用户是否</a:t>
            </a:r>
            <a:r>
              <a:rPr sz="2200" kern="0" spc="-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回来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活跃、留存、激活漏斗与读者分层共同补充</a:t>
            </a:r>
            <a:r>
              <a:rPr sz="1000" kern="0" spc="7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</a:t>
            </a: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V。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58" name="textbox 258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12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511994" y="5319738"/>
            <a:ext cx="226250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项目页面截图  |  模拟数据，截取于 2026-10-28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64" name="path 264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6" name="path 266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box 268"/>
          <p:cNvSpPr/>
          <p:nvPr/>
        </p:nvSpPr>
        <p:spPr>
          <a:xfrm>
            <a:off x="482600" y="1536700"/>
            <a:ext cx="9728200" cy="3708400"/>
          </a:xfrm>
          <a:prstGeom prst="roundRect">
            <a:avLst>
              <a:gd name="adj" fmla="val 2061"/>
            </a:avLst>
          </a:prstGeom>
          <a:noFill/>
          <a:ln w="12700" cap="flat">
            <a:solidFill>
              <a:srgbClr val="DBE4EF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endParaRPr/>
          </a:p>
        </p:txBody>
      </p:sp>
      <p:pic>
        <p:nvPicPr>
          <p:cNvPr id="270" name="picture 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8000" y="1562100"/>
            <a:ext cx="9677400" cy="3657600"/>
          </a:xfrm>
          <a:prstGeom prst="rect">
            <a:avLst/>
          </a:prstGeom>
        </p:spPr>
      </p:pic>
      <p:sp>
        <p:nvSpPr>
          <p:cNvPr id="272" name="textbox 272"/>
          <p:cNvSpPr/>
          <p:nvPr/>
        </p:nvSpPr>
        <p:spPr>
          <a:xfrm>
            <a:off x="4953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9860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100" kern="0" spc="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看结构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5415" algn="l" rtl="0" eaLnBrk="0">
              <a:lnSpc>
                <a:spcPct val="88000"/>
              </a:lnSpc>
              <a:tabLst/>
            </a:pP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识别读者、互动者、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创作者及活跃创作者的规模。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37719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9860" algn="l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1100" kern="0" spc="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看培养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732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结合到达率、耗时与创作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者留存发现培养机会。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70485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9860" algn="l" rtl="0" eaLnBrk="0">
              <a:lnSpc>
                <a:spcPct val="85000"/>
              </a:lnSpc>
              <a:spcBef>
                <a:spcPts val="4"/>
              </a:spcBef>
              <a:tabLst/>
            </a:pPr>
            <a:r>
              <a:rPr sz="1100" kern="0" spc="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看风险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6685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头部份额和基尼系数可提示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对少数作者的依赖。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481914" y="728548"/>
            <a:ext cx="4484370" cy="554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3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创作者分析：看从阅读到贡献的机会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794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同时看规模、留存、成长阶梯和产出集中度。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13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511994" y="5319738"/>
            <a:ext cx="226250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项目页面截图  |  模拟数据，截取于 2026-10-28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86" name="path 286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8" name="path 288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box 290"/>
          <p:cNvSpPr/>
          <p:nvPr/>
        </p:nvSpPr>
        <p:spPr>
          <a:xfrm>
            <a:off x="482600" y="1536700"/>
            <a:ext cx="9728200" cy="3708400"/>
          </a:xfrm>
          <a:prstGeom prst="roundRect">
            <a:avLst>
              <a:gd name="adj" fmla="val 2061"/>
            </a:avLst>
          </a:prstGeom>
          <a:noFill/>
          <a:ln w="12700" cap="flat">
            <a:solidFill>
              <a:srgbClr val="DBE4EF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endParaRPr/>
          </a:p>
        </p:txBody>
      </p:sp>
      <p:sp>
        <p:nvSpPr>
          <p:cNvPr id="292" name="path 292"/>
          <p:cNvSpPr/>
          <p:nvPr/>
        </p:nvSpPr>
        <p:spPr>
          <a:xfrm>
            <a:off x="488950" y="1543050"/>
            <a:ext cx="9715500" cy="3695700"/>
          </a:xfrm>
          <a:custGeom>
            <a:avLst/>
            <a:gdLst/>
            <a:ahLst/>
            <a:cxnLst/>
            <a:rect l="0" t="0" r="0" b="0"/>
            <a:pathLst>
              <a:path w="15300" h="5820">
                <a:moveTo>
                  <a:pt x="110" y="5810"/>
                </a:moveTo>
                <a:lnTo>
                  <a:pt x="15190" y="5810"/>
                </a:lnTo>
                <a:cubicBezTo>
                  <a:pt x="15245" y="5810"/>
                  <a:pt x="15290" y="5765"/>
                  <a:pt x="15290" y="5710"/>
                </a:cubicBezTo>
                <a:lnTo>
                  <a:pt x="15290" y="110"/>
                </a:lnTo>
                <a:cubicBezTo>
                  <a:pt x="15290" y="54"/>
                  <a:pt x="15245" y="10"/>
                  <a:pt x="15190" y="10"/>
                </a:cubicBezTo>
                <a:lnTo>
                  <a:pt x="110" y="10"/>
                </a:lnTo>
                <a:cubicBezTo>
                  <a:pt x="54" y="10"/>
                  <a:pt x="10" y="54"/>
                  <a:pt x="10" y="110"/>
                </a:cubicBezTo>
                <a:lnTo>
                  <a:pt x="10" y="5710"/>
                </a:lnTo>
                <a:cubicBezTo>
                  <a:pt x="10" y="5765"/>
                  <a:pt x="54" y="5810"/>
                  <a:pt x="110" y="5810"/>
                </a:cubicBez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4" name="picture 2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8000" y="1562100"/>
            <a:ext cx="9677400" cy="3657600"/>
          </a:xfrm>
          <a:prstGeom prst="rect">
            <a:avLst/>
          </a:prstGeom>
        </p:spPr>
      </p:pic>
      <p:sp>
        <p:nvSpPr>
          <p:cNvPr id="296" name="textbox 296"/>
          <p:cNvSpPr/>
          <p:nvPr/>
        </p:nvSpPr>
        <p:spPr>
          <a:xfrm>
            <a:off x="4953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795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100" kern="0" spc="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生命周期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7955" algn="l" rtl="0" eaLnBrk="0">
              <a:lnSpc>
                <a:spcPct val="86000"/>
              </a:lnSpc>
              <a:spcBef>
                <a:spcPts val="6"/>
              </a:spcBef>
              <a:tabLst/>
            </a:pP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看新成员、活跃、</a:t>
            </a:r>
            <a:r>
              <a:rPr sz="900" kern="0" spc="-1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回流、沉默等状态和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变化。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98" name="textbox 298"/>
          <p:cNvSpPr/>
          <p:nvPr/>
        </p:nvSpPr>
        <p:spPr>
          <a:xfrm>
            <a:off x="37719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5415" algn="l" rtl="0" eaLnBrk="0">
              <a:lnSpc>
                <a:spcPct val="86000"/>
              </a:lnSpc>
              <a:tabLst/>
            </a:pPr>
            <a:r>
              <a:rPr sz="1100" kern="0" spc="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流转矩阵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5415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行是 30 天前、列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是现在；横看原阶段的去向。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00" name="textbox 300"/>
          <p:cNvSpPr/>
          <p:nvPr/>
        </p:nvSpPr>
        <p:spPr>
          <a:xfrm>
            <a:off x="70485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2875" algn="l" rtl="0" eaLnBrk="0">
              <a:lnSpc>
                <a:spcPct val="86000"/>
              </a:lnSpc>
              <a:tabLst/>
            </a:pPr>
            <a:r>
              <a:rPr sz="1100" kern="0" spc="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进一步分析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7320" algn="l" rtl="0" eaLnBrk="0">
              <a:lnSpc>
                <a:spcPct val="89000"/>
              </a:lnSpc>
              <a:spcBef>
                <a:spcPts val="2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结合群体行为与兴趣核实，不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能仅凭标签判断原因。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484428" y="728268"/>
            <a:ext cx="4202430" cy="554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用户分析：理解参与阶段如何变化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生命周期、价值分层</a:t>
            </a: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和兴趣分析提供群体运营线索。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04" name="textbox 304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14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06" name="textbox 306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511994" y="5319738"/>
            <a:ext cx="226250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项目页面截图  |  模拟数据，截取于 2026-10-28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10" name="path 310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2" name="path 312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314"/>
          <p:cNvSpPr/>
          <p:nvPr/>
        </p:nvSpPr>
        <p:spPr>
          <a:xfrm>
            <a:off x="525016" y="3292525"/>
            <a:ext cx="5974715" cy="2496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5" algn="l" rtl="0" eaLnBrk="0">
              <a:lnSpc>
                <a:spcPct val="86000"/>
              </a:lnSpc>
              <a:tabLst/>
            </a:pPr>
            <a:r>
              <a:rPr sz="14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如何使用</a:t>
            </a:r>
            <a:endParaRPr sz="1400" dirty="0">
              <a:latin typeface="Arial Unicode MS"/>
              <a:ea typeface="Arial Unicode MS"/>
              <a:cs typeface="Arial Unicode MS"/>
            </a:endParaRPr>
          </a:p>
          <a:p>
            <a:pPr marL="20955" algn="l" rtl="0" eaLnBrk="0">
              <a:lnSpc>
                <a:spcPct val="89000"/>
              </a:lnSpc>
              <a:spcBef>
                <a:spcPts val="1350"/>
              </a:spcBef>
              <a:tabLst/>
            </a:pPr>
            <a:r>
              <a:rPr sz="1100" kern="0" spc="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先看人群，再看行为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2700" algn="l" rtl="0" eaLnBrk="0">
              <a:lnSpc>
                <a:spcPct val="88000"/>
              </a:lnSpc>
              <a:spcBef>
                <a:spcPts val="634"/>
              </a:spcBef>
              <a:tabLst/>
            </a:pPr>
            <a:r>
              <a:rPr sz="1000" kern="0" spc="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价值分层覆盖全员，帮助发现核心、活跃、待唤醒等群体；点开明细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核实行为和兴趣。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339"/>
              </a:spcBef>
              <a:tabLst/>
            </a:pPr>
            <a:r>
              <a:rPr sz="1100" kern="0" spc="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KOL</a:t>
            </a:r>
            <a:r>
              <a:rPr sz="1100" kern="0" spc="4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使用另一套口径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4605" algn="l" rtl="0" eaLnBrk="0">
              <a:lnSpc>
                <a:spcPct val="88000"/>
              </a:lnSpc>
              <a:spcBef>
                <a:spcPts val="653"/>
              </a:spcBef>
              <a:tabLst/>
            </a:pP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在近</a:t>
            </a:r>
            <a:r>
              <a:rPr sz="1000" kern="0" spc="1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12 个月积分前</a:t>
            </a:r>
            <a:r>
              <a:rPr sz="1000" kern="0" spc="9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N 名的名单内比较</a:t>
            </a:r>
            <a:r>
              <a:rPr sz="1000" kern="0" spc="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R/F/M，</a:t>
            </a:r>
            <a:r>
              <a:rPr sz="1000" kern="0" spc="-16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且</a:t>
            </a:r>
            <a:r>
              <a:rPr sz="1000" kern="0" spc="9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F、M</a:t>
            </a:r>
            <a:r>
              <a:rPr sz="1000" kern="0" spc="10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的定义不同；不能直接与全员</a:t>
            </a:r>
            <a:r>
              <a:rPr sz="1000" kern="0" spc="9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r>
              <a:rPr sz="1000" kern="0" spc="7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分数比较。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338"/>
              </a:spcBef>
              <a:tabLst/>
            </a:pPr>
            <a:r>
              <a:rPr sz="1100" kern="0" spc="4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不要把标签当作事实原因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3334" algn="l" rtl="0" eaLnBrk="0">
              <a:lnSpc>
                <a:spcPct val="89000"/>
              </a:lnSpc>
              <a:spcBef>
                <a:spcPts val="641"/>
              </a:spcBef>
              <a:tabLst/>
            </a:pP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低</a:t>
            </a:r>
            <a:r>
              <a:rPr sz="1000" kern="0" spc="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</a:t>
            </a:r>
            <a:r>
              <a:rPr sz="1000" kern="0" spc="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或下降预警只是信号；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结合成员背景和运营反馈，再决定是否提供支持或进一步了解。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6000"/>
              </a:lnSpc>
              <a:spcBef>
                <a:spcPts val="339"/>
              </a:spcBef>
              <a:tabLst/>
            </a:pPr>
            <a:r>
              <a:rPr sz="1100" kern="0" spc="4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相对分数会变化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651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000" kern="0" spc="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分数与同一统计范围内的分布有关，跨期比较时也应观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察原始行为与样本范围。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482600" y="1803400"/>
            <a:ext cx="3175000" cy="1041400"/>
          </a:xfrm>
          <a:prstGeom prst="rect">
            <a:avLst/>
          </a:prstGeom>
          <a:solidFill>
            <a:srgbClr val="F1F5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100" algn="l" rtl="0" eaLnBrk="0">
              <a:lnSpc>
                <a:spcPct val="85000"/>
              </a:lnSpc>
              <a:spcBef>
                <a:spcPts val="2"/>
              </a:spcBef>
              <a:tabLst/>
            </a:pPr>
            <a:r>
              <a:rPr sz="1300" kern="0" spc="-8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</a:t>
            </a:r>
            <a:r>
              <a:rPr sz="1300" kern="0" spc="1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-8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·</a:t>
            </a:r>
            <a:r>
              <a:rPr sz="1300" kern="0" spc="7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-8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最近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5811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9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最近一次行为距统计日多近？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18" name="textbox 318"/>
          <p:cNvSpPr/>
          <p:nvPr/>
        </p:nvSpPr>
        <p:spPr>
          <a:xfrm>
            <a:off x="3759200" y="1803400"/>
            <a:ext cx="3175000" cy="1041400"/>
          </a:xfrm>
          <a:prstGeom prst="rect">
            <a:avLst/>
          </a:prstGeom>
          <a:solidFill>
            <a:srgbClr val="F1F5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100" algn="l" rtl="0" eaLnBrk="0">
              <a:lnSpc>
                <a:spcPct val="85000"/>
              </a:lnSpc>
              <a:spcBef>
                <a:spcPts val="2"/>
              </a:spcBef>
              <a:tabLst/>
            </a:pPr>
            <a:r>
              <a:rPr sz="1300" kern="0" spc="-8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F</a:t>
            </a:r>
            <a:r>
              <a:rPr sz="1300" kern="0" spc="1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-8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·</a:t>
            </a:r>
            <a:r>
              <a:rPr sz="1300" kern="0" spc="6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-8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频次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5811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9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用户分析看活跃天数；</a:t>
            </a: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KOL</a:t>
            </a:r>
            <a:r>
              <a:rPr sz="900" kern="0" spc="7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看指定行为</a:t>
            </a: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次数。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7035800" y="1803400"/>
            <a:ext cx="3175000" cy="1041400"/>
          </a:xfrm>
          <a:prstGeom prst="rect">
            <a:avLst/>
          </a:prstGeom>
          <a:solidFill>
            <a:srgbClr val="F1F5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4465" algn="l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1300" kern="0" spc="-7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M</a:t>
            </a:r>
            <a:r>
              <a:rPr sz="1300" kern="0" spc="1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-7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·</a:t>
            </a:r>
            <a:r>
              <a:rPr sz="1300" kern="0" spc="6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-7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贡献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5811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9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用户分析看加权参与分；</a:t>
            </a: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KOL</a:t>
            </a:r>
            <a:r>
              <a:rPr sz="9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看主动与被动积分。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22" name="textbox 322"/>
          <p:cNvSpPr/>
          <p:nvPr/>
        </p:nvSpPr>
        <p:spPr>
          <a:xfrm>
            <a:off x="489204" y="727709"/>
            <a:ext cx="4802505" cy="555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RFM：为不同人群寻找不同的运</a:t>
            </a:r>
            <a:r>
              <a:rPr sz="2200" kern="0" spc="-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营方式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用户分析与</a:t>
            </a:r>
            <a:r>
              <a:rPr sz="1000" kern="0" spc="6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KOL 管理都使用</a:t>
            </a:r>
            <a:r>
              <a:rPr sz="10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RFM，但人群和</a:t>
            </a: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计算口径不同。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24" name="textbox 324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15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474268" y="7203745"/>
            <a:ext cx="9140190" cy="132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相对分层是分析工具，不是对人的价值判断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28" name="path 328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0" name="path 330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box 332"/>
          <p:cNvSpPr/>
          <p:nvPr/>
        </p:nvSpPr>
        <p:spPr>
          <a:xfrm>
            <a:off x="484428" y="3799459"/>
            <a:ext cx="4734560" cy="309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5" algn="l" rtl="0" eaLnBrk="0">
              <a:lnSpc>
                <a:spcPct val="87000"/>
              </a:lnSpc>
              <a:tabLst/>
            </a:pPr>
            <a:r>
              <a:rPr sz="1400" kern="0" spc="-2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行业常见流程</a:t>
            </a:r>
            <a:endParaRPr sz="14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1610" algn="l" rtl="0" eaLnBrk="0">
              <a:lnSpc>
                <a:spcPct val="88000"/>
              </a:lnSpc>
              <a:spcBef>
                <a:spcPts val="309"/>
              </a:spcBef>
              <a:tabLst/>
            </a:pPr>
            <a:r>
              <a:rPr sz="10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01  定范围                             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确定对象、统计日、行为类型与时间窗。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1610" algn="l" rtl="0" eaLnBrk="0">
              <a:lnSpc>
                <a:spcPct val="87000"/>
              </a:lnSpc>
              <a:spcBef>
                <a:spcPts val="311"/>
              </a:spcBef>
              <a:tabLst/>
            </a:pPr>
            <a:r>
              <a:rPr sz="10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02  算三维                             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分别计算距离上次行为的天数、频次和贡献。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1610" algn="l" rtl="0" eaLnBrk="0">
              <a:lnSpc>
                <a:spcPct val="89000"/>
              </a:lnSpc>
              <a:spcBef>
                <a:spcPts val="306"/>
              </a:spcBef>
              <a:tabLst/>
            </a:pPr>
            <a:r>
              <a:rPr sz="10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03  给分组                             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按分布或业务阈值给</a:t>
            </a:r>
            <a:r>
              <a:rPr sz="1000" kern="0" spc="7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R、F、M</a:t>
            </a:r>
            <a:r>
              <a:rPr sz="1000" kern="0" spc="7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分数，再组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合成群。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1610" algn="l" rtl="0" eaLnBrk="0">
              <a:lnSpc>
                <a:spcPct val="88000"/>
              </a:lnSpc>
              <a:spcBef>
                <a:spcPts val="304"/>
              </a:spcBef>
              <a:tabLst/>
            </a:pPr>
            <a:r>
              <a:rPr sz="1000" kern="0" spc="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04  做验证                            </a:t>
            </a: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对不同群体设计动作，观察后续行为变化。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参考：Microsoft</a:t>
            </a:r>
            <a:r>
              <a:rPr sz="8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Dynamics 365 Commerce</a:t>
            </a:r>
            <a:r>
              <a:rPr sz="8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</a:t>
            </a:r>
            <a:r>
              <a:rPr sz="800" kern="0" spc="6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 分析；Shopify</a:t>
            </a:r>
            <a:r>
              <a:rPr sz="8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</a:t>
            </a:r>
            <a:r>
              <a:rPr sz="8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客户分层说明。资料链接见</a:t>
            </a:r>
            <a:r>
              <a:rPr sz="800" kern="0" spc="9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15E。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34" name="textbox 334"/>
          <p:cNvSpPr/>
          <p:nvPr/>
        </p:nvSpPr>
        <p:spPr>
          <a:xfrm>
            <a:off x="482600" y="2082800"/>
            <a:ext cx="3149600" cy="1397000"/>
          </a:xfrm>
          <a:prstGeom prst="rect">
            <a:avLst/>
          </a:prstGeom>
          <a:solidFill>
            <a:srgbClr val="EEF3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0" algn="l" rtl="0" eaLnBrk="0">
              <a:lnSpc>
                <a:spcPct val="85000"/>
              </a:lnSpc>
              <a:tabLst/>
            </a:pPr>
            <a:r>
              <a:rPr sz="1300" kern="0" spc="-6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</a:t>
            </a:r>
            <a:r>
              <a:rPr sz="1300" kern="0" spc="8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1300" kern="0" spc="-6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·</a:t>
            </a:r>
            <a:r>
              <a:rPr sz="1300" kern="0" spc="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1300" kern="0" spc="-6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最近一次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marL="181610" algn="l" rtl="0" eaLnBrk="0">
              <a:lnSpc>
                <a:spcPct val="87000"/>
              </a:lnSpc>
              <a:spcBef>
                <a:spcPts val="1405"/>
              </a:spcBef>
              <a:tabLst/>
            </a:pPr>
            <a:r>
              <a:rPr sz="1000" kern="0" spc="-2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距离上次购买或关键行为多久</a:t>
            </a:r>
            <a:r>
              <a:rPr sz="1000" kern="0" spc="-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？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82245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900" kern="0" spc="-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越近，通常表示当前联系更紧密。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36" name="textbox 336"/>
          <p:cNvSpPr/>
          <p:nvPr/>
        </p:nvSpPr>
        <p:spPr>
          <a:xfrm>
            <a:off x="3771900" y="2082800"/>
            <a:ext cx="3149600" cy="1397000"/>
          </a:xfrm>
          <a:prstGeom prst="rect">
            <a:avLst/>
          </a:prstGeom>
          <a:solidFill>
            <a:srgbClr val="EEF3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0" algn="l" rtl="0" eaLnBrk="0">
              <a:lnSpc>
                <a:spcPct val="85000"/>
              </a:lnSpc>
              <a:spcBef>
                <a:spcPts val="6"/>
              </a:spcBef>
              <a:tabLst/>
            </a:pPr>
            <a:r>
              <a:rPr sz="1300" kern="0" spc="-6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F</a:t>
            </a:r>
            <a:r>
              <a:rPr sz="1300" kern="0" spc="7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1300" kern="0" spc="-6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·</a:t>
            </a:r>
            <a:r>
              <a:rPr sz="1300" kern="0" spc="5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1300" kern="0" spc="-6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重复频次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marL="183515" algn="l" rtl="0" eaLnBrk="0">
              <a:lnSpc>
                <a:spcPct val="87000"/>
              </a:lnSpc>
              <a:spcBef>
                <a:spcPts val="1402"/>
              </a:spcBef>
              <a:tabLst/>
            </a:pPr>
            <a:r>
              <a:rPr sz="1000" kern="0" spc="-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在统一时间窗内发生多少次？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2405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900" kern="0" spc="-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区分偶尔到访与稳定重复参与。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38" name="textbox 338"/>
          <p:cNvSpPr/>
          <p:nvPr/>
        </p:nvSpPr>
        <p:spPr>
          <a:xfrm>
            <a:off x="7061200" y="2082800"/>
            <a:ext cx="3149600" cy="1397000"/>
          </a:xfrm>
          <a:prstGeom prst="rect">
            <a:avLst/>
          </a:prstGeom>
          <a:solidFill>
            <a:srgbClr val="EEF3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9865" algn="l" rtl="0" eaLnBrk="0">
              <a:lnSpc>
                <a:spcPct val="86000"/>
              </a:lnSpc>
              <a:spcBef>
                <a:spcPts val="6"/>
              </a:spcBef>
              <a:tabLst/>
            </a:pPr>
            <a:r>
              <a:rPr sz="1300" kern="0" spc="-5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M</a:t>
            </a:r>
            <a:r>
              <a:rPr sz="1300" kern="0" spc="6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1300" kern="0" spc="-5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·</a:t>
            </a:r>
            <a:r>
              <a:rPr sz="1300" kern="0" spc="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1300" kern="0" spc="-5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贡献规模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marL="192405" algn="l" rtl="0" eaLnBrk="0">
              <a:lnSpc>
                <a:spcPct val="87000"/>
              </a:lnSpc>
              <a:spcBef>
                <a:spcPts val="1402"/>
              </a:spcBef>
              <a:tabLst/>
            </a:pPr>
            <a:r>
              <a:rPr sz="1000" kern="0" spc="-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同一时间窗内累计贡献多少？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82245" algn="l" rtl="0" eaLnBrk="0">
              <a:lnSpc>
                <a:spcPct val="89000"/>
              </a:lnSpc>
              <a:spcBef>
                <a:spcPts val="2"/>
              </a:spcBef>
              <a:tabLst/>
            </a:pPr>
            <a:r>
              <a:rPr sz="9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零售常看消费金额；其</a:t>
            </a:r>
            <a:r>
              <a:rPr sz="900" kern="0" spc="-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他场景可替换。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40" name="rect 340"/>
          <p:cNvSpPr/>
          <p:nvPr/>
        </p:nvSpPr>
        <p:spPr>
          <a:xfrm>
            <a:off x="469900" y="1511300"/>
            <a:ext cx="990600" cy="279400"/>
          </a:xfrm>
          <a:prstGeom prst="rect">
            <a:avLst/>
          </a:prstGeom>
          <a:solidFill>
            <a:srgbClr val="EEF3FB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" name="textbox 342"/>
          <p:cNvSpPr/>
          <p:nvPr/>
        </p:nvSpPr>
        <p:spPr>
          <a:xfrm>
            <a:off x="457200" y="767206"/>
            <a:ext cx="3336925" cy="943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370" algn="l" rtl="0" eaLnBrk="0">
              <a:lnSpc>
                <a:spcPct val="86000"/>
              </a:lnSpc>
              <a:tabLst/>
            </a:pPr>
            <a:r>
              <a:rPr sz="2200" kern="0" spc="-4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行业如何使用</a:t>
            </a:r>
            <a:r>
              <a:rPr sz="2200" kern="0" spc="2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2200" kern="0" spc="-4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marL="43180" algn="l" rtl="0" eaLnBrk="0">
              <a:lnSpc>
                <a:spcPct val="88000"/>
              </a:lnSpc>
              <a:spcBef>
                <a:spcPts val="1336"/>
              </a:spcBef>
              <a:tabLst/>
            </a:pP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把历史行为转成可解释的分</a:t>
            </a: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组，用于安排不同的运营动作。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spcBef>
                <a:spcPts val="1"/>
              </a:spcBef>
              <a:tabLst>
                <a:tab pos="186690" algn="l"/>
              </a:tabLst>
            </a:pPr>
            <a:r>
              <a:rPr sz="900" kern="0" spc="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	</a:t>
            </a:r>
            <a:r>
              <a:rPr sz="900" kern="0" spc="-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r>
              <a:rPr sz="900" kern="0" spc="6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专题</a:t>
            </a:r>
            <a:r>
              <a:rPr sz="900" kern="0" spc="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44" name="textbox 344"/>
          <p:cNvSpPr/>
          <p:nvPr/>
        </p:nvSpPr>
        <p:spPr>
          <a:xfrm>
            <a:off x="473760" y="295656"/>
            <a:ext cx="9702165" cy="130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</a:t>
            </a:r>
            <a:r>
              <a:rPr sz="800" kern="0" spc="2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/  运营分析平台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15A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46" name="textbox 346"/>
          <p:cNvSpPr/>
          <p:nvPr/>
        </p:nvSpPr>
        <p:spPr>
          <a:xfrm>
            <a:off x="472852" y="7177087"/>
            <a:ext cx="9135110" cy="119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7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模型口径以项目当前代码和页面说明为准</a:t>
            </a:r>
            <a:r>
              <a:rPr sz="7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</a:t>
            </a:r>
            <a:r>
              <a:rPr sz="7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示例</a:t>
            </a:r>
            <a:r>
              <a:rPr sz="700" kern="0" spc="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与项目截图均为模拟数据</a:t>
            </a:r>
            <a:endParaRPr sz="7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48" name="path 348"/>
          <p:cNvSpPr/>
          <p:nvPr/>
        </p:nvSpPr>
        <p:spPr>
          <a:xfrm>
            <a:off x="482600" y="70821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0" name="path 350"/>
          <p:cNvSpPr/>
          <p:nvPr/>
        </p:nvSpPr>
        <p:spPr>
          <a:xfrm>
            <a:off x="482600" y="5289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box 352"/>
          <p:cNvSpPr/>
          <p:nvPr/>
        </p:nvSpPr>
        <p:spPr>
          <a:xfrm>
            <a:off x="489204" y="2692590"/>
            <a:ext cx="7632065" cy="3946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3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把购买记录变成分层与行动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3355" algn="l" rtl="0" eaLnBrk="0">
              <a:lnSpc>
                <a:spcPct val="80000"/>
              </a:lnSpc>
              <a:spcBef>
                <a:spcPts val="320"/>
              </a:spcBef>
              <a:tabLst/>
            </a:pPr>
            <a:r>
              <a:rPr sz="1600" kern="0" spc="0" baseline="-6511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观察购买节奏</a:t>
            </a:r>
            <a:r>
              <a:rPr sz="1000" kern="0" spc="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</a:t>
            </a:r>
            <a:r>
              <a:rPr sz="10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结合</a:t>
            </a:r>
            <a:r>
              <a:rPr sz="900" kern="0" spc="6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与同期群分析，团队发现：购买后约 90 天内仍有再次购买机会；之后常要等到圣诞节或首次购买周年。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8595" algn="l" rtl="0" eaLnBrk="0">
              <a:lnSpc>
                <a:spcPct val="79000"/>
              </a:lnSpc>
              <a:spcBef>
                <a:spcPts val="315"/>
              </a:spcBef>
              <a:tabLst/>
            </a:pPr>
            <a:r>
              <a:rPr sz="1600" kern="0" spc="0" baseline="-6511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区分当前状态</a:t>
            </a:r>
            <a:r>
              <a:rPr sz="1000" kern="0" spc="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</a:t>
            </a:r>
            <a:r>
              <a:rPr sz="10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将客户分为 Champion、Recent、Loyal、Inactive 等组。案例没有公开各组的具体</a:t>
            </a:r>
            <a:r>
              <a:rPr sz="900" kern="0" spc="6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R/F/M 数值阈值。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0340" algn="l" rtl="0" eaLnBrk="0">
              <a:lnSpc>
                <a:spcPct val="81000"/>
              </a:lnSpc>
              <a:spcBef>
                <a:spcPts val="318"/>
              </a:spcBef>
              <a:tabLst/>
            </a:pPr>
            <a:r>
              <a:rPr sz="1600" kern="0" spc="-10" baseline="-6511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调整触达方式</a:t>
            </a:r>
            <a:r>
              <a:rPr sz="10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非第四季度优先向 Champion 和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Recent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发送活动信息；对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Loyal</a:t>
            </a:r>
            <a:r>
              <a:rPr sz="900" kern="0" spc="5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和</a:t>
            </a:r>
            <a:r>
              <a:rPr sz="900" kern="0" spc="8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Inactive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减少或暂停短信，避免消</a:t>
            </a:r>
            <a:r>
              <a:rPr sz="900" kern="0" spc="-2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耗注意力。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spcBef>
                <a:spcPts val="394"/>
              </a:spcBef>
              <a:tabLst/>
            </a:pPr>
            <a:r>
              <a:rPr sz="13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公开报道中的同期结果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1925" algn="l" rtl="0" eaLnBrk="0">
              <a:lnSpc>
                <a:spcPct val="88000"/>
              </a:lnSpc>
              <a:spcBef>
                <a:spcPts val="274"/>
              </a:spcBef>
              <a:tabLst/>
            </a:pPr>
            <a:r>
              <a:rPr sz="9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2025</a:t>
            </a:r>
            <a:r>
              <a:rPr sz="900" kern="0" spc="1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年 6</a:t>
            </a:r>
            <a:r>
              <a:rPr sz="900" kern="0" spc="9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月，首次完整使用</a:t>
            </a:r>
            <a:r>
              <a:rPr sz="9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r>
              <a:rPr sz="9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分层后，单个收件人带来的活动收入环比变化：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r" rtl="0" eaLnBrk="0">
              <a:lnSpc>
                <a:spcPct val="76000"/>
              </a:lnSpc>
              <a:spcBef>
                <a:spcPts val="1414"/>
              </a:spcBef>
              <a:tabLst/>
            </a:pPr>
            <a:r>
              <a:rPr sz="1300" kern="0" spc="0" baseline="-4006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邮件</a:t>
            </a: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</a:t>
            </a:r>
            <a:r>
              <a:rPr sz="11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+42%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r" rtl="0" eaLnBrk="0">
              <a:lnSpc>
                <a:spcPct val="77000"/>
              </a:lnSpc>
              <a:spcBef>
                <a:spcPts val="1288"/>
              </a:spcBef>
              <a:tabLst/>
            </a:pPr>
            <a:r>
              <a:rPr sz="1300" kern="0" spc="10" baseline="-4006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短信</a:t>
            </a:r>
            <a:r>
              <a:rPr sz="800" kern="0" spc="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</a:t>
            </a: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1100" kern="0" spc="0" dirty="0">
                <a:solidFill>
                  <a:srgbClr val="14A3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+88%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63830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8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解读边界：这些是供应商披露的活动表现，</a:t>
            </a:r>
            <a:r>
              <a:rPr sz="800" kern="0" spc="-10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且同期还有短信订阅与欢迎优惠优化；不能把全部</a:t>
            </a:r>
            <a:r>
              <a:rPr sz="8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增长归因于</a:t>
            </a:r>
            <a:r>
              <a:rPr sz="800" kern="0" spc="7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r>
              <a:rPr sz="8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1354569" y="6172200"/>
            <a:ext cx="6223000" cy="152400"/>
            <a:chOff x="0" y="0"/>
            <a:chExt cx="6223000" cy="152400"/>
          </a:xfrm>
        </p:grpSpPr>
        <p:sp>
          <p:nvSpPr>
            <p:cNvPr id="354" name="path 354"/>
            <p:cNvSpPr/>
            <p:nvPr/>
          </p:nvSpPr>
          <p:spPr>
            <a:xfrm>
              <a:off x="0" y="0"/>
              <a:ext cx="6223000" cy="152400"/>
            </a:xfrm>
            <a:custGeom>
              <a:avLst/>
              <a:gdLst/>
              <a:ahLst/>
              <a:cxnLst/>
              <a:rect l="0" t="0" r="0" b="0"/>
              <a:pathLst>
                <a:path w="9800" h="240">
                  <a:moveTo>
                    <a:pt x="80" y="240"/>
                  </a:moveTo>
                  <a:moveTo>
                    <a:pt x="80" y="240"/>
                  </a:moveTo>
                  <a:lnTo>
                    <a:pt x="9720" y="240"/>
                  </a:lnTo>
                  <a:cubicBezTo>
                    <a:pt x="9764" y="240"/>
                    <a:pt x="9800" y="204"/>
                    <a:pt x="9800" y="160"/>
                  </a:cubicBezTo>
                  <a:lnTo>
                    <a:pt x="9800" y="80"/>
                  </a:lnTo>
                  <a:cubicBezTo>
                    <a:pt x="9800" y="35"/>
                    <a:pt x="9764" y="0"/>
                    <a:pt x="9720" y="0"/>
                  </a:cubicBezTo>
                  <a:lnTo>
                    <a:pt x="80" y="0"/>
                  </a:lnTo>
                  <a:cubicBezTo>
                    <a:pt x="35" y="0"/>
                    <a:pt x="0" y="35"/>
                    <a:pt x="0" y="80"/>
                  </a:cubicBezTo>
                  <a:lnTo>
                    <a:pt x="0" y="160"/>
                  </a:lnTo>
                  <a:cubicBezTo>
                    <a:pt x="0" y="204"/>
                    <a:pt x="35" y="240"/>
                    <a:pt x="80" y="240"/>
                  </a:cubicBezTo>
                </a:path>
              </a:pathLst>
            </a:custGeom>
            <a:solidFill>
              <a:srgbClr val="EEF3F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6" name="path 356"/>
            <p:cNvSpPr/>
            <p:nvPr/>
          </p:nvSpPr>
          <p:spPr>
            <a:xfrm>
              <a:off x="0" y="0"/>
              <a:ext cx="5476240" cy="152400"/>
            </a:xfrm>
            <a:custGeom>
              <a:avLst/>
              <a:gdLst/>
              <a:ahLst/>
              <a:cxnLst/>
              <a:rect l="0" t="0" r="0" b="0"/>
              <a:pathLst>
                <a:path w="8624" h="240">
                  <a:moveTo>
                    <a:pt x="80" y="240"/>
                  </a:moveTo>
                  <a:moveTo>
                    <a:pt x="80" y="240"/>
                  </a:moveTo>
                  <a:lnTo>
                    <a:pt x="8544" y="240"/>
                  </a:lnTo>
                  <a:cubicBezTo>
                    <a:pt x="8588" y="240"/>
                    <a:pt x="8624" y="204"/>
                    <a:pt x="8624" y="160"/>
                  </a:cubicBezTo>
                  <a:lnTo>
                    <a:pt x="8624" y="80"/>
                  </a:lnTo>
                  <a:cubicBezTo>
                    <a:pt x="8624" y="35"/>
                    <a:pt x="8588" y="0"/>
                    <a:pt x="8544" y="0"/>
                  </a:cubicBezTo>
                  <a:lnTo>
                    <a:pt x="80" y="0"/>
                  </a:lnTo>
                  <a:cubicBezTo>
                    <a:pt x="35" y="0"/>
                    <a:pt x="0" y="35"/>
                    <a:pt x="0" y="80"/>
                  </a:cubicBezTo>
                  <a:lnTo>
                    <a:pt x="0" y="160"/>
                  </a:lnTo>
                  <a:cubicBezTo>
                    <a:pt x="0" y="204"/>
                    <a:pt x="35" y="240"/>
                    <a:pt x="80" y="240"/>
                  </a:cubicBezTo>
                </a:path>
              </a:pathLst>
            </a:custGeom>
            <a:solidFill>
              <a:srgbClr val="14A38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1356372" y="5880100"/>
            <a:ext cx="6223000" cy="152400"/>
            <a:chOff x="0" y="0"/>
            <a:chExt cx="6223000" cy="152400"/>
          </a:xfrm>
        </p:grpSpPr>
        <p:sp>
          <p:nvSpPr>
            <p:cNvPr id="358" name="path 358"/>
            <p:cNvSpPr/>
            <p:nvPr/>
          </p:nvSpPr>
          <p:spPr>
            <a:xfrm>
              <a:off x="0" y="0"/>
              <a:ext cx="6223000" cy="152400"/>
            </a:xfrm>
            <a:custGeom>
              <a:avLst/>
              <a:gdLst/>
              <a:ahLst/>
              <a:cxnLst/>
              <a:rect l="0" t="0" r="0" b="0"/>
              <a:pathLst>
                <a:path w="9800" h="240">
                  <a:moveTo>
                    <a:pt x="80" y="240"/>
                  </a:moveTo>
                  <a:moveTo>
                    <a:pt x="80" y="240"/>
                  </a:moveTo>
                  <a:lnTo>
                    <a:pt x="9720" y="240"/>
                  </a:lnTo>
                  <a:cubicBezTo>
                    <a:pt x="9764" y="240"/>
                    <a:pt x="9800" y="204"/>
                    <a:pt x="9800" y="160"/>
                  </a:cubicBezTo>
                  <a:lnTo>
                    <a:pt x="9800" y="80"/>
                  </a:lnTo>
                  <a:cubicBezTo>
                    <a:pt x="9800" y="35"/>
                    <a:pt x="9764" y="0"/>
                    <a:pt x="9720" y="0"/>
                  </a:cubicBezTo>
                  <a:lnTo>
                    <a:pt x="80" y="0"/>
                  </a:lnTo>
                  <a:cubicBezTo>
                    <a:pt x="35" y="0"/>
                    <a:pt x="0" y="35"/>
                    <a:pt x="0" y="80"/>
                  </a:cubicBezTo>
                  <a:lnTo>
                    <a:pt x="0" y="160"/>
                  </a:lnTo>
                  <a:cubicBezTo>
                    <a:pt x="0" y="204"/>
                    <a:pt x="35" y="240"/>
                    <a:pt x="80" y="240"/>
                  </a:cubicBezTo>
                </a:path>
              </a:pathLst>
            </a:custGeom>
            <a:solidFill>
              <a:srgbClr val="EEF3F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0" name="path 360"/>
            <p:cNvSpPr/>
            <p:nvPr/>
          </p:nvSpPr>
          <p:spPr>
            <a:xfrm>
              <a:off x="0" y="0"/>
              <a:ext cx="2613659" cy="152400"/>
            </a:xfrm>
            <a:custGeom>
              <a:avLst/>
              <a:gdLst/>
              <a:ahLst/>
              <a:cxnLst/>
              <a:rect l="0" t="0" r="0" b="0"/>
              <a:pathLst>
                <a:path w="4116" h="240">
                  <a:moveTo>
                    <a:pt x="80" y="240"/>
                  </a:moveTo>
                  <a:moveTo>
                    <a:pt x="80" y="240"/>
                  </a:moveTo>
                  <a:lnTo>
                    <a:pt x="4035" y="240"/>
                  </a:lnTo>
                  <a:cubicBezTo>
                    <a:pt x="4080" y="240"/>
                    <a:pt x="4116" y="204"/>
                    <a:pt x="4116" y="160"/>
                  </a:cubicBezTo>
                  <a:lnTo>
                    <a:pt x="4116" y="80"/>
                  </a:lnTo>
                  <a:cubicBezTo>
                    <a:pt x="4116" y="35"/>
                    <a:pt x="4080" y="0"/>
                    <a:pt x="4035" y="0"/>
                  </a:cubicBezTo>
                  <a:lnTo>
                    <a:pt x="80" y="0"/>
                  </a:lnTo>
                  <a:cubicBezTo>
                    <a:pt x="35" y="0"/>
                    <a:pt x="0" y="35"/>
                    <a:pt x="0" y="80"/>
                  </a:cubicBezTo>
                  <a:lnTo>
                    <a:pt x="0" y="160"/>
                  </a:lnTo>
                  <a:cubicBezTo>
                    <a:pt x="0" y="204"/>
                    <a:pt x="35" y="240"/>
                    <a:pt x="80" y="240"/>
                  </a:cubicBezTo>
                </a:path>
              </a:pathLst>
            </a:custGeom>
            <a:solidFill>
              <a:srgbClr val="2F6FE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62" name="textbox 362"/>
          <p:cNvSpPr/>
          <p:nvPr/>
        </p:nvSpPr>
        <p:spPr>
          <a:xfrm>
            <a:off x="482600" y="1574800"/>
            <a:ext cx="9728200" cy="876300"/>
          </a:xfrm>
          <a:prstGeom prst="rect">
            <a:avLst/>
          </a:prstGeom>
          <a:solidFill>
            <a:srgbClr val="EEF3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7960" algn="l" rtl="0" eaLnBrk="0">
              <a:lnSpc>
                <a:spcPct val="85000"/>
              </a:lnSpc>
              <a:spcBef>
                <a:spcPts val="2"/>
              </a:spcBef>
              <a:tabLst/>
            </a:pPr>
            <a:r>
              <a:rPr sz="1200" kern="0" spc="-2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业务问题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82245" algn="l" rtl="0" eaLnBrk="0">
              <a:lnSpc>
                <a:spcPct val="89000"/>
              </a:lnSpc>
              <a:spcBef>
                <a:spcPts val="6"/>
              </a:spcBef>
              <a:tabLst/>
            </a:pPr>
            <a:r>
              <a:rPr sz="900" kern="0" spc="4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礼品篮销售集中于节日，平时面向全部客户反复发送短信容易造成打扰。团队希望知道：谁近期有购买机会，谁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更适合暂缓触达。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64" name="textbox 364"/>
          <p:cNvSpPr/>
          <p:nvPr/>
        </p:nvSpPr>
        <p:spPr>
          <a:xfrm>
            <a:off x="481914" y="767206"/>
            <a:ext cx="4328160" cy="617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200" kern="0" spc="-2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零售实例：礼品篮品牌如何用</a:t>
            </a:r>
            <a:r>
              <a:rPr sz="2200" kern="0" spc="19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2200" kern="0" spc="-2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5" algn="l" rtl="0" eaLnBrk="0">
              <a:lnSpc>
                <a:spcPct val="87000"/>
              </a:lnSpc>
              <a:tabLst/>
            </a:pP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64748B"/>
                      <wpsdc:folHlinkClr xmlns:wpsdc="http://www.wps.cn/officeDocument/2017/drawingmlCustomData" val="64748B"/>
                      <wpsdc:hlinkUnderline xmlns:wpsdc="http://www.wps.cn/officeDocument/2017/drawingmlCustomData" val="0"/>
                    </a:ext>
                  </a:extLst>
                </a:hlinkClick>
              </a:rPr>
              <a:t>GourmetGiftB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64748B"/>
                      <wpsdc:folHlinkClr xmlns:wpsdc="http://www.wps.cn/officeDocument/2017/drawingmlCustomData" val="64748B"/>
                      <wpsdc:hlinkUnderline xmlns:wpsdc="http://www.wps.cn/officeDocument/2017/drawingmlCustomData" val="0"/>
                    </a:ext>
                  </a:extLst>
                </a:hlinkClick>
              </a:rPr>
              <a:t>askets.com：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季节性购买中，按客户状态安排触达。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66" name="textbox 366"/>
          <p:cNvSpPr/>
          <p:nvPr/>
        </p:nvSpPr>
        <p:spPr>
          <a:xfrm>
            <a:off x="473760" y="295147"/>
            <a:ext cx="9596120" cy="13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</a:t>
            </a:r>
            <a:r>
              <a:rPr sz="800" kern="0" spc="2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/  运营分析平台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            15A-例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68" name="textbox 368"/>
          <p:cNvSpPr/>
          <p:nvPr/>
        </p:nvSpPr>
        <p:spPr>
          <a:xfrm>
            <a:off x="474567" y="7012463"/>
            <a:ext cx="4135755" cy="126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7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64748B"/>
                      <wpsdc:folHlinkClr xmlns:wpsdc="http://www.wps.cn/officeDocument/2017/drawingmlCustomData" val="64748B"/>
                      <wpsdc:hlinkUnderline xmlns:wpsdc="http://www.wps.cn/officeDocument/2017/drawingmlCustomData" val="0"/>
                    </a:ext>
                  </a:extLst>
                </a:hlinkClick>
              </a:rPr>
              <a:t>来源：</a:t>
            </a:r>
            <a:r>
              <a:rPr sz="7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64748B"/>
                      <wpsdc:folHlinkClr xmlns:wpsdc="http://www.wps.cn/officeDocument/2017/drawingmlCustomData" val="64748B"/>
                      <wpsdc:hlinkUnderline xmlns:wpsdc="http://www.wps.cn/officeDocument/2017/drawingmlCustomData" val="0"/>
                    </a:ext>
                  </a:extLst>
                </a:hlinkClick>
              </a:rPr>
              <a:t>Klaviyo</a:t>
            </a:r>
            <a:r>
              <a:rPr sz="7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64748B"/>
                      <wpsdc:folHlinkClr xmlns:wpsdc="http://www.wps.cn/officeDocument/2017/drawingmlCustomData" val="64748B"/>
                      <wpsdc:hlinkUnderline xmlns:wpsdc="http://www.wps.cn/officeDocument/2017/drawingmlCustomData" val="0"/>
                    </a:ext>
                  </a:extLst>
                </a:hlinkClick>
              </a:rPr>
              <a:t> 客户案例（点击打开原文）                          </a:t>
            </a:r>
            <a:r>
              <a:rPr sz="7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64748B"/>
                      <wpsdc:folHlinkClr xmlns:wpsdc="http://www.wps.cn/officeDocument/2017/drawingmlCustomData" val="64748B"/>
                      <wpsdc:hlinkUnderline xmlns:wpsdc="http://www.wps.cn/officeDocument/2017/drawingmlCustomData" val="0"/>
                    </a:ext>
                  </a:extLst>
                </a:hlinkClick>
              </a:rPr>
              <a:t>                                                                  </a:t>
            </a:r>
            <a:endParaRPr sz="7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70" name="path 370"/>
          <p:cNvSpPr/>
          <p:nvPr/>
        </p:nvSpPr>
        <p:spPr>
          <a:xfrm>
            <a:off x="482600" y="69297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2" name="path 372"/>
          <p:cNvSpPr/>
          <p:nvPr/>
        </p:nvSpPr>
        <p:spPr>
          <a:xfrm>
            <a:off x="482600" y="5289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box 374"/>
          <p:cNvSpPr/>
          <p:nvPr/>
        </p:nvSpPr>
        <p:spPr>
          <a:xfrm>
            <a:off x="485571" y="4548276"/>
            <a:ext cx="9518650" cy="1878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3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从原始值到</a:t>
            </a:r>
            <a:r>
              <a:rPr sz="1300" kern="0" spc="14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1-5 </a:t>
            </a:r>
            <a:r>
              <a:rPr sz="1300" kern="0" spc="-2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marL="17145" indent="-3175" algn="l" rtl="0" eaLnBrk="0">
              <a:lnSpc>
                <a:spcPct val="139000"/>
              </a:lnSpc>
              <a:spcBef>
                <a:spcPts val="757"/>
              </a:spcBef>
              <a:tabLst/>
            </a:pP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项目分别计算</a:t>
            </a:r>
            <a:r>
              <a:rPr sz="10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R、F、M 在指定人群中的相对位置，再映射为</a:t>
            </a:r>
            <a:r>
              <a:rPr sz="1000" kern="0" spc="1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1-5 分。</a:t>
            </a:r>
            <a:r>
              <a:rPr sz="1000" kern="0" spc="-18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高分代表在该人群</a:t>
            </a:r>
            <a:r>
              <a:rPr sz="10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中相对更近期、更频繁或贡献更高；不是全站统一的绝对门槛。相同原始值同分，</a:t>
            </a:r>
            <a:r>
              <a:rPr sz="10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分布有大量并列值时，不保证每档人数正好 20%。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4945" algn="l" rtl="0" eaLnBrk="0">
              <a:lnSpc>
                <a:spcPct val="87000"/>
              </a:lnSpc>
              <a:spcBef>
                <a:spcPts val="335"/>
              </a:spcBef>
              <a:tabLst/>
            </a:pPr>
            <a:r>
              <a:rPr sz="1100" kern="0" spc="-2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读分数的例子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97485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R/F/M = 2/3/5：近期活跃程度偏低、行为频次居中、贡献较高。</a:t>
            </a:r>
            <a:r>
              <a:rPr sz="1000" kern="0" spc="-1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它是</a:t>
            </a:r>
            <a:r>
              <a:rPr sz="10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三个独立维度，不应把 235</a:t>
            </a:r>
            <a:r>
              <a:rPr sz="1000" kern="0" spc="12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当作一个数；还需查看原始天数、行为量与趋势。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76" name="textbox 376"/>
          <p:cNvSpPr/>
          <p:nvPr/>
        </p:nvSpPr>
        <p:spPr>
          <a:xfrm>
            <a:off x="482600" y="2387600"/>
            <a:ext cx="9728200" cy="558800"/>
          </a:xfrm>
          <a:prstGeom prst="rect">
            <a:avLst/>
          </a:prstGeom>
          <a:solidFill>
            <a:srgbClr val="EEF3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4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3040" algn="l" rtl="0" eaLnBrk="0">
              <a:lnSpc>
                <a:spcPct val="75000"/>
              </a:lnSpc>
              <a:tabLst/>
            </a:pPr>
            <a:r>
              <a:rPr sz="2300" kern="0" spc="10" baseline="-18117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</a:t>
            </a:r>
            <a:r>
              <a:rPr sz="1400" kern="0" spc="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</a:t>
            </a:r>
            <a:r>
              <a:rPr sz="1000" kern="0" spc="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统计日 - 最近一次</a:t>
            </a: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有效行为日期                                                                                                                </a:t>
            </a:r>
            <a:r>
              <a:rPr sz="1300" kern="0" spc="0" baseline="4006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原始天数越小</a:t>
            </a:r>
            <a:r>
              <a:rPr sz="800" kern="0" spc="-7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0" baseline="4006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，R</a:t>
            </a:r>
            <a:r>
              <a:rPr sz="8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0" baseline="4006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分越高</a:t>
            </a:r>
            <a:endParaRPr sz="1300" baseline="4006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78" name="textbox 378"/>
          <p:cNvSpPr/>
          <p:nvPr/>
        </p:nvSpPr>
        <p:spPr>
          <a:xfrm>
            <a:off x="482600" y="3708400"/>
            <a:ext cx="9728200" cy="558800"/>
          </a:xfrm>
          <a:prstGeom prst="rect">
            <a:avLst/>
          </a:prstGeom>
          <a:solidFill>
            <a:srgbClr val="EEF3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4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1770" algn="l" rtl="0" eaLnBrk="0">
              <a:lnSpc>
                <a:spcPct val="75000"/>
              </a:lnSpc>
              <a:tabLst/>
            </a:pPr>
            <a:r>
              <a:rPr sz="2300" kern="0" spc="10" baseline="-18117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M</a:t>
            </a:r>
            <a:r>
              <a:rPr sz="1400" kern="0" spc="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</a:t>
            </a:r>
            <a:r>
              <a:rPr sz="1000" kern="0" spc="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统计窗内的金额、积分或加权参与分    </a:t>
            </a: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         </a:t>
            </a:r>
            <a:r>
              <a:rPr sz="1300" kern="0" spc="0" baseline="4006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原始值越大</a:t>
            </a:r>
            <a:r>
              <a:rPr sz="800" kern="0" spc="-10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0" baseline="4006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，M</a:t>
            </a:r>
            <a:r>
              <a:rPr sz="8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0" baseline="4006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分越高</a:t>
            </a:r>
            <a:endParaRPr sz="1300" baseline="4006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80" name="textbox 380"/>
          <p:cNvSpPr/>
          <p:nvPr/>
        </p:nvSpPr>
        <p:spPr>
          <a:xfrm>
            <a:off x="492251" y="768324"/>
            <a:ext cx="3937000" cy="617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200" kern="0" spc="-6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r>
              <a:rPr sz="2200" kern="0" spc="2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2200" kern="0" spc="-6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的计算原理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9000"/>
              </a:lnSpc>
              <a:spcBef>
                <a:spcPts val="4"/>
              </a:spcBef>
              <a:tabLst/>
            </a:pP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三项指标先分别计算、分别排序，最后才依据业务目标解释组合</a:t>
            </a: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分数。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82" name="textbox 382"/>
          <p:cNvSpPr/>
          <p:nvPr/>
        </p:nvSpPr>
        <p:spPr>
          <a:xfrm>
            <a:off x="662940" y="3206331"/>
            <a:ext cx="7388860" cy="196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300" kern="0" spc="10" baseline="-18117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F</a:t>
            </a:r>
            <a:r>
              <a:rPr sz="1400" kern="0" spc="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</a:t>
            </a:r>
            <a:r>
              <a:rPr sz="1000" kern="0" spc="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统计窗内的有效行为次数或</a:t>
            </a: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活跃天数                                                                                                        </a:t>
            </a:r>
            <a:r>
              <a:rPr sz="1300" kern="0" spc="0" baseline="4006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原始值越大</a:t>
            </a:r>
            <a:r>
              <a:rPr sz="800" kern="0" spc="-10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0" baseline="4006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，F</a:t>
            </a:r>
            <a:r>
              <a:rPr sz="8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300" kern="0" spc="0" baseline="4006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分越高</a:t>
            </a:r>
            <a:endParaRPr sz="1300" baseline="4006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84" name="textbox 384"/>
          <p:cNvSpPr/>
          <p:nvPr/>
        </p:nvSpPr>
        <p:spPr>
          <a:xfrm>
            <a:off x="473760" y="295656"/>
            <a:ext cx="9702165" cy="130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</a:t>
            </a:r>
            <a:r>
              <a:rPr sz="800" kern="0" spc="2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/  运营分析平台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15B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86" name="textbox 386"/>
          <p:cNvSpPr/>
          <p:nvPr/>
        </p:nvSpPr>
        <p:spPr>
          <a:xfrm>
            <a:off x="472852" y="7177087"/>
            <a:ext cx="9135110" cy="119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7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模型口径以项目当前代码和页面说明为准</a:t>
            </a:r>
            <a:r>
              <a:rPr sz="7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</a:t>
            </a:r>
            <a:r>
              <a:rPr sz="7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示例</a:t>
            </a:r>
            <a:r>
              <a:rPr sz="700" kern="0" spc="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与项目截图均为模拟数据</a:t>
            </a:r>
            <a:endParaRPr sz="7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88" name="textbox 388"/>
          <p:cNvSpPr/>
          <p:nvPr/>
        </p:nvSpPr>
        <p:spPr>
          <a:xfrm>
            <a:off x="469900" y="1511300"/>
            <a:ext cx="990600" cy="279400"/>
          </a:xfrm>
          <a:prstGeom prst="rect">
            <a:avLst/>
          </a:prstGeom>
          <a:solidFill>
            <a:srgbClr val="EEF3FB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3990" algn="l" rtl="0" eaLnBrk="0">
              <a:lnSpc>
                <a:spcPct val="84000"/>
              </a:lnSpc>
              <a:spcBef>
                <a:spcPts val="3"/>
              </a:spcBef>
              <a:tabLst/>
            </a:pPr>
            <a:r>
              <a:rPr sz="900" kern="0" spc="-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r>
              <a:rPr sz="900" kern="0" spc="9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专题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90" name="path 390"/>
          <p:cNvSpPr/>
          <p:nvPr/>
        </p:nvSpPr>
        <p:spPr>
          <a:xfrm>
            <a:off x="482600" y="70821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2" name="path 392"/>
          <p:cNvSpPr/>
          <p:nvPr/>
        </p:nvSpPr>
        <p:spPr>
          <a:xfrm>
            <a:off x="482600" y="5289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4" name="textbox 394"/>
          <p:cNvSpPr/>
          <p:nvPr/>
        </p:nvSpPr>
        <p:spPr>
          <a:xfrm>
            <a:off x="492340" y="2008441"/>
            <a:ext cx="511175" cy="194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300" kern="0" spc="-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原始值</a:t>
            </a:r>
            <a:endParaRPr sz="1300" dirty="0">
              <a:latin typeface="Arial Unicode MS"/>
              <a:ea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6" name="table 396"/>
          <p:cNvGraphicFramePr>
            <a:graphicFrameLocks noGrp="1"/>
          </p:cNvGraphicFramePr>
          <p:nvPr/>
        </p:nvGraphicFramePr>
        <p:xfrm>
          <a:off x="482600" y="3517900"/>
          <a:ext cx="9728199" cy="2458085"/>
        </p:xfrm>
        <a:graphic>
          <a:graphicData uri="http://schemas.openxmlformats.org/drawingml/2006/table">
            <a:tbl>
              <a:tblPr/>
              <a:tblGrid>
                <a:gridCol w="1073150"/>
                <a:gridCol w="3278505"/>
                <a:gridCol w="5376544"/>
              </a:tblGrid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287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群体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689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572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建议先核实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DF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3510" algn="l" rtl="0" eaLnBrk="0">
                        <a:lnSpc>
                          <a:spcPct val="8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核心</a:t>
                      </a:r>
                      <a:endParaRPr sz="10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1340" algn="l" rtl="0" eaLnBrk="0">
                        <a:lnSpc>
                          <a:spcPct val="8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</a:t>
                      </a:r>
                      <a:r>
                        <a:rPr sz="900" kern="0" spc="1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 4</a:t>
                      </a:r>
                      <a:r>
                        <a:rPr sz="900" kern="0" spc="10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且</a:t>
                      </a:r>
                      <a:r>
                        <a:rPr sz="900" kern="0" spc="9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</a:t>
                      </a:r>
                      <a:r>
                        <a:rPr sz="900" kern="0" spc="6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</a:t>
                      </a:r>
                      <a:r>
                        <a:rPr sz="900" kern="0" spc="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2016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64748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是否持续分享、互动与回访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4780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活跃</a:t>
                      </a:r>
                      <a:endParaRPr sz="10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1340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</a:t>
                      </a:r>
                      <a:r>
                        <a:rPr sz="900" kern="0" spc="9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</a:t>
                      </a:r>
                      <a:r>
                        <a:rPr sz="900" kern="0" spc="6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  <a:r>
                        <a:rPr sz="900" kern="0" spc="9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且</a:t>
                      </a:r>
                      <a:r>
                        <a:rPr sz="900" kern="0" spc="9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</a:t>
                      </a:r>
                      <a:r>
                        <a:rPr sz="900" kern="0" spc="7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</a:t>
                      </a:r>
                      <a:r>
                        <a:rPr sz="900" kern="0" spc="5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5085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64748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对哪些话题有稳定兴趣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414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待唤醒</a:t>
                      </a:r>
                      <a:endParaRPr sz="10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1975" algn="l" rtl="0" eaLnBrk="0">
                        <a:lnSpc>
                          <a:spcPct val="92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</a:t>
                      </a:r>
                      <a:r>
                        <a:rPr sz="900" kern="0" spc="9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2</a:t>
                      </a:r>
                      <a:r>
                        <a:rPr sz="900" kern="0" spc="9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且（F</a:t>
                      </a:r>
                      <a:r>
                        <a:rPr sz="900" kern="0" spc="7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</a:t>
                      </a:r>
                      <a:r>
                        <a:rPr sz="900" kern="0" spc="5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  <a:r>
                        <a:rPr sz="900" kern="0" spc="8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或</a:t>
                      </a:r>
                      <a:r>
                        <a:rPr sz="900" kern="0" spc="9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</a:t>
                      </a:r>
                      <a:r>
                        <a:rPr sz="900" kern="0" spc="7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</a:t>
                      </a:r>
                      <a:r>
                        <a:rPr sz="900" kern="0" spc="5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3）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635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64748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曾经的参与方式、近期</a:t>
                      </a:r>
                      <a:r>
                        <a:rPr sz="900" kern="0" spc="-10" dirty="0">
                          <a:solidFill>
                            <a:srgbClr val="64748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停下的原因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414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0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低活跃</a:t>
                      </a:r>
                      <a:endParaRPr sz="10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197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</a:t>
                      </a:r>
                      <a:r>
                        <a:rPr sz="900" kern="0" spc="9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</a:t>
                      </a:r>
                      <a:r>
                        <a:rPr sz="900" kern="0" spc="6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  <a:r>
                        <a:rPr sz="900" kern="0" spc="9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且</a:t>
                      </a:r>
                      <a:r>
                        <a:rPr sz="900" kern="0" spc="9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</a:t>
                      </a:r>
                      <a:r>
                        <a:rPr sz="900" kern="0" spc="6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</a:t>
                      </a:r>
                      <a:r>
                        <a:rPr sz="900" kern="0" spc="5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20165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64748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是否只浏览，缺少参与机会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7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沉睡</a:t>
                      </a:r>
                      <a:endParaRPr sz="10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9435" algn="l" rtl="0" eaLnBrk="0">
                        <a:lnSpc>
                          <a:spcPct val="8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其余成员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6355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64748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触达是否合适、数据是否覆盖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98" name="textbox 398"/>
          <p:cNvSpPr/>
          <p:nvPr/>
        </p:nvSpPr>
        <p:spPr>
          <a:xfrm>
            <a:off x="482600" y="2006600"/>
            <a:ext cx="9728200" cy="876300"/>
          </a:xfrm>
          <a:prstGeom prst="rect">
            <a:avLst/>
          </a:prstGeom>
          <a:solidFill>
            <a:srgbClr val="EEF3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6055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2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统计对象与口径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86690" indent="-2540" algn="l" rtl="0" eaLnBrk="0">
              <a:lnSpc>
                <a:spcPct val="136000"/>
              </a:lnSpc>
              <a:spcBef>
                <a:spcPts val="4"/>
              </a:spcBef>
              <a:tabLst/>
            </a:pP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统计日已加入的全体成员；近</a:t>
            </a:r>
            <a:r>
              <a:rPr sz="900" kern="0" spc="16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90 天。</a:t>
            </a:r>
            <a:r>
              <a:rPr sz="900" kern="0" spc="-14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 = 距最近一次站内行为的天数；F = 有行为的天数；M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=</a:t>
            </a:r>
            <a:r>
              <a:rPr sz="900" kern="0" spc="6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浏览次数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+</a:t>
            </a:r>
            <a:r>
              <a:rPr sz="900" kern="0" spc="5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3</a:t>
            </a:r>
            <a:r>
              <a:rPr sz="900" kern="0" spc="9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×</a:t>
            </a:r>
            <a:r>
              <a:rPr sz="900" kern="0" spc="9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互动次数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+</a:t>
            </a:r>
            <a:r>
              <a:rPr sz="900" kern="0" spc="1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10</a:t>
            </a:r>
            <a:r>
              <a:rPr sz="900" kern="0" spc="9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×</a:t>
            </a:r>
            <a:r>
              <a:rPr sz="900" kern="0" spc="5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发帖数。三维按全员相对位置得</a:t>
            </a:r>
            <a:r>
              <a:rPr sz="900" kern="0" spc="12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1-5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分，无行</a:t>
            </a:r>
            <a:r>
              <a:rPr sz="9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</a:t>
            </a:r>
            <a:r>
              <a:rPr sz="900" kern="0" spc="-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为得</a:t>
            </a:r>
            <a:r>
              <a:rPr sz="900" kern="0" spc="14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00" name="textbox 400"/>
          <p:cNvSpPr/>
          <p:nvPr/>
        </p:nvSpPr>
        <p:spPr>
          <a:xfrm>
            <a:off x="482600" y="6375400"/>
            <a:ext cx="9728200" cy="495300"/>
          </a:xfrm>
          <a:prstGeom prst="rect">
            <a:avLst/>
          </a:prstGeom>
          <a:solidFill>
            <a:srgbClr val="EEF3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73355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M</a:t>
            </a:r>
            <a:r>
              <a:rPr sz="900" kern="0" spc="8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的权重是本项目设定的参与分，不是人民币或个人价值。分层变化可能由全员分布改变引起；复盘时同时看原始行</a:t>
            </a:r>
            <a:r>
              <a:rPr sz="900" kern="0" spc="-2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为。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02" name="rect 402"/>
          <p:cNvSpPr/>
          <p:nvPr/>
        </p:nvSpPr>
        <p:spPr>
          <a:xfrm>
            <a:off x="469900" y="1511300"/>
            <a:ext cx="990600" cy="279400"/>
          </a:xfrm>
          <a:prstGeom prst="rect">
            <a:avLst/>
          </a:prstGeom>
          <a:solidFill>
            <a:srgbClr val="EEF3FB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4" name="textbox 404"/>
          <p:cNvSpPr/>
          <p:nvPr/>
        </p:nvSpPr>
        <p:spPr>
          <a:xfrm>
            <a:off x="457200" y="766648"/>
            <a:ext cx="3670300" cy="944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830" algn="l" rtl="0" eaLnBrk="0">
              <a:lnSpc>
                <a:spcPct val="87000"/>
              </a:lnSpc>
              <a:tabLst/>
            </a:pPr>
            <a:r>
              <a:rPr sz="22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本社区如何用：全员价值分层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marL="64135" algn="l" rtl="0" eaLnBrk="0">
              <a:lnSpc>
                <a:spcPct val="88000"/>
              </a:lnSpc>
              <a:spcBef>
                <a:spcPts val="1318"/>
              </a:spcBef>
              <a:tabLst/>
            </a:pP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目的：识别参与状态，找到维护、培育、唤回的不同切入点。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>
                <a:tab pos="186690" algn="l"/>
              </a:tabLst>
            </a:pPr>
            <a:r>
              <a:rPr sz="900" kern="0" spc="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	</a:t>
            </a:r>
            <a:r>
              <a:rPr sz="900" kern="0" spc="-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r>
              <a:rPr sz="900" kern="0" spc="6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专题</a:t>
            </a:r>
            <a:r>
              <a:rPr sz="900" kern="0" spc="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06" name="textbox 406"/>
          <p:cNvSpPr/>
          <p:nvPr/>
        </p:nvSpPr>
        <p:spPr>
          <a:xfrm>
            <a:off x="473760" y="295656"/>
            <a:ext cx="9707880" cy="130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</a:t>
            </a:r>
            <a:r>
              <a:rPr sz="800" kern="0" spc="2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/  运营分析平台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15C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08" name="textbox 408"/>
          <p:cNvSpPr/>
          <p:nvPr/>
        </p:nvSpPr>
        <p:spPr>
          <a:xfrm>
            <a:off x="472852" y="7177087"/>
            <a:ext cx="9135110" cy="119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7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模型口径以项目当前代码和页面说明为准</a:t>
            </a:r>
            <a:r>
              <a:rPr sz="7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</a:t>
            </a:r>
            <a:r>
              <a:rPr sz="7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示例</a:t>
            </a:r>
            <a:r>
              <a:rPr sz="700" kern="0" spc="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与项目截图均为模拟数据</a:t>
            </a:r>
            <a:endParaRPr sz="7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493331" y="3134284"/>
            <a:ext cx="2821940" cy="201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3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分层规则：按以下顺序判断，命中即停</a:t>
            </a:r>
            <a:endParaRPr sz="13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12" name="path 412"/>
          <p:cNvSpPr/>
          <p:nvPr/>
        </p:nvSpPr>
        <p:spPr>
          <a:xfrm>
            <a:off x="482600" y="70821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4" name="path 414"/>
          <p:cNvSpPr/>
          <p:nvPr/>
        </p:nvSpPr>
        <p:spPr>
          <a:xfrm>
            <a:off x="482600" y="5289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box 416"/>
          <p:cNvSpPr/>
          <p:nvPr/>
        </p:nvSpPr>
        <p:spPr>
          <a:xfrm>
            <a:off x="482600" y="1993900"/>
            <a:ext cx="9728200" cy="1206500"/>
          </a:xfrm>
          <a:prstGeom prst="rect">
            <a:avLst/>
          </a:prstGeom>
          <a:solidFill>
            <a:srgbClr val="EEF3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1135" algn="l" rtl="0" eaLnBrk="0">
              <a:lnSpc>
                <a:spcPct val="87000"/>
              </a:lnSpc>
              <a:spcBef>
                <a:spcPts val="7"/>
              </a:spcBef>
              <a:tabLst/>
            </a:pPr>
            <a:r>
              <a:rPr sz="1200" kern="0" spc="-2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先选人，再评分</a:t>
            </a:r>
            <a:endParaRPr sz="1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91135" indent="-6985" algn="l" rtl="0" eaLnBrk="0">
              <a:lnSpc>
                <a:spcPct val="145000"/>
              </a:lnSpc>
              <a:spcBef>
                <a:spcPts val="6"/>
              </a:spcBef>
              <a:tabLst/>
            </a:pP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按近</a:t>
            </a:r>
            <a:r>
              <a:rPr sz="900" kern="0" spc="1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12 个月积分选取配置的前</a:t>
            </a:r>
            <a:r>
              <a:rPr sz="900" kern="0" spc="9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N 名。</a:t>
            </a:r>
            <a:r>
              <a:rPr sz="900" kern="0" spc="-1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 = 距最近发帖、</a:t>
            </a:r>
            <a:r>
              <a:rPr sz="900" kern="0" spc="-14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评论或登录的天数；F =</a:t>
            </a:r>
            <a:r>
              <a:rPr sz="900" kern="0" spc="4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近</a:t>
            </a:r>
            <a:r>
              <a:rPr sz="900" kern="0" spc="6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90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天这三类行为的次数；M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=</a:t>
            </a:r>
            <a:r>
              <a:rPr sz="900" kern="0" spc="4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近</a:t>
            </a:r>
            <a:r>
              <a:rPr sz="900" kern="0" spc="5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90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天主动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+</a:t>
            </a:r>
            <a:r>
              <a:rPr sz="900" kern="0" spc="5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被动积分。</a:t>
            </a:r>
            <a:r>
              <a:rPr sz="900" kern="0" spc="-10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只在这个</a:t>
            </a:r>
            <a:r>
              <a:rPr sz="900" kern="0" spc="2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名单内分别给</a:t>
            </a:r>
            <a:r>
              <a:rPr sz="900" kern="0" spc="12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2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1-5</a:t>
            </a:r>
            <a:r>
              <a:rPr sz="9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2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分，</a:t>
            </a:r>
            <a:r>
              <a:rPr sz="9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</a:t>
            </a:r>
            <a:r>
              <a:rPr sz="900" kern="0" spc="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同原始值同分。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18" name="textbox 418"/>
          <p:cNvSpPr/>
          <p:nvPr/>
        </p:nvSpPr>
        <p:spPr>
          <a:xfrm>
            <a:off x="482600" y="6159500"/>
            <a:ext cx="9728200" cy="774700"/>
          </a:xfrm>
          <a:prstGeom prst="rect">
            <a:avLst/>
          </a:prstGeom>
          <a:solidFill>
            <a:srgbClr val="FEF6E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0" algn="l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1000" kern="0" spc="40" dirty="0">
                <a:solidFill>
                  <a:srgbClr val="F08C2C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预警标记与分层不同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82880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9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默认比较最近 30 天与此前 90 天的行为或积分日均；任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一项下降超过 50%</a:t>
            </a:r>
            <a:r>
              <a:rPr sz="900" kern="0" spc="8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可触发预警。是否进入“流失预警”分层，还取决于上一期标签等规则。阈值以运行配置为准。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graphicFrame>
        <p:nvGraphicFramePr>
          <p:cNvPr id="420" name="table 420"/>
          <p:cNvGraphicFramePr>
            <a:graphicFrameLocks noGrp="1"/>
          </p:cNvGraphicFramePr>
          <p:nvPr/>
        </p:nvGraphicFramePr>
        <p:xfrm>
          <a:off x="662813" y="4007116"/>
          <a:ext cx="3578225" cy="1678940"/>
        </p:xfrm>
        <a:graphic>
          <a:graphicData uri="http://schemas.openxmlformats.org/drawingml/2006/table">
            <a:tbl>
              <a:tblPr/>
              <a:tblGrid>
                <a:gridCol w="1278255"/>
                <a:gridCol w="2299970"/>
              </a:tblGrid>
              <a:tr h="3181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82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1000" kern="0" spc="-4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明星</a:t>
                      </a:r>
                      <a:r>
                        <a:rPr sz="1000" kern="0" spc="9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1000" kern="0" spc="-4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KOL</a:t>
                      </a:r>
                      <a:endParaRPr sz="10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959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无预警，R/F/M</a:t>
                      </a:r>
                      <a:r>
                        <a:rPr sz="900" kern="0" spc="9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平均分 ≥ 4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19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稳定贡献者</a:t>
                      </a:r>
                      <a:endParaRPr sz="10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959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无预警，平均分</a:t>
                      </a:r>
                      <a:r>
                        <a:rPr sz="900" kern="0" spc="16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≥ 3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8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0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成长潜力新人</a:t>
                      </a:r>
                      <a:endParaRPr sz="10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149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 ≥ 4、F/M</a:t>
                      </a:r>
                      <a:r>
                        <a:rPr sz="900" kern="0" spc="5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≤ 2</a:t>
                      </a:r>
                      <a:r>
                        <a:rPr sz="900" kern="0" spc="7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且近期积</a:t>
                      </a:r>
                      <a:r>
                        <a:rPr sz="9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分上升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1000" kern="0" spc="-2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流失预警</a:t>
                      </a:r>
                      <a:endParaRPr sz="10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触发预警且上一期为明星/</a:t>
                      </a:r>
                      <a:r>
                        <a:rPr sz="900" kern="0" spc="-10" dirty="0">
                          <a:solidFill>
                            <a:srgbClr val="1D2C4B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稳定/预警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22" name="rect 422"/>
          <p:cNvSpPr/>
          <p:nvPr/>
        </p:nvSpPr>
        <p:spPr>
          <a:xfrm>
            <a:off x="469900" y="1511300"/>
            <a:ext cx="990600" cy="279400"/>
          </a:xfrm>
          <a:prstGeom prst="rect">
            <a:avLst/>
          </a:prstGeom>
          <a:solidFill>
            <a:srgbClr val="EEF3FB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4" name="textbox 424"/>
          <p:cNvSpPr/>
          <p:nvPr/>
        </p:nvSpPr>
        <p:spPr>
          <a:xfrm>
            <a:off x="457200" y="767206"/>
            <a:ext cx="3300730" cy="943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830" algn="l" rtl="0" eaLnBrk="0">
              <a:lnSpc>
                <a:spcPct val="86000"/>
              </a:lnSpc>
              <a:tabLst/>
            </a:pPr>
            <a:r>
              <a:rPr sz="22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本社区如何用：KOL 管理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marL="52705" algn="l" rtl="0" eaLnBrk="0">
              <a:lnSpc>
                <a:spcPct val="88000"/>
              </a:lnSpc>
              <a:spcBef>
                <a:spcPts val="1329"/>
              </a:spcBef>
              <a:tabLst/>
            </a:pP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同样叫</a:t>
            </a:r>
            <a:r>
              <a:rPr sz="1000" kern="0" spc="1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RFM，KOL 名单的统计人群和</a:t>
            </a:r>
            <a:r>
              <a:rPr sz="10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F、M 定义均不同。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spcBef>
                <a:spcPts val="1"/>
              </a:spcBef>
              <a:tabLst>
                <a:tab pos="186690" algn="l"/>
              </a:tabLst>
            </a:pPr>
            <a:r>
              <a:rPr sz="900" kern="0" spc="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	</a:t>
            </a:r>
            <a:r>
              <a:rPr sz="900" kern="0" spc="-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r>
              <a:rPr sz="900" kern="0" spc="6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专题</a:t>
            </a:r>
            <a:r>
              <a:rPr sz="900" kern="0" spc="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26" name="textbox 426"/>
          <p:cNvSpPr/>
          <p:nvPr/>
        </p:nvSpPr>
        <p:spPr>
          <a:xfrm>
            <a:off x="6988772" y="3994073"/>
            <a:ext cx="1393825" cy="1704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ct val="86000"/>
              </a:lnSpc>
              <a:tabLst/>
            </a:pP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支持持续分享与专业讨论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6000"/>
              </a:lnSpc>
              <a:spcBef>
                <a:spcPts val="277"/>
              </a:spcBef>
              <a:tabLst/>
            </a:pP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维护已有节奏与议题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271"/>
              </a:spcBef>
              <a:tabLst/>
            </a:pP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核对是否适合更多展示机会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先看具体下滑指标和基线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473760" y="295656"/>
            <a:ext cx="9707880" cy="130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</a:t>
            </a:r>
            <a:r>
              <a:rPr sz="800" kern="0" spc="2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/  运营分析平台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15D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30" name="textbox 430"/>
          <p:cNvSpPr/>
          <p:nvPr/>
        </p:nvSpPr>
        <p:spPr>
          <a:xfrm>
            <a:off x="472852" y="7177087"/>
            <a:ext cx="9135110" cy="119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7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模型口径以项目当前代码和页面说明为准</a:t>
            </a:r>
            <a:r>
              <a:rPr sz="7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</a:t>
            </a:r>
            <a:r>
              <a:rPr sz="7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示例</a:t>
            </a:r>
            <a:r>
              <a:rPr sz="700" kern="0" spc="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与项目截图均为模拟数据</a:t>
            </a:r>
            <a:endParaRPr sz="7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32" name="textbox 432"/>
          <p:cNvSpPr/>
          <p:nvPr/>
        </p:nvSpPr>
        <p:spPr>
          <a:xfrm>
            <a:off x="485571" y="3456076"/>
            <a:ext cx="1343660" cy="194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3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从分数到运营判断</a:t>
            </a:r>
            <a:endParaRPr sz="13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34" name="path 434"/>
          <p:cNvSpPr/>
          <p:nvPr/>
        </p:nvSpPr>
        <p:spPr>
          <a:xfrm>
            <a:off x="482600" y="70821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6" name="path 436"/>
          <p:cNvSpPr/>
          <p:nvPr/>
        </p:nvSpPr>
        <p:spPr>
          <a:xfrm>
            <a:off x="482600" y="5289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extbox 438"/>
          <p:cNvSpPr/>
          <p:nvPr/>
        </p:nvSpPr>
        <p:spPr>
          <a:xfrm>
            <a:off x="486562" y="1981060"/>
            <a:ext cx="9531985" cy="3586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3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对社区运营的价值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9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2245" algn="l" rtl="0" eaLnBrk="0">
              <a:lnSpc>
                <a:spcPct val="86000"/>
              </a:lnSpc>
              <a:spcBef>
                <a:spcPts val="304"/>
              </a:spcBef>
              <a:tabLst/>
            </a:pPr>
            <a:r>
              <a:rPr sz="10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看结构                  </a:t>
            </a:r>
            <a:r>
              <a:rPr sz="9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识别核心、活跃和待唤醒群体</a:t>
            </a:r>
            <a:r>
              <a:rPr sz="9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的规模变化；明确哪些变化值得深入看。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1610" algn="l" rtl="0" eaLnBrk="0">
              <a:lnSpc>
                <a:spcPct val="86000"/>
              </a:lnSpc>
              <a:spcBef>
                <a:spcPts val="305"/>
              </a:spcBef>
              <a:tabLst/>
            </a:pPr>
            <a:r>
              <a:rPr sz="10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找机会                  </a:t>
            </a:r>
            <a:r>
              <a:rPr sz="9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对照阅</a:t>
            </a:r>
            <a:r>
              <a:rPr sz="9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读、</a:t>
            </a:r>
            <a:r>
              <a:rPr sz="900" kern="0" spc="-1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互动和发帖，发现用户从消费内容到参与讨论的潜在路径。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1610" algn="l" rtl="0" eaLnBrk="0">
              <a:lnSpc>
                <a:spcPct val="87000"/>
              </a:lnSpc>
              <a:spcBef>
                <a:spcPts val="308"/>
              </a:spcBef>
              <a:tabLst/>
            </a:pPr>
            <a:r>
              <a:rPr sz="10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配动作                  </a:t>
            </a:r>
            <a:r>
              <a:rPr sz="9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对</a:t>
            </a:r>
            <a:r>
              <a:rPr sz="9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KOL</a:t>
            </a:r>
            <a:r>
              <a:rPr sz="900" kern="0" spc="10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先核实</a:t>
            </a:r>
            <a:r>
              <a:rPr sz="9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预警</a:t>
            </a:r>
            <a:r>
              <a:rPr sz="900" kern="0" spc="-1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；按专业领域邀请答疑、</a:t>
            </a:r>
            <a:r>
              <a:rPr sz="900" kern="0" spc="-1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共创或讨论，</a:t>
            </a:r>
            <a:r>
              <a:rPr sz="900" kern="0" spc="-1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而不是统一催活。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5895" algn="l" rtl="0" eaLnBrk="0">
              <a:lnSpc>
                <a:spcPct val="87000"/>
              </a:lnSpc>
              <a:spcBef>
                <a:spcPts val="309"/>
              </a:spcBef>
              <a:tabLst/>
            </a:pPr>
            <a:r>
              <a:rPr sz="1000" kern="0" spc="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促目标                 </a:t>
            </a:r>
            <a:r>
              <a:rPr sz="1000" kern="0" spc="2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</a:t>
            </a:r>
            <a:r>
              <a:rPr sz="9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900" kern="0" spc="1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同时看回访、</a:t>
            </a:r>
            <a:r>
              <a:rPr sz="900" kern="0" spc="-1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有效评论与持续创作，</a:t>
            </a:r>
            <a:r>
              <a:rPr sz="900" kern="0" spc="-1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避免只追求一次性点击。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7000"/>
              </a:lnSpc>
              <a:spcBef>
                <a:spcPts val="401"/>
              </a:spcBef>
              <a:tabLst/>
            </a:pPr>
            <a:r>
              <a:rPr sz="1300" kern="0" spc="-1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如何判断做法是否有</a:t>
            </a:r>
            <a:r>
              <a:rPr sz="1300" kern="0" spc="-2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效</a:t>
            </a:r>
            <a:endParaRPr sz="13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875" indent="6985" algn="l" rtl="0" eaLnBrk="0">
              <a:lnSpc>
                <a:spcPct val="131000"/>
              </a:lnSpc>
              <a:spcBef>
                <a:spcPts val="3"/>
              </a:spcBef>
              <a:tabLst/>
            </a:pP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固定统计日、分母与观察窗口，记录运营动作前后的原始行为；按相同人群看回访、互动、发帖和</a:t>
            </a:r>
            <a:r>
              <a:rPr sz="10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</a:t>
            </a:r>
            <a:r>
              <a:rPr sz="10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V</a:t>
            </a:r>
            <a:r>
              <a:rPr sz="1000" kern="0" spc="10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的变化。若需要判断动作是否带来增量，可比较可比群体或开展随机</a:t>
            </a:r>
            <a:r>
              <a:rPr sz="10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试验。RFM 只描述已记录的行为，无法单独解</a:t>
            </a:r>
            <a:r>
              <a:rPr sz="1000" kern="0" spc="-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释原因或证明因果。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40" name="textbox 440"/>
          <p:cNvSpPr/>
          <p:nvPr/>
        </p:nvSpPr>
        <p:spPr>
          <a:xfrm>
            <a:off x="486594" y="6157011"/>
            <a:ext cx="4352290" cy="78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6000"/>
              </a:lnSpc>
              <a:tabLst/>
            </a:pPr>
            <a:r>
              <a:rPr sz="1100" kern="0" spc="-2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资料与口径来源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3334" algn="l" rtl="0" eaLnBrk="0">
              <a:lnSpc>
                <a:spcPct val="173000"/>
              </a:lnSpc>
              <a:spcBef>
                <a:spcPts val="15"/>
              </a:spcBef>
              <a:tabLst/>
            </a:pP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1D2C4B"/>
                      <wpsdc:folHlinkClr xmlns:wpsdc="http://www.wps.cn/officeDocument/2017/drawingmlCustomData" val="1D2C4B"/>
                      <wpsdc:hlinkUnderline xmlns:wpsdc="http://www.wps.cn/officeDocument/2017/drawingmlCustomData" val="0"/>
                    </a:ext>
                  </a:extLst>
                </a:hlinkClick>
              </a:rPr>
              <a:t>Microsoft</a:t>
            </a:r>
            <a:r>
              <a:rPr sz="800" kern="0" spc="14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1D2C4B"/>
                      <wpsdc:folHlinkClr xmlns:wpsdc="http://www.wps.cn/officeDocument/2017/drawingmlCustomData" val="1D2C4B"/>
                      <wpsdc:hlinkUnderline xmlns:wpsdc="http://www.wps.cn/officeDocument/2017/drawingmlCustomData" val="0"/>
                    </a:ext>
                  </a:extLst>
                </a:hlinkClick>
              </a:rPr>
              <a:t>：</a:t>
            </a: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1D2C4B"/>
                      <wpsdc:folHlinkClr xmlns:wpsdc="http://www.wps.cn/officeDocument/2017/drawingmlCustomData" val="1D2C4B"/>
                      <wpsdc:hlinkUnderline xmlns:wpsdc="http://www.wps.cn/officeDocument/2017/drawingmlCustomData" val="0"/>
                    </a:ext>
                  </a:extLst>
                </a:hlinkClick>
              </a:rPr>
              <a:t>Commerce</a:t>
            </a:r>
            <a:r>
              <a:rPr sz="8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1D2C4B"/>
                      <wpsdc:folHlinkClr xmlns:wpsdc="http://www.wps.cn/officeDocument/2017/drawingmlCustomData" val="1D2C4B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1D2C4B"/>
                      <wpsdc:folHlinkClr xmlns:wpsdc="http://www.wps.cn/officeDocument/2017/drawingmlCustomData" val="1D2C4B"/>
                      <wpsdc:hlinkUnderline xmlns:wpsdc="http://www.wps.cn/officeDocument/2017/drawingmlCustomData" val="0"/>
                    </a:ext>
                  </a:extLst>
                </a:hlinkClick>
              </a:rPr>
              <a:t>RFM</a:t>
            </a:r>
            <a:r>
              <a:rPr sz="800" kern="0" spc="14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1D2C4B"/>
                      <wpsdc:folHlinkClr xmlns:wpsdc="http://www.wps.cn/officeDocument/2017/drawingmlCustomData" val="1D2C4B"/>
                      <wpsdc:hlinkUnderline xmlns:wpsdc="http://www.wps.cn/officeDocument/2017/drawingmlCustomData" val="0"/>
                    </a:ext>
                  </a:extLst>
                </a:hlinkClick>
              </a:rPr>
              <a:t> 设置</a:t>
            </a: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1D2C4B"/>
                      <wpsdc:folHlinkClr xmlns:wpsdc="http://www.wps.cn/officeDocument/2017/drawingmlCustomData" val="1D2C4B"/>
                      <wpsdc:hlinkUnderline xmlns:wpsdc="http://www.wps.cn/officeDocument/2017/drawingmlCustomData" val="0"/>
                    </a:ext>
                  </a:extLst>
                </a:hlinkClick>
              </a:rPr>
              <a:t>                                                                                               </a:t>
            </a: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1D2C4B"/>
                      <wpsdc:folHlinkClr xmlns:wpsdc="http://www.wps.cn/officeDocument/2017/drawingmlCustomData" val="1D2C4B"/>
                      <wpsdc:hlinkUnderline xmlns:wpsdc="http://www.wps.cn/officeDocument/2017/drawingmlCustomData" val="0"/>
                    </a:ext>
                  </a:extLst>
                </a:hlinkClick>
              </a:rPr>
              <a:t>Shopify</a:t>
            </a:r>
            <a:r>
              <a:rPr sz="8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1D2C4B"/>
                      <wpsdc:folHlinkClr xmlns:wpsdc="http://www.wps.cn/officeDocument/2017/drawingmlCustomData" val="1D2C4B"/>
                      <wpsdc:hlinkUnderline xmlns:wpsdc="http://www.wps.cn/officeDocument/2017/drawingmlCustomData" val="0"/>
                    </a:ext>
                  </a:extLst>
                </a:hlinkClick>
              </a:rPr>
              <a:t>：</a:t>
            </a: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1D2C4B"/>
                      <wpsdc:folHlinkClr xmlns:wpsdc="http://www.wps.cn/officeDocument/2017/drawingmlCustomData" val="1D2C4B"/>
                      <wpsdc:hlinkUnderline xmlns:wpsdc="http://www.wps.cn/officeDocument/2017/drawingmlCustomData" val="0"/>
                    </a:ext>
                  </a:extLst>
                </a:hlinkClick>
              </a:rPr>
              <a:t>RFM</a:t>
            </a:r>
            <a:r>
              <a:rPr sz="800" kern="0" spc="7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1D2C4B"/>
                      <wpsdc:folHlinkClr xmlns:wpsdc="http://www.wps.cn/officeDocument/2017/drawingmlCustomData" val="1D2C4B"/>
                      <wpsdc:hlinkUnderline xmlns:wpsdc="http://www.wps.cn/officeDocument/2017/drawingmlCustomData" val="0"/>
                    </a:ext>
                  </a:extLst>
                </a:hlinkClick>
              </a:rPr>
              <a:t> 分析与分组</a:t>
            </a: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1D2C4B"/>
                      <wpsdc:folHlinkClr xmlns:wpsdc="http://www.wps.cn/officeDocument/2017/drawingmlCustomData" val="1D2C4B"/>
                      <wpsdc:hlinkUnderline xmlns:wpsdc="http://www.wps.cn/officeDocument/2017/drawingmlCustomData" val="0"/>
                    </a:ext>
                  </a:extLst>
                </a:hlinkClick>
              </a:rPr>
              <a:t>                                                                                                              </a:t>
            </a:r>
            <a:endParaRPr sz="8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"/>
              </a:spcBef>
              <a:tabLst/>
            </a:pPr>
            <a:r>
              <a:rPr sz="800" kern="0" spc="1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项目代码：</a:t>
            </a: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ValueSegmenter</a:t>
            </a:r>
            <a:r>
              <a:rPr sz="800" kern="0" spc="1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/</a:t>
            </a:r>
            <a:r>
              <a:rPr sz="800" kern="0" spc="8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RfmScorer</a:t>
            </a:r>
            <a:r>
              <a:rPr sz="800" kern="0" spc="1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/ </a:t>
            </a: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SegmentClassifier</a:t>
            </a:r>
            <a:r>
              <a:rPr sz="800" kern="0" spc="11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10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/ </a:t>
            </a:r>
            <a:r>
              <a:rPr sz="800" kern="0" spc="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ChurnDetector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42" name="textbox 442"/>
          <p:cNvSpPr/>
          <p:nvPr/>
        </p:nvSpPr>
        <p:spPr>
          <a:xfrm>
            <a:off x="487680" y="766648"/>
            <a:ext cx="4025900" cy="618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1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6000"/>
              </a:lnSpc>
              <a:tabLst/>
            </a:pPr>
            <a:r>
              <a:rPr sz="2200" kern="0" spc="-4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r>
              <a:rPr sz="2200" kern="0" spc="23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2200" kern="0" spc="-40" dirty="0">
                <a:solidFill>
                  <a:srgbClr val="1D2C4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的价值与验证方式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7"/>
              </a:spcBef>
              <a:tabLst/>
            </a:pP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把“谁近期需要什么支持”变成可检查的行动假设，而非给人贴永久</a:t>
            </a: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标签。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44" name="textbox 444"/>
          <p:cNvSpPr/>
          <p:nvPr/>
        </p:nvSpPr>
        <p:spPr>
          <a:xfrm>
            <a:off x="473760" y="295656"/>
            <a:ext cx="9702165" cy="130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</a:t>
            </a:r>
            <a:r>
              <a:rPr sz="800" kern="0" spc="2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/  运营分析平台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15E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46" name="textbox 446"/>
          <p:cNvSpPr/>
          <p:nvPr/>
        </p:nvSpPr>
        <p:spPr>
          <a:xfrm>
            <a:off x="472852" y="7177087"/>
            <a:ext cx="9135110" cy="119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7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模型口径以项目当前代码和页面说明为准</a:t>
            </a:r>
            <a:r>
              <a:rPr sz="7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</a:t>
            </a:r>
            <a:r>
              <a:rPr sz="7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示例</a:t>
            </a:r>
            <a:r>
              <a:rPr sz="700" kern="0" spc="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与项目截图均为模拟数据</a:t>
            </a:r>
            <a:endParaRPr sz="7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48" name="textbox 448"/>
          <p:cNvSpPr/>
          <p:nvPr/>
        </p:nvSpPr>
        <p:spPr>
          <a:xfrm>
            <a:off x="469900" y="1511300"/>
            <a:ext cx="990600" cy="279400"/>
          </a:xfrm>
          <a:prstGeom prst="rect">
            <a:avLst/>
          </a:prstGeom>
          <a:solidFill>
            <a:srgbClr val="EEF3FB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3990" algn="l" rtl="0" eaLnBrk="0">
              <a:lnSpc>
                <a:spcPct val="84000"/>
              </a:lnSpc>
              <a:spcBef>
                <a:spcPts val="3"/>
              </a:spcBef>
              <a:tabLst/>
            </a:pPr>
            <a:r>
              <a:rPr sz="900" kern="0" spc="-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RFM</a:t>
            </a:r>
            <a:r>
              <a:rPr sz="900" kern="0" spc="9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30" dirty="0">
                <a:solidFill>
                  <a:srgbClr val="2F6FE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专题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50" name="path 450"/>
          <p:cNvSpPr/>
          <p:nvPr/>
        </p:nvSpPr>
        <p:spPr>
          <a:xfrm>
            <a:off x="482600" y="60026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2" name="path 452"/>
          <p:cNvSpPr/>
          <p:nvPr/>
        </p:nvSpPr>
        <p:spPr>
          <a:xfrm>
            <a:off x="482600" y="70821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4" name="path 454"/>
          <p:cNvSpPr/>
          <p:nvPr/>
        </p:nvSpPr>
        <p:spPr>
          <a:xfrm>
            <a:off x="482600" y="528955"/>
            <a:ext cx="9728200" cy="8889"/>
          </a:xfrm>
          <a:custGeom>
            <a:avLst/>
            <a:gdLst/>
            <a:ahLst/>
            <a:cxnLst/>
            <a:rect l="0" t="0" r="0" b="0"/>
            <a:pathLst>
              <a:path w="15320" h="13">
                <a:moveTo>
                  <a:pt x="0" y="6"/>
                </a:moveTo>
                <a:lnTo>
                  <a:pt x="15320" y="6"/>
                </a:lnTo>
              </a:path>
            </a:pathLst>
          </a:custGeom>
          <a:noFill/>
          <a:ln w="8890" cap="flat">
            <a:solidFill>
              <a:srgbClr val="DCE4EE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ath 456"/>
          <p:cNvSpPr/>
          <p:nvPr/>
        </p:nvSpPr>
        <p:spPr>
          <a:xfrm>
            <a:off x="10128250" y="1543050"/>
            <a:ext cx="76200" cy="3695700"/>
          </a:xfrm>
          <a:custGeom>
            <a:avLst/>
            <a:gdLst/>
            <a:ahLst/>
            <a:cxnLst/>
            <a:rect l="0" t="0" r="0" b="0"/>
            <a:pathLst>
              <a:path w="120" h="5820">
                <a:moveTo>
                  <a:pt x="10" y="5810"/>
                </a:moveTo>
                <a:cubicBezTo>
                  <a:pt x="65" y="5810"/>
                  <a:pt x="110" y="5765"/>
                  <a:pt x="110" y="5710"/>
                </a:cubicBezTo>
                <a:lnTo>
                  <a:pt x="110" y="110"/>
                </a:lnTo>
                <a:cubicBezTo>
                  <a:pt x="110" y="54"/>
                  <a:pt x="65" y="10"/>
                  <a:pt x="10" y="10"/>
                </a:cubicBez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58" name="picture 4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8950" y="1543050"/>
            <a:ext cx="9696450" cy="3695700"/>
          </a:xfrm>
          <a:prstGeom prst="rect">
            <a:avLst/>
          </a:prstGeom>
        </p:spPr>
      </p:pic>
      <p:sp>
        <p:nvSpPr>
          <p:cNvPr id="460" name="textbox 460"/>
          <p:cNvSpPr/>
          <p:nvPr/>
        </p:nvSpPr>
        <p:spPr>
          <a:xfrm>
            <a:off x="4953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9860" algn="l" rtl="0" eaLnBrk="0">
              <a:lnSpc>
                <a:spcPct val="84000"/>
              </a:lnSpc>
              <a:spcBef>
                <a:spcPts val="1"/>
              </a:spcBef>
              <a:tabLst/>
            </a:pPr>
            <a:r>
              <a:rPr sz="1100" kern="0" spc="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看分层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59385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了解明星、稳定、成长、沉寂等群体的分布。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62" name="textbox 462"/>
          <p:cNvSpPr/>
          <p:nvPr/>
        </p:nvSpPr>
        <p:spPr>
          <a:xfrm>
            <a:off x="37719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9860" algn="l" rtl="0" eaLnBrk="0">
              <a:lnSpc>
                <a:spcPct val="85000"/>
              </a:lnSpc>
              <a:spcBef>
                <a:spcPts val="1"/>
              </a:spcBef>
              <a:tabLst/>
            </a:pPr>
            <a:r>
              <a:rPr sz="1100" kern="0" spc="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看预警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541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预警提示行为或积分下降，先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核实基线和原因。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64" name="textbox 464"/>
          <p:cNvSpPr/>
          <p:nvPr/>
        </p:nvSpPr>
        <p:spPr>
          <a:xfrm>
            <a:off x="70485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2240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100" kern="0" spc="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促交流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7320" algn="l" rtl="0" eaLnBrk="0">
              <a:lnSpc>
                <a:spcPct val="89000"/>
              </a:lnSpc>
              <a:spcBef>
                <a:spcPts val="6"/>
              </a:spcBef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结合专业领域与内容，</a:t>
            </a:r>
            <a:r>
              <a:rPr sz="900" kern="0" spc="-1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邀请分享、参与讨论</a:t>
            </a:r>
            <a:r>
              <a:rPr sz="900" kern="0" spc="-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或共创。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66" name="textbox 466"/>
          <p:cNvSpPr/>
          <p:nvPr/>
        </p:nvSpPr>
        <p:spPr>
          <a:xfrm>
            <a:off x="489331" y="729106"/>
            <a:ext cx="3812540" cy="554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2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6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KOL 管理：支持持续专</a:t>
            </a:r>
            <a:r>
              <a:rPr sz="2200" kern="0" spc="-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业贡献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4"/>
              </a:spcBef>
              <a:tabLst/>
            </a:pP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综合分层、预警和个人详情，识别值得进一步了解的专家与创</a:t>
            </a: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作者。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68" name="textbox 468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16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70" name="textbox 470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72" name="textbox 472"/>
          <p:cNvSpPr/>
          <p:nvPr/>
        </p:nvSpPr>
        <p:spPr>
          <a:xfrm>
            <a:off x="511994" y="5319738"/>
            <a:ext cx="226250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项目页面截图  |  模拟数据，截取于 2026-10-28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74" name="path 474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6" name="path 476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box 478"/>
          <p:cNvSpPr/>
          <p:nvPr/>
        </p:nvSpPr>
        <p:spPr>
          <a:xfrm>
            <a:off x="482600" y="1536700"/>
            <a:ext cx="9728200" cy="3708400"/>
          </a:xfrm>
          <a:prstGeom prst="roundRect">
            <a:avLst>
              <a:gd name="adj" fmla="val 2061"/>
            </a:avLst>
          </a:prstGeom>
          <a:noFill/>
          <a:ln w="12700" cap="flat">
            <a:solidFill>
              <a:srgbClr val="DBE4EF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endParaRPr/>
          </a:p>
        </p:txBody>
      </p:sp>
      <p:pic>
        <p:nvPicPr>
          <p:cNvPr id="480" name="picture 4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8000" y="1562100"/>
            <a:ext cx="9677400" cy="3657600"/>
          </a:xfrm>
          <a:prstGeom prst="rect">
            <a:avLst/>
          </a:prstGeom>
        </p:spPr>
      </p:pic>
      <p:sp>
        <p:nvSpPr>
          <p:cNvPr id="482" name="textbox 482"/>
          <p:cNvSpPr/>
          <p:nvPr/>
        </p:nvSpPr>
        <p:spPr>
          <a:xfrm>
            <a:off x="4953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51130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100" kern="0" spc="1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主动积分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541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来自成员自己的行为；用于观察主动参与。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37719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4780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100" kern="0" spc="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被动积分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5415" algn="l" rtl="0" eaLnBrk="0">
              <a:lnSpc>
                <a:spcPct val="89000"/>
              </a:lnSpc>
              <a:spcBef>
                <a:spcPts val="5"/>
              </a:spcBef>
              <a:tabLst/>
            </a:pP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来自内容或评论获得的反馈；结合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内容表现阅读。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86" name="textbox 486"/>
          <p:cNvSpPr/>
          <p:nvPr/>
        </p:nvSpPr>
        <p:spPr>
          <a:xfrm>
            <a:off x="70485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6685" algn="l" rtl="0" eaLnBrk="0">
              <a:lnSpc>
                <a:spcPct val="86000"/>
              </a:lnSpc>
              <a:spcBef>
                <a:spcPts val="5"/>
              </a:spcBef>
              <a:tabLst/>
            </a:pPr>
            <a:r>
              <a:rPr sz="1100" kern="0" spc="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使用边界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414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权重可配置，历史已入账积分不因改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权重自动重算。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88" name="textbox 488"/>
          <p:cNvSpPr/>
          <p:nvPr/>
        </p:nvSpPr>
        <p:spPr>
          <a:xfrm>
            <a:off x="476605" y="728268"/>
            <a:ext cx="4210050" cy="553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积分排行榜：看参与与反馈的构成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86000"/>
              </a:lnSpc>
              <a:spcBef>
                <a:spcPts val="7"/>
              </a:spcBef>
              <a:tabLst/>
            </a:pPr>
            <a:r>
              <a:rPr sz="10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主动积分和被动积分从不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同侧面反映社区贡献。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90" name="textbox 490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17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92" name="textbox 492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94" name="textbox 494"/>
          <p:cNvSpPr/>
          <p:nvPr/>
        </p:nvSpPr>
        <p:spPr>
          <a:xfrm>
            <a:off x="511994" y="5319738"/>
            <a:ext cx="226250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项目页面截图  |  模拟数据，截取于 2026-10-28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96" name="path 496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8" name="path 498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extbox 500"/>
          <p:cNvSpPr/>
          <p:nvPr/>
        </p:nvSpPr>
        <p:spPr>
          <a:xfrm>
            <a:off x="482600" y="1536700"/>
            <a:ext cx="9728200" cy="3708400"/>
          </a:xfrm>
          <a:prstGeom prst="roundRect">
            <a:avLst>
              <a:gd name="adj" fmla="val 2061"/>
            </a:avLst>
          </a:prstGeom>
          <a:noFill/>
          <a:ln w="12700" cap="flat">
            <a:solidFill>
              <a:srgbClr val="DBE4EF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endParaRPr/>
          </a:p>
        </p:txBody>
      </p:sp>
      <p:pic>
        <p:nvPicPr>
          <p:cNvPr id="502" name="picture 5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8000" y="1562100"/>
            <a:ext cx="9677400" cy="3657600"/>
          </a:xfrm>
          <a:prstGeom prst="rect">
            <a:avLst/>
          </a:prstGeom>
        </p:spPr>
      </p:pic>
      <p:sp>
        <p:nvSpPr>
          <p:cNvPr id="504" name="textbox 504"/>
          <p:cNvSpPr/>
          <p:nvPr/>
        </p:nvSpPr>
        <p:spPr>
          <a:xfrm>
            <a:off x="4953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4780" algn="l" rtl="0" eaLnBrk="0">
              <a:lnSpc>
                <a:spcPct val="85000"/>
              </a:lnSpc>
              <a:spcBef>
                <a:spcPts val="6"/>
              </a:spcBef>
              <a:tabLst/>
            </a:pPr>
            <a:r>
              <a:rPr sz="1100" kern="0" spc="1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发现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43510" algn="l" rtl="0" eaLnBrk="0">
              <a:lnSpc>
                <a:spcPct val="85000"/>
              </a:lnSpc>
              <a:spcBef>
                <a:spcPts val="835"/>
              </a:spcBef>
              <a:tabLst/>
            </a:pP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核实告警触发指标、</a:t>
            </a:r>
            <a:r>
              <a:rPr sz="900" kern="0" spc="-6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时间与样本，确认需要关注的问题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marL="149225" algn="l" rtl="0" eaLnBrk="0">
              <a:lnSpc>
                <a:spcPts val="1319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06" name="textbox 506"/>
          <p:cNvSpPr/>
          <p:nvPr/>
        </p:nvSpPr>
        <p:spPr>
          <a:xfrm>
            <a:off x="37719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685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100" kern="0" spc="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行动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明确对象、负责人、目标、 基线和观察窗口。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08" name="textbox 508"/>
          <p:cNvSpPr/>
          <p:nvPr/>
        </p:nvSpPr>
        <p:spPr>
          <a:xfrm>
            <a:off x="7048500" y="5651500"/>
            <a:ext cx="3149600" cy="11938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7320" algn="l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1100" kern="0" spc="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复盘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2240" algn="l" rtl="0" eaLnBrk="0">
              <a:lnSpc>
                <a:spcPct val="88000"/>
              </a:lnSpc>
              <a:spcBef>
                <a:spcPts val="7"/>
              </a:spcBef>
              <a:tabLst/>
            </a:pP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对照执行过程与其他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变化，判断下一轮如何调整。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10" name="textbox 510"/>
          <p:cNvSpPr/>
          <p:nvPr/>
        </p:nvSpPr>
        <p:spPr>
          <a:xfrm>
            <a:off x="484428" y="729106"/>
            <a:ext cx="3364230" cy="553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增长闭环：把问题转成行</a:t>
            </a:r>
            <a:r>
              <a:rPr sz="2200" kern="0" spc="-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动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0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从告警、热点内容和部门渗透到任务跟踪和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复盘。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12" name="textbox 512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18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14" name="textbox 514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16" name="textbox 516"/>
          <p:cNvSpPr/>
          <p:nvPr/>
        </p:nvSpPr>
        <p:spPr>
          <a:xfrm>
            <a:off x="511994" y="5319738"/>
            <a:ext cx="2262505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项目页面截图  |  模拟数据，截取于 2026-10-28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18" name="path 518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0" name="path 520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picture 5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5883" y="1460500"/>
            <a:ext cx="9641632" cy="3810000"/>
          </a:xfrm>
          <a:prstGeom prst="rect">
            <a:avLst/>
          </a:prstGeom>
        </p:spPr>
      </p:pic>
      <p:sp>
        <p:nvSpPr>
          <p:cNvPr id="524" name="textbox 524"/>
          <p:cNvSpPr/>
          <p:nvPr/>
        </p:nvSpPr>
        <p:spPr>
          <a:xfrm>
            <a:off x="4953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6525" algn="l" rtl="0" eaLnBrk="0">
              <a:lnSpc>
                <a:spcPct val="84000"/>
              </a:lnSpc>
              <a:spcBef>
                <a:spcPts val="2"/>
              </a:spcBef>
              <a:tabLst/>
            </a:pPr>
            <a:r>
              <a:rPr sz="11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看界面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635" indent="7620" algn="l" rtl="0" eaLnBrk="0">
              <a:lnSpc>
                <a:spcPct val="128000"/>
              </a:lnSpc>
              <a:tabLst/>
            </a:pP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半导体：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900" kern="0" spc="1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1,681、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UV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260；交付服务：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6,067、U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</a:t>
            </a:r>
            <a:r>
              <a:rPr sz="900" kern="0" spc="-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V</a:t>
            </a:r>
            <a:r>
              <a:rPr sz="900" kern="0" spc="6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513。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26" name="textbox 526"/>
          <p:cNvSpPr/>
          <p:nvPr/>
        </p:nvSpPr>
        <p:spPr>
          <a:xfrm>
            <a:off x="37719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4620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1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怎样解读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0810" indent="4445" algn="l" rtl="0" eaLnBrk="0">
              <a:lnSpc>
                <a:spcPct val="125000"/>
              </a:lnSpc>
              <a:spcBef>
                <a:spcPts val="2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互动率分别为 3.7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% 和 2.6%。规模和比例都不同，不能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据此认定原因。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28" name="textbox 528"/>
          <p:cNvSpPr/>
          <p:nvPr/>
        </p:nvSpPr>
        <p:spPr>
          <a:xfrm>
            <a:off x="70485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8430" algn="l" rtl="0" eaLnBrk="0">
              <a:lnSpc>
                <a:spcPct val="85000"/>
              </a:lnSpc>
              <a:spcBef>
                <a:spcPts val="4"/>
              </a:spcBef>
              <a:tabLst/>
            </a:pPr>
            <a:r>
              <a:rPr sz="1100" kern="0" spc="-4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下一步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5255" indent="-5715" algn="l" rtl="0" eaLnBrk="0">
              <a:lnSpc>
                <a:spcPct val="126000"/>
              </a:lnSpc>
              <a:spcBef>
                <a:spcPts val="1"/>
              </a:spcBef>
              <a:tabLst/>
            </a:pP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进入频道详情查看来源、内容和作者，</a:t>
            </a:r>
            <a:r>
              <a:rPr sz="900" kern="0" spc="-4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并结合业务背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景    </a:t>
            </a:r>
            <a:r>
              <a:rPr sz="900" kern="0" spc="-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讨论改进。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30" name="textbox 530"/>
          <p:cNvSpPr/>
          <p:nvPr/>
        </p:nvSpPr>
        <p:spPr>
          <a:xfrm>
            <a:off x="487502" y="728548"/>
            <a:ext cx="4307840" cy="555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9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案例 01：用同类频道对比发现差距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界面：对比分析  |   日期：2026-05-01</a:t>
            </a:r>
            <a:r>
              <a:rPr sz="1000" kern="0" spc="7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至 202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6-10-27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32" name="textbox 532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19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36" name="textbox 536"/>
          <p:cNvSpPr/>
          <p:nvPr/>
        </p:nvSpPr>
        <p:spPr>
          <a:xfrm>
            <a:off x="515664" y="5319522"/>
            <a:ext cx="2838450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平台实际界面截图  |  项目模拟数据</a:t>
            </a:r>
            <a:r>
              <a:rPr sz="800" kern="0" spc="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|  截图时间</a:t>
            </a:r>
            <a:r>
              <a:rPr sz="8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2026</a:t>
            </a:r>
            <a:r>
              <a:rPr sz="8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38" name="path 538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0" name="path 540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picture 5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95300" y="1957028"/>
            <a:ext cx="9702800" cy="2816942"/>
          </a:xfrm>
          <a:prstGeom prst="rect">
            <a:avLst/>
          </a:prstGeom>
        </p:spPr>
      </p:pic>
      <p:sp>
        <p:nvSpPr>
          <p:cNvPr id="544" name="textbox 544"/>
          <p:cNvSpPr/>
          <p:nvPr/>
        </p:nvSpPr>
        <p:spPr>
          <a:xfrm>
            <a:off x="4953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6525" algn="l" rtl="0" eaLnBrk="0">
              <a:lnSpc>
                <a:spcPct val="84000"/>
              </a:lnSpc>
              <a:spcBef>
                <a:spcPts val="2"/>
              </a:spcBef>
              <a:tabLst/>
            </a:pPr>
            <a:r>
              <a:rPr sz="11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看界面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135890" algn="l" rtl="0" eaLnBrk="0">
              <a:lnSpc>
                <a:spcPct val="83000"/>
              </a:lnSpc>
              <a:spcBef>
                <a:spcPts val="829"/>
              </a:spcBef>
              <a:tabLst/>
            </a:pP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900" kern="0" spc="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为 4,909，环比 -7.9%；互动</a:t>
            </a:r>
            <a:r>
              <a:rPr sz="900" kern="0" spc="10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14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2 次，互动率 2.9%</a:t>
            </a:r>
            <a:endParaRPr sz="900" dirty="0">
              <a:latin typeface="Arial Unicode MS"/>
              <a:ea typeface="Arial Unicode MS"/>
              <a:cs typeface="Arial Unicode MS"/>
            </a:endParaRPr>
          </a:p>
          <a:p>
            <a:pPr marL="136525" algn="l" rtl="0" eaLnBrk="0">
              <a:lnSpc>
                <a:spcPts val="1299"/>
              </a:lnSpc>
              <a:tabLst/>
            </a:pP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46" name="textbox 546"/>
          <p:cNvSpPr/>
          <p:nvPr/>
        </p:nvSpPr>
        <p:spPr>
          <a:xfrm>
            <a:off x="37719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5890" algn="l" rtl="0" eaLnBrk="0">
              <a:lnSpc>
                <a:spcPct val="86000"/>
              </a:lnSpc>
              <a:spcBef>
                <a:spcPts val="7"/>
              </a:spcBef>
              <a:tabLst/>
            </a:pPr>
            <a:r>
              <a:rPr sz="11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分解入口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0810" indent="18415" algn="l" rtl="0" eaLnBrk="0">
              <a:lnSpc>
                <a:spcPct val="126000"/>
              </a:lnSpc>
              <a:spcBef>
                <a:spcPts val="3"/>
              </a:spcBef>
              <a:tabLst/>
            </a:pP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自主入口曝光 996、点击</a:t>
            </a:r>
            <a:r>
              <a:rPr sz="900" kern="0" spc="17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119、点击率</a:t>
            </a:r>
            <a:r>
              <a:rPr sz="900" kern="0" spc="1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11.9%；自主分    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发占比 2.4%。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48" name="textbox 548"/>
          <p:cNvSpPr/>
          <p:nvPr/>
        </p:nvSpPr>
        <p:spPr>
          <a:xfrm>
            <a:off x="70485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8430" algn="l" rtl="0" eaLnBrk="0">
              <a:lnSpc>
                <a:spcPct val="85000"/>
              </a:lnSpc>
              <a:spcBef>
                <a:spcPts val="4"/>
              </a:spcBef>
              <a:tabLst/>
            </a:pPr>
            <a:r>
              <a:rPr sz="1100" kern="0" spc="-4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下一步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0810" indent="1905" algn="l" rtl="0" eaLnBrk="0">
              <a:lnSpc>
                <a:spcPct val="126000"/>
              </a:lnSpc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查看来源、账号与内容，区分总浏览来源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与入口点击表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</a:t>
            </a:r>
            <a:r>
              <a:rPr sz="900" kern="0" spc="-4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现。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50" name="textbox 550"/>
          <p:cNvSpPr/>
          <p:nvPr/>
        </p:nvSpPr>
        <p:spPr>
          <a:xfrm>
            <a:off x="487502" y="728548"/>
            <a:ext cx="4307840" cy="556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1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案例 02：从频道指标开始定位问题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9000"/>
              </a:lnSpc>
              <a:spcBef>
                <a:spcPts val="7"/>
              </a:spcBef>
              <a:tabLst/>
            </a:pP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界面：AI</a:t>
            </a:r>
            <a:r>
              <a:rPr sz="1000" kern="0" spc="7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学习频道详情  |   日期：2026-05-01</a:t>
            </a:r>
            <a:r>
              <a:rPr sz="10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至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2026-10-27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52" name="textbox 552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20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54" name="textbox 554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56" name="textbox 556"/>
          <p:cNvSpPr/>
          <p:nvPr/>
        </p:nvSpPr>
        <p:spPr>
          <a:xfrm>
            <a:off x="515664" y="5319522"/>
            <a:ext cx="2838450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平台实际界面截图  |  项目模拟数据</a:t>
            </a:r>
            <a:r>
              <a:rPr sz="800" kern="0" spc="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|  截图时间</a:t>
            </a:r>
            <a:r>
              <a:rPr sz="8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2026</a:t>
            </a:r>
            <a:r>
              <a:rPr sz="8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58" name="path 558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0" name="path 560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picture 5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79410" y="1701800"/>
            <a:ext cx="8934579" cy="1765300"/>
          </a:xfrm>
          <a:prstGeom prst="rect">
            <a:avLst/>
          </a:prstGeom>
        </p:spPr>
      </p:pic>
      <p:pic>
        <p:nvPicPr>
          <p:cNvPr id="564" name="picture 5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95300" y="3644491"/>
            <a:ext cx="9702800" cy="1486719"/>
          </a:xfrm>
          <a:prstGeom prst="rect">
            <a:avLst/>
          </a:prstGeom>
        </p:spPr>
      </p:pic>
      <p:sp>
        <p:nvSpPr>
          <p:cNvPr id="566" name="textbox 566"/>
          <p:cNvSpPr/>
          <p:nvPr/>
        </p:nvSpPr>
        <p:spPr>
          <a:xfrm>
            <a:off x="4953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1445" algn="l" rtl="0" eaLnBrk="0">
              <a:lnSpc>
                <a:spcPct val="83000"/>
              </a:lnSpc>
              <a:spcBef>
                <a:spcPts val="6"/>
              </a:spcBef>
              <a:tabLst/>
            </a:pPr>
            <a:r>
              <a:rPr sz="11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账号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9065" indent="-8890" algn="l" rtl="0" eaLnBrk="0">
              <a:lnSpc>
                <a:spcPct val="125000"/>
              </a:lnSpc>
              <a:spcBef>
                <a:spcPts val="2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个人账号-45：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739；个人账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号-33：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536。统计范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围是本频道内容。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68" name="textbox 568"/>
          <p:cNvSpPr/>
          <p:nvPr/>
        </p:nvSpPr>
        <p:spPr>
          <a:xfrm>
            <a:off x="37719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4780" algn="l" rtl="0" eaLnBrk="0">
              <a:lnSpc>
                <a:spcPct val="85000"/>
              </a:lnSpc>
              <a:spcBef>
                <a:spcPts val="4"/>
              </a:spcBef>
              <a:tabLst/>
            </a:pPr>
            <a:r>
              <a:rPr sz="1100" kern="0" spc="-5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内容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3985" indent="-3810" algn="l" rtl="0" eaLnBrk="0">
              <a:lnSpc>
                <a:spcPct val="125000"/>
              </a:lnSpc>
              <a:spcBef>
                <a:spcPts val="1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视频 #600：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457；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文章 #1234：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438。对应账号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分别是 33</a:t>
            </a:r>
            <a:r>
              <a:rPr sz="900" kern="0" spc="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和</a:t>
            </a: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45。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70" name="textbox 570"/>
          <p:cNvSpPr/>
          <p:nvPr/>
        </p:nvSpPr>
        <p:spPr>
          <a:xfrm>
            <a:off x="70485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589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1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分析行动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7795" indent="-8255" algn="l" rtl="0" eaLnBrk="0">
              <a:lnSpc>
                <a:spcPct val="125000"/>
              </a:lnSpc>
              <a:spcBef>
                <a:spcPts val="4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进一步查看内容和作者，讨论选题与分发；不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同条目不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直接推断因果。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72" name="textbox 572"/>
          <p:cNvSpPr/>
          <p:nvPr/>
        </p:nvSpPr>
        <p:spPr>
          <a:xfrm>
            <a:off x="487502" y="729106"/>
            <a:ext cx="4385310" cy="555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案例 02 续：下钻账号和文章、视频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9000"/>
              </a:lnSpc>
              <a:spcBef>
                <a:spcPts val="7"/>
              </a:spcBef>
              <a:tabLst/>
            </a:pP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界面：</a:t>
            </a:r>
            <a:r>
              <a:rPr sz="1000" kern="0" spc="-16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</a:t>
            </a:r>
            <a:r>
              <a:rPr sz="1000" kern="0" spc="-16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一 AI</a:t>
            </a:r>
            <a:r>
              <a:rPr sz="1000" kern="0" spc="7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学习频道详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情  |   日期：2026-05-01</a:t>
            </a:r>
            <a:r>
              <a:rPr sz="1000" kern="0" spc="7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至 2026-10-27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74" name="textbox 574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21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76" name="textbox 576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78" name="textbox 578"/>
          <p:cNvSpPr/>
          <p:nvPr/>
        </p:nvSpPr>
        <p:spPr>
          <a:xfrm>
            <a:off x="515664" y="5319522"/>
            <a:ext cx="2838450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平台实际界面截图  |  项目模拟数据</a:t>
            </a:r>
            <a:r>
              <a:rPr sz="800" kern="0" spc="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|  截图时间</a:t>
            </a:r>
            <a:r>
              <a:rPr sz="8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2026</a:t>
            </a:r>
            <a:r>
              <a:rPr sz="8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80" name="path 580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2" name="path 582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picture 5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65814" y="1460500"/>
            <a:ext cx="8361771" cy="3810000"/>
          </a:xfrm>
          <a:prstGeom prst="rect">
            <a:avLst/>
          </a:prstGeom>
        </p:spPr>
      </p:pic>
      <p:sp>
        <p:nvSpPr>
          <p:cNvPr id="586" name="textbox 586"/>
          <p:cNvSpPr/>
          <p:nvPr/>
        </p:nvSpPr>
        <p:spPr>
          <a:xfrm>
            <a:off x="4953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6525" algn="l" rtl="0" eaLnBrk="0">
              <a:lnSpc>
                <a:spcPct val="84000"/>
              </a:lnSpc>
              <a:spcBef>
                <a:spcPts val="2"/>
              </a:spcBef>
              <a:tabLst/>
            </a:pPr>
            <a:r>
              <a:rPr sz="11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看界面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4620" indent="-3175" algn="l" rtl="0" eaLnBrk="0">
              <a:lnSpc>
                <a:spcPct val="128000"/>
              </a:lnSpc>
              <a:tabLst/>
            </a:pP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89</a:t>
            </a:r>
            <a:r>
              <a:rPr sz="900" kern="0" spc="10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人加入；54</a:t>
            </a:r>
            <a:r>
              <a:rPr sz="900" kern="0" spc="7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人在 7 天内首次浏览， 占加入人数 60.7       </a:t>
            </a:r>
            <a:r>
              <a:rPr sz="900" kern="0" spc="-5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%。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88" name="textbox 588"/>
          <p:cNvSpPr/>
          <p:nvPr/>
        </p:nvSpPr>
        <p:spPr>
          <a:xfrm>
            <a:off x="37719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6525" algn="l" rtl="0" eaLnBrk="0">
              <a:lnSpc>
                <a:spcPct val="85000"/>
              </a:lnSpc>
              <a:spcBef>
                <a:spcPts val="1"/>
              </a:spcBef>
              <a:tabLst/>
            </a:pPr>
            <a:r>
              <a:rPr sz="11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看互动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63195" indent="-31750" algn="l" rtl="0" eaLnBrk="0">
              <a:lnSpc>
                <a:spcPct val="126000"/>
              </a:lnSpc>
              <a:spcBef>
                <a:spcPts val="3"/>
              </a:spcBef>
              <a:tabLst/>
            </a:pP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6</a:t>
            </a:r>
            <a:r>
              <a:rPr sz="900" kern="0" spc="14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人在 7 天内首次互动， 占加入人数 6.7%；第 2</a:t>
            </a:r>
            <a:r>
              <a:rPr sz="900" kern="0" spc="4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周活跃    </a:t>
            </a:r>
            <a:r>
              <a:rPr sz="900" kern="0" spc="-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55</a:t>
            </a:r>
            <a:r>
              <a:rPr sz="900" kern="0" spc="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人。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90" name="textbox 590"/>
          <p:cNvSpPr/>
          <p:nvPr/>
        </p:nvSpPr>
        <p:spPr>
          <a:xfrm>
            <a:off x="70485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5255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1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注意口径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2715" algn="l" rtl="0" eaLnBrk="0">
              <a:lnSpc>
                <a:spcPct val="125000"/>
              </a:lnSpc>
              <a:spcBef>
                <a:spcPts val="2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各项独立、分母均为 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89</a:t>
            </a:r>
            <a:r>
              <a:rPr sz="900" kern="0" spc="6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人；不能将其相除当作相邻步骤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转化率。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92" name="textbox 592"/>
          <p:cNvSpPr/>
          <p:nvPr/>
        </p:nvSpPr>
        <p:spPr>
          <a:xfrm>
            <a:off x="487502" y="728268"/>
            <a:ext cx="4028440" cy="555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案例 03：从新成员浏览走向参与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5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10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界面：读者分析 → 激活漏斗  |  加入日期：2026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-05-01</a:t>
            </a:r>
            <a:r>
              <a:rPr sz="1000" kern="0" spc="7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至 2026-10-27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94" name="textbox 594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22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96" name="textbox 596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98" name="textbox 598"/>
          <p:cNvSpPr/>
          <p:nvPr/>
        </p:nvSpPr>
        <p:spPr>
          <a:xfrm>
            <a:off x="515664" y="5319522"/>
            <a:ext cx="2838450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平台实际界面截图  |  项目模拟数据</a:t>
            </a:r>
            <a:r>
              <a:rPr sz="800" kern="0" spc="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|  截图时间</a:t>
            </a:r>
            <a:r>
              <a:rPr sz="8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2026</a:t>
            </a:r>
            <a:r>
              <a:rPr sz="8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00" name="path 600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2" name="path 602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picture 6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95300" y="1782402"/>
            <a:ext cx="9702800" cy="1604092"/>
          </a:xfrm>
          <a:prstGeom prst="rect">
            <a:avLst/>
          </a:prstGeom>
        </p:spPr>
      </p:pic>
      <p:pic>
        <p:nvPicPr>
          <p:cNvPr id="606" name="picture 6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95300" y="3722739"/>
            <a:ext cx="9702800" cy="1330222"/>
          </a:xfrm>
          <a:prstGeom prst="rect">
            <a:avLst/>
          </a:prstGeom>
        </p:spPr>
      </p:pic>
      <p:sp>
        <p:nvSpPr>
          <p:cNvPr id="608" name="textbox 608"/>
          <p:cNvSpPr/>
          <p:nvPr/>
        </p:nvSpPr>
        <p:spPr>
          <a:xfrm>
            <a:off x="4953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2715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100" kern="0" spc="-1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创作者排行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6525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员工-836：期间</a:t>
            </a:r>
            <a:r>
              <a:rPr sz="900" kern="0" spc="20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PV 3,5</a:t>
            </a:r>
            <a:r>
              <a:rPr sz="900" kern="0" spc="-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24，互动 97，互动率 2.8%。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10" name="textbox 610"/>
          <p:cNvSpPr/>
          <p:nvPr/>
        </p:nvSpPr>
        <p:spPr>
          <a:xfrm>
            <a:off x="37719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7160" algn="l" rtl="0" eaLnBrk="0">
              <a:lnSpc>
                <a:spcPct val="86000"/>
              </a:lnSpc>
              <a:spcBef>
                <a:spcPts val="7"/>
              </a:spcBef>
              <a:tabLst/>
            </a:pPr>
            <a:r>
              <a:rPr sz="11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KOL</a:t>
            </a:r>
            <a:r>
              <a:rPr sz="1100" kern="0" spc="7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00" kern="0" spc="-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管理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58750" indent="-26035" algn="l" rtl="0" eaLnBrk="0">
              <a:lnSpc>
                <a:spcPct val="128000"/>
              </a:lnSpc>
              <a:spcBef>
                <a:spcPts val="2"/>
              </a:spcBef>
              <a:tabLst/>
            </a:pP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截至 2026-10-27，</a:t>
            </a:r>
            <a:r>
              <a:rPr sz="900" kern="0" spc="-15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该成员显示流失预警，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R/F/M</a:t>
            </a:r>
            <a:r>
              <a:rPr sz="900" kern="0" spc="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为 2 / 3     </a:t>
            </a:r>
            <a:r>
              <a:rPr sz="900" kern="0" spc="-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/</a:t>
            </a:r>
            <a:r>
              <a:rPr sz="900" kern="0" spc="4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-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5。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12" name="textbox 612"/>
          <p:cNvSpPr/>
          <p:nvPr/>
        </p:nvSpPr>
        <p:spPr>
          <a:xfrm>
            <a:off x="7048500" y="5588000"/>
            <a:ext cx="3149600" cy="1270000"/>
          </a:xfrm>
          <a:prstGeom prst="rect">
            <a:avLst/>
          </a:prstGeom>
          <a:solidFill>
            <a:srgbClr val="F3F7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8430" algn="l" rtl="0" eaLnBrk="0">
              <a:lnSpc>
                <a:spcPct val="85000"/>
              </a:lnSpc>
              <a:spcBef>
                <a:spcPts val="4"/>
              </a:spcBef>
              <a:tabLst/>
            </a:pPr>
            <a:r>
              <a:rPr sz="1100" kern="0" spc="-4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下一步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41605" indent="-10160" algn="l" rtl="0" eaLnBrk="0">
              <a:lnSpc>
                <a:spcPct val="125000"/>
              </a:lnSpc>
              <a:spcBef>
                <a:spcPts val="4"/>
              </a:spcBef>
              <a:tabLst/>
            </a:pP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排行为所选区间，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KOL</a:t>
            </a:r>
            <a:r>
              <a:rPr sz="900" kern="0" spc="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9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为统计日及</a:t>
            </a:r>
            <a:r>
              <a:rPr sz="9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其对应窗口；核实原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</a:t>
            </a:r>
            <a:r>
              <a:rPr sz="900" kern="0" spc="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因后再讨论支持方式。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14" name="textbox 614"/>
          <p:cNvSpPr/>
          <p:nvPr/>
        </p:nvSpPr>
        <p:spPr>
          <a:xfrm>
            <a:off x="487502" y="725195"/>
            <a:ext cx="4741545" cy="559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案例 04：结合创作者表现</a:t>
            </a:r>
            <a:r>
              <a:rPr sz="2200" kern="0" spc="-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与</a:t>
            </a:r>
            <a:r>
              <a:rPr sz="2200" kern="0" spc="15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2200" kern="0" spc="-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KOL 预警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7"/>
              </a:spcBef>
              <a:tabLst/>
            </a:pPr>
            <a:r>
              <a:rPr sz="10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排行：2026-05-01</a:t>
            </a:r>
            <a:r>
              <a:rPr sz="1000" kern="0" spc="8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至 2026-10-27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|  KOL</a:t>
            </a:r>
            <a:r>
              <a:rPr sz="10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统计日：2026-10-27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16" name="textbox 616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23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18" name="textbox 618"/>
          <p:cNvSpPr/>
          <p:nvPr/>
        </p:nvSpPr>
        <p:spPr>
          <a:xfrm>
            <a:off x="475386" y="7203846"/>
            <a:ext cx="9138920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设计理念与运营应用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20" name="textbox 620"/>
          <p:cNvSpPr/>
          <p:nvPr/>
        </p:nvSpPr>
        <p:spPr>
          <a:xfrm>
            <a:off x="515664" y="5319522"/>
            <a:ext cx="2838450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平台实际界面截图  |  项目模拟数据</a:t>
            </a:r>
            <a:r>
              <a:rPr sz="800" kern="0" spc="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</a:t>
            </a: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|  截图时间</a:t>
            </a:r>
            <a:r>
              <a:rPr sz="800" kern="0" spc="5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800" kern="0" spc="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2026</a:t>
            </a:r>
            <a:r>
              <a:rPr sz="800" kern="0" spc="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-10-28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22" name="path 622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4" name="path 624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6" name="table 626"/>
          <p:cNvGraphicFramePr>
            <a:graphicFrameLocks noGrp="1"/>
          </p:cNvGraphicFramePr>
          <p:nvPr/>
        </p:nvGraphicFramePr>
        <p:xfrm>
          <a:off x="495300" y="1689100"/>
          <a:ext cx="9702165" cy="4219575"/>
        </p:xfrm>
        <a:graphic>
          <a:graphicData uri="http://schemas.openxmlformats.org/drawingml/2006/table">
            <a:tbl>
              <a:tblPr/>
              <a:tblGrid>
                <a:gridCol w="1330960"/>
                <a:gridCol w="3840480"/>
                <a:gridCol w="4530725"/>
              </a:tblGrid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172744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指标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995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172744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计算或含义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117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172744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使用时注意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C"/>
                    </a:solidFill>
                  </a:tcPr>
                </a:tc>
              </a:tr>
              <a:tr h="5003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90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PV /</a:t>
                      </a:r>
                      <a:r>
                        <a:rPr sz="900" kern="0" spc="1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UV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163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PV</a:t>
                      </a:r>
                      <a:r>
                        <a:rPr sz="900" kern="0" spc="6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是浏览次数；UV</a:t>
                      </a:r>
                      <a:r>
                        <a:rPr sz="900" kern="0" spc="7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是去重浏览人数。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8794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同一人多次浏览会产生多次</a:t>
                      </a:r>
                      <a:r>
                        <a:rPr sz="900" kern="0" spc="14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PV。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5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33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曝光 /</a:t>
                      </a:r>
                      <a:r>
                        <a:rPr sz="900" kern="0" spc="13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入口点击率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26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入口曝光是展示次数；入口点击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率 =</a:t>
                      </a:r>
                      <a:r>
                        <a:rPr sz="900" kern="0" spc="8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入口点击 ÷</a:t>
                      </a:r>
                      <a:r>
                        <a:rPr sz="900" kern="0" spc="8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入口曝光。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244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无曝光时比率为空；入口不同， 口径不同。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4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内容点击率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798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内容在各频道入口的点击 ÷ 这些入口的曝光。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4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308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与单一入口点击率不同；</a:t>
                      </a:r>
                      <a:r>
                        <a:rPr sz="900" kern="0" spc="-16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搜索、分享浏览不计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入入口曝光。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0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9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互动率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3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718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所选内容的点赞、评论、</a:t>
                      </a:r>
                      <a:r>
                        <a:rPr sz="900" kern="0" spc="-1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收藏、转发次数 ÷</a:t>
                      </a:r>
                      <a:r>
                        <a:rPr sz="900" kern="0" spc="13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</a:t>
                      </a:r>
                      <a:r>
                        <a:rPr sz="900" kern="0" spc="7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PV。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181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按次数统计；互动与浏览按发生</a:t>
                      </a:r>
                      <a:r>
                        <a:rPr sz="900" kern="0" spc="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日期汇总，并非逐次配对。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76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自主分发占比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655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领域自主入口</a:t>
                      </a:r>
                      <a:r>
                        <a:rPr sz="900" kern="0" spc="9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PV ÷ 领域内容全部</a:t>
                      </a:r>
                      <a:r>
                        <a:rPr sz="900" kern="0" spc="8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PV。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3080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  <a:r>
                        <a:rPr sz="900" kern="0" spc="8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PV</a:t>
                      </a:r>
                      <a:r>
                        <a:rPr sz="900" kern="0" spc="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来源占比，不是自主入口点击率。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5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综合依赖度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8455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来自综合入口的领域内容</a:t>
                      </a:r>
                      <a:r>
                        <a:rPr sz="900" kern="0" spc="7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PV ÷ 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领域内容全部</a:t>
                      </a:r>
                      <a:r>
                        <a:rPr sz="900" kern="0" spc="8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PV。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6890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高低需结合来源结构，不直接说明好坏。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885" algn="l" rtl="0" eaLnBrk="0">
                        <a:lnSpc>
                          <a:spcPct val="7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头部集中度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0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280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对比表中，PV 最高单篇内容的</a:t>
                      </a:r>
                      <a:r>
                        <a:rPr sz="900" kern="0" spc="8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PV ÷ 所属对象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总</a:t>
                      </a:r>
                      <a:r>
                        <a:rPr sz="900" kern="0" spc="7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PV。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0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3715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不是创作者</a:t>
                      </a:r>
                      <a:r>
                        <a:rPr sz="900" kern="0" spc="14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PV</a:t>
                      </a:r>
                      <a:r>
                        <a:rPr sz="900" kern="0" spc="6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23334D">
                              <a:alpha val="100000"/>
                            </a:srgbClr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分布的基尼系数。</a:t>
                      </a:r>
                      <a:endParaRPr sz="900" dirty="0"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28" name="textbox 628"/>
          <p:cNvSpPr/>
          <p:nvPr/>
        </p:nvSpPr>
        <p:spPr>
          <a:xfrm>
            <a:off x="487807" y="731621"/>
            <a:ext cx="3390900" cy="551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9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5" algn="l" rtl="0" eaLnBrk="0">
              <a:lnSpc>
                <a:spcPct val="85000"/>
              </a:lnSpc>
              <a:tabLst/>
            </a:pPr>
            <a:r>
              <a:rPr sz="2200" kern="0" spc="-4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常用指标速查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本表为项目当前主要定义，更多细节可点击页面“</a:t>
            </a:r>
            <a:r>
              <a:rPr sz="1000" kern="0" spc="-14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-3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看板说明”。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30" name="textbox 630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24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32" name="textbox 632"/>
          <p:cNvSpPr/>
          <p:nvPr/>
        </p:nvSpPr>
        <p:spPr>
          <a:xfrm>
            <a:off x="481888" y="7203948"/>
            <a:ext cx="9132570" cy="132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同名指标可能对应不同分母，先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核对口径。</a:t>
            </a:r>
            <a:r>
              <a:rPr sz="800" kern="0" spc="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</a:t>
            </a: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                                                                                                               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示例与项目截图均为模拟数据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34" name="path 634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6" name="path 636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textbox 638"/>
          <p:cNvSpPr/>
          <p:nvPr/>
        </p:nvSpPr>
        <p:spPr>
          <a:xfrm>
            <a:off x="483869" y="731063"/>
            <a:ext cx="6504305" cy="3915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200" kern="0" spc="-1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使用边界与建议的落地步骤</a:t>
            </a:r>
            <a:endParaRPr sz="2200" dirty="0">
              <a:latin typeface="Arial Unicode MS"/>
              <a:ea typeface="Arial Unicode MS"/>
              <a:cs typeface="Arial Unicode MS"/>
            </a:endParaRPr>
          </a:p>
          <a:p>
            <a:pPr marL="15875" algn="l" rtl="0" eaLnBrk="0">
              <a:lnSpc>
                <a:spcPct val="88000"/>
              </a:lnSpc>
              <a:spcBef>
                <a:spcPts val="834"/>
              </a:spcBef>
              <a:tabLst/>
            </a:pPr>
            <a:r>
              <a:rPr sz="10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项目是模拟与验证参考环</a:t>
            </a:r>
            <a:r>
              <a:rPr sz="1000" kern="0" spc="-2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境，并非正式生产数据接入。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5405" algn="l" rtl="0" eaLnBrk="0">
              <a:lnSpc>
                <a:spcPct val="87000"/>
              </a:lnSpc>
              <a:spcBef>
                <a:spcPts val="430"/>
              </a:spcBef>
              <a:tabLst/>
            </a:pPr>
            <a:r>
              <a:rPr sz="1400" kern="0" spc="-2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上线与讨论前需要明确</a:t>
            </a:r>
            <a:endParaRPr sz="1400" dirty="0">
              <a:latin typeface="Arial Unicode MS"/>
              <a:ea typeface="Arial Unicode MS"/>
              <a:cs typeface="Arial Unicode MS"/>
            </a:endParaRPr>
          </a:p>
          <a:p>
            <a:pPr marL="55880" algn="l" rtl="0" eaLnBrk="0">
              <a:lnSpc>
                <a:spcPct val="86000"/>
              </a:lnSpc>
              <a:spcBef>
                <a:spcPts val="1373"/>
              </a:spcBef>
              <a:tabLst/>
            </a:pP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01 核对数据与范围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65405" algn="l" rtl="0" eaLnBrk="0">
              <a:lnSpc>
                <a:spcPct val="88000"/>
              </a:lnSpc>
              <a:spcBef>
                <a:spcPts val="652"/>
              </a:spcBef>
              <a:tabLst/>
            </a:pP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当前截图、</a:t>
            </a:r>
            <a:r>
              <a:rPr sz="1000" kern="0" spc="-8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榜单和案例为模拟或虚构数据；模拟完成标记等不等同于真实埋点。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880" algn="l" rtl="0" eaLnBrk="0">
              <a:lnSpc>
                <a:spcPct val="86000"/>
              </a:lnSpc>
              <a:spcBef>
                <a:spcPts val="330"/>
              </a:spcBef>
              <a:tabLst/>
            </a:pP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02 建立统一指标字典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57150" algn="l" rtl="0" eaLnBrk="0">
              <a:lnSpc>
                <a:spcPct val="91000"/>
              </a:lnSpc>
              <a:spcBef>
                <a:spcPts val="620"/>
              </a:spcBef>
              <a:tabLst/>
            </a:pP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约定入口、内容、频道、人员、</a:t>
            </a:r>
            <a:r>
              <a:rPr sz="1000" kern="0" spc="1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时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间窗口和分母</a:t>
            </a:r>
            <a:r>
              <a:rPr sz="1000" kern="0" spc="-1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；对跨部门比较说明合著重复与小样本影响。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880" algn="l" rtl="0" eaLnBrk="0">
              <a:lnSpc>
                <a:spcPct val="88000"/>
              </a:lnSpc>
              <a:spcBef>
                <a:spcPts val="338"/>
              </a:spcBef>
              <a:tabLst/>
            </a:pPr>
            <a:r>
              <a:rPr sz="1100" kern="0" spc="4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03 补齐真实访问路径</a:t>
            </a: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数据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58420" algn="l" rtl="0" eaLnBrk="0">
              <a:lnSpc>
                <a:spcPct val="89000"/>
              </a:lnSpc>
              <a:spcBef>
                <a:spcPts val="635"/>
              </a:spcBef>
              <a:tabLst/>
            </a:pP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访问流向目前为合成演示；</a:t>
            </a:r>
            <a:r>
              <a:rPr sz="1000" kern="0" spc="-14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需建立外部来源、会话标识及事件顺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序后才能统计真实路径，30</a:t>
            </a:r>
            <a:r>
              <a:rPr sz="1000" kern="0" spc="1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分钟规则尚未接入。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880" algn="l" rtl="0" eaLnBrk="0">
              <a:lnSpc>
                <a:spcPct val="87000"/>
              </a:lnSpc>
              <a:spcBef>
                <a:spcPts val="338"/>
              </a:spcBef>
              <a:tabLst/>
            </a:pP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04</a:t>
            </a:r>
            <a:r>
              <a:rPr sz="1100" kern="0" spc="14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00" kern="0" spc="3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明确复盘和协作</a:t>
            </a:r>
            <a:r>
              <a:rPr sz="1100" kern="0" spc="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机制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marL="53339" algn="l" rtl="0" eaLnBrk="0">
              <a:lnSpc>
                <a:spcPct val="88000"/>
              </a:lnSpc>
              <a:spcBef>
                <a:spcPts val="647"/>
              </a:spcBef>
              <a:tabLst/>
            </a:pP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建议定期由全站、</a:t>
            </a:r>
            <a:r>
              <a:rPr sz="1000" kern="0" spc="-14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综合频道、</a:t>
            </a:r>
            <a:r>
              <a:rPr sz="1000" kern="0" spc="-15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领域频道与专家运营共同看差距、提出假设、</a:t>
            </a:r>
            <a:r>
              <a:rPr sz="1000" kern="0" spc="-14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1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制定行动并回顾。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880" algn="l" rtl="0" eaLnBrk="0">
              <a:lnSpc>
                <a:spcPct val="88000"/>
              </a:lnSpc>
              <a:spcBef>
                <a:spcPts val="336"/>
              </a:spcBef>
              <a:tabLst/>
            </a:pPr>
            <a:r>
              <a:rPr sz="1100" kern="0" spc="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05</a:t>
            </a:r>
            <a:r>
              <a:rPr sz="1100" kern="0" spc="14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100" kern="0" spc="20" dirty="0">
                <a:solidFill>
                  <a:srgbClr val="172744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尊重业务背景</a:t>
            </a:r>
            <a:endParaRPr sz="11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588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预测波动区间不保证统计覆盖率；</a:t>
            </a:r>
            <a:r>
              <a:rPr sz="1000" kern="0" spc="-1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高低排名、</a:t>
            </a:r>
            <a:r>
              <a:rPr sz="1000" kern="0" spc="-14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预警和行动前后变化都不能单独证明原因。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40" name="textbox 640"/>
          <p:cNvSpPr/>
          <p:nvPr/>
        </p:nvSpPr>
        <p:spPr>
          <a:xfrm>
            <a:off x="495300" y="6057900"/>
            <a:ext cx="9702800" cy="698500"/>
          </a:xfrm>
          <a:prstGeom prst="rect">
            <a:avLst/>
          </a:prstGeom>
          <a:solidFill>
            <a:srgbClr val="EDF4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5260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100" kern="0" spc="30" dirty="0">
                <a:solidFill>
                  <a:srgbClr val="246BE8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共同目标         </a:t>
            </a:r>
            <a:r>
              <a:rPr sz="1000" kern="0" spc="3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以数据支持交流与改进，让优质内容更容易被发现，</a:t>
            </a:r>
            <a:r>
              <a:rPr sz="1000" kern="0" spc="20" dirty="0">
                <a:solidFill>
                  <a:srgbClr val="23334D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让专家更愿意持续分享和讨论。</a:t>
            </a:r>
            <a:endParaRPr sz="10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42" name="textbox 642"/>
          <p:cNvSpPr/>
          <p:nvPr/>
        </p:nvSpPr>
        <p:spPr>
          <a:xfrm>
            <a:off x="474243" y="284988"/>
            <a:ext cx="963549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稼先社区  /  运营分析平台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9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25</a:t>
            </a:r>
            <a:endParaRPr sz="9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44" name="textbox 644"/>
          <p:cNvSpPr/>
          <p:nvPr/>
        </p:nvSpPr>
        <p:spPr>
          <a:xfrm>
            <a:off x="475183" y="7203948"/>
            <a:ext cx="9138920" cy="132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kern="0" spc="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用好看板，先保证同一语言和可验证的数据。                                                                                                                                                                                                          示</a:t>
            </a:r>
            <a:r>
              <a:rPr sz="800" kern="0" spc="-10" dirty="0">
                <a:solidFill>
                  <a:srgbClr val="64748B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例与项目截图均为模拟数据</a:t>
            </a:r>
            <a:endParaRPr sz="800" dirty="0"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46" name="path 646"/>
          <p:cNvSpPr/>
          <p:nvPr/>
        </p:nvSpPr>
        <p:spPr>
          <a:xfrm>
            <a:off x="482600" y="5270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8" name="path 648"/>
          <p:cNvSpPr/>
          <p:nvPr/>
        </p:nvSpPr>
        <p:spPr>
          <a:xfrm>
            <a:off x="482600" y="7092950"/>
            <a:ext cx="9728200" cy="12700"/>
          </a:xfrm>
          <a:custGeom>
            <a:avLst/>
            <a:gdLst/>
            <a:ahLst/>
            <a:cxnLst/>
            <a:rect l="0" t="0" r="0" b="0"/>
            <a:pathLst>
              <a:path w="15320" h="20">
                <a:moveTo>
                  <a:pt x="0" y="10"/>
                </a:moveTo>
                <a:lnTo>
                  <a:pt x="15320" y="10"/>
                </a:lnTo>
              </a:path>
            </a:pathLst>
          </a:custGeom>
          <a:noFill/>
          <a:ln w="12700" cap="flat">
            <a:solidFill>
              <a:srgbClr val="DBE4E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anonymous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稼先社区运营分析平台：设计理念与应用指南</dc:title>
  <dc:subject>unspecified</dc:subject>
  <dc:creator>稼先社区运营分析项目</dc:creator>
  <dcterms:created xsi:type="dcterms:W3CDTF">2026-10-28T21:38:22Z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2026-10-30T07:32:04</vt:filetime>
  </property>
</Properties>
</file>